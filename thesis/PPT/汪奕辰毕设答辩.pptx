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8221" r:id="rId2"/>
    <p:sldId id="526" r:id="rId3"/>
    <p:sldId id="8222" r:id="rId4"/>
    <p:sldId id="8261" r:id="rId5"/>
    <p:sldId id="8224" r:id="rId6"/>
    <p:sldId id="8227" r:id="rId7"/>
    <p:sldId id="8265" r:id="rId8"/>
    <p:sldId id="8262" r:id="rId9"/>
    <p:sldId id="8266" r:id="rId10"/>
    <p:sldId id="8267" r:id="rId11"/>
    <p:sldId id="8264" r:id="rId12"/>
    <p:sldId id="8268" r:id="rId13"/>
    <p:sldId id="8257" r:id="rId1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F60E3"/>
    <a:srgbClr val="F7F7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showGuides="1">
      <p:cViewPr varScale="1">
        <p:scale>
          <a:sx n="116" d="100"/>
          <a:sy n="116" d="100"/>
        </p:scale>
        <p:origin x="110" y="19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D3EFB3-C0C5-4985-BD85-903471226258}" type="datetimeFigureOut">
              <a:rPr lang="zh-CN" altLang="en-US" smtClean="0"/>
              <a:t>2026/6/4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8B0DDBF-8EC7-43C4-A613-453C1BF6C934}" type="slidenum">
              <a:rPr lang="zh-CN" altLang="en-US" smtClean="0"/>
              <a:t>‹#›</a:t>
            </a:fld>
            <a:endParaRPr lang="zh-CN" altLang="en-US"/>
          </a:p>
        </p:txBody>
      </p:sp>
    </p:spTree>
    <p:extLst>
      <p:ext uri="{BB962C8B-B14F-4D97-AF65-F5344CB8AC3E}">
        <p14:creationId xmlns:p14="http://schemas.microsoft.com/office/powerpoint/2010/main" val="26785372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a:t>尊敬的各位老师大家好！我是行健</a:t>
            </a:r>
            <a:r>
              <a:rPr lang="en-US" altLang="zh-CN"/>
              <a:t>-</a:t>
            </a:r>
            <a:r>
              <a:rPr lang="zh-CN" altLang="en-US"/>
              <a:t>车辆班的朱旭升，我的中期报告题目是《基于大数据方法的实车燃料电池系统性能估计方法研究》，指导老师是胡尊严副教授。</a:t>
            </a:r>
          </a:p>
        </p:txBody>
      </p:sp>
      <p:sp>
        <p:nvSpPr>
          <p:cNvPr id="4" name="灯片编号占位符 3"/>
          <p:cNvSpPr>
            <a:spLocks noGrp="1"/>
          </p:cNvSpPr>
          <p:nvPr>
            <p:ph type="sldNum" sz="quarter" idx="5"/>
          </p:nvPr>
        </p:nvSpPr>
        <p:spPr/>
        <p:txBody>
          <a:bodyPr/>
          <a:lstStyle/>
          <a:p>
            <a:fld id="{E3B2299A-D4ED-4AA2-815C-5CE3EBF05664}"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C353D4-0C51-4438-ACC1-F3CCB9529910}" type="slidenum">
              <a:rPr lang="zh-CN" altLang="en-US" smtClean="0"/>
              <a:t>2</a:t>
            </a:fld>
            <a:endParaRPr lang="zh-CN" altLang="en-US"/>
          </a:p>
        </p:txBody>
      </p:sp>
    </p:spTree>
    <p:extLst>
      <p:ext uri="{BB962C8B-B14F-4D97-AF65-F5344CB8AC3E}">
        <p14:creationId xmlns:p14="http://schemas.microsoft.com/office/powerpoint/2010/main" val="5529365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2B86C-D4E2-2FBB-F205-34CCA8CD100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2A72680-B5B8-22DD-2444-8CF0609189C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65E2A88-D3F7-7F9E-127F-D03F4B8882F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435E0E1-8508-65C5-2DB3-E07A1CC11BB1}"/>
              </a:ext>
            </a:extLst>
          </p:cNvPr>
          <p:cNvSpPr>
            <a:spLocks noGrp="1"/>
          </p:cNvSpPr>
          <p:nvPr>
            <p:ph type="sldNum" sz="quarter" idx="5"/>
          </p:nvPr>
        </p:nvSpPr>
        <p:spPr/>
        <p:txBody>
          <a:bodyPr/>
          <a:lstStyle/>
          <a:p>
            <a:fld id="{83C353D4-0C51-4438-ACC1-F3CCB9529910}" type="slidenum">
              <a:rPr lang="zh-CN" altLang="en-US" smtClean="0"/>
              <a:t>3</a:t>
            </a:fld>
            <a:endParaRPr lang="zh-CN" altLang="en-US"/>
          </a:p>
        </p:txBody>
      </p:sp>
    </p:spTree>
    <p:extLst>
      <p:ext uri="{BB962C8B-B14F-4D97-AF65-F5344CB8AC3E}">
        <p14:creationId xmlns:p14="http://schemas.microsoft.com/office/powerpoint/2010/main" val="2675696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4AC551-0399-C478-2521-0F4E0306E8F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ADB991A-CB66-84A9-2D52-4B541AFE412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C0189CB-903E-3070-06FA-4AF1BAE26708}"/>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5A9C44B-9A22-067B-7FAA-8E44D79ED0EC}"/>
              </a:ext>
            </a:extLst>
          </p:cNvPr>
          <p:cNvSpPr>
            <a:spLocks noGrp="1"/>
          </p:cNvSpPr>
          <p:nvPr>
            <p:ph type="sldNum" sz="quarter" idx="5"/>
          </p:nvPr>
        </p:nvSpPr>
        <p:spPr/>
        <p:txBody>
          <a:bodyPr/>
          <a:lstStyle/>
          <a:p>
            <a:fld id="{83C353D4-0C51-4438-ACC1-F3CCB9529910}" type="slidenum">
              <a:rPr lang="zh-CN" altLang="en-US" smtClean="0"/>
              <a:t>4</a:t>
            </a:fld>
            <a:endParaRPr lang="zh-CN" altLang="en-US"/>
          </a:p>
        </p:txBody>
      </p:sp>
    </p:spTree>
    <p:extLst>
      <p:ext uri="{BB962C8B-B14F-4D97-AF65-F5344CB8AC3E}">
        <p14:creationId xmlns:p14="http://schemas.microsoft.com/office/powerpoint/2010/main" val="13548094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A9DCA-A10B-DFB8-3D88-D128B90D0EC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2577C3B-BDE2-8991-57B7-395BFA00685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21A7E09-2615-D695-061B-1C6B25EFDE8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28BC0EA-A7F9-BD61-8251-8470DE40C31B}"/>
              </a:ext>
            </a:extLst>
          </p:cNvPr>
          <p:cNvSpPr>
            <a:spLocks noGrp="1"/>
          </p:cNvSpPr>
          <p:nvPr>
            <p:ph type="sldNum" sz="quarter" idx="5"/>
          </p:nvPr>
        </p:nvSpPr>
        <p:spPr/>
        <p:txBody>
          <a:bodyPr/>
          <a:lstStyle/>
          <a:p>
            <a:fld id="{83C353D4-0C51-4438-ACC1-F3CCB9529910}" type="slidenum">
              <a:rPr lang="zh-CN" altLang="en-US" smtClean="0"/>
              <a:t>5</a:t>
            </a:fld>
            <a:endParaRPr lang="zh-CN" altLang="en-US"/>
          </a:p>
        </p:txBody>
      </p:sp>
    </p:spTree>
    <p:extLst>
      <p:ext uri="{BB962C8B-B14F-4D97-AF65-F5344CB8AC3E}">
        <p14:creationId xmlns:p14="http://schemas.microsoft.com/office/powerpoint/2010/main" val="33161958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6E9C3-FE65-3C23-A55D-96430695CF3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E437A39-69C9-5A8B-F283-767A20FB957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CA1D1D5-9959-CA84-8089-9A76F95104D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90BFDC4-92C7-C805-64DB-C05086AEA927}"/>
              </a:ext>
            </a:extLst>
          </p:cNvPr>
          <p:cNvSpPr>
            <a:spLocks noGrp="1"/>
          </p:cNvSpPr>
          <p:nvPr>
            <p:ph type="sldNum" sz="quarter" idx="5"/>
          </p:nvPr>
        </p:nvSpPr>
        <p:spPr/>
        <p:txBody>
          <a:bodyPr/>
          <a:lstStyle/>
          <a:p>
            <a:fld id="{83C353D4-0C51-4438-ACC1-F3CCB9529910}" type="slidenum">
              <a:rPr lang="zh-CN" altLang="en-US" smtClean="0"/>
              <a:t>6</a:t>
            </a:fld>
            <a:endParaRPr lang="zh-CN" altLang="en-US"/>
          </a:p>
        </p:txBody>
      </p:sp>
    </p:spTree>
    <p:extLst>
      <p:ext uri="{BB962C8B-B14F-4D97-AF65-F5344CB8AC3E}">
        <p14:creationId xmlns:p14="http://schemas.microsoft.com/office/powerpoint/2010/main" val="30284090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22E91-BEB8-4B93-6489-FCD5A7DEEF1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649B1E9-DD59-42A2-0D2F-A084143A246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B89D9D0-812F-EA24-F4A7-409C6FC3F86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62FEBE6-14BA-44FC-D11E-9D6DA7E22C8C}"/>
              </a:ext>
            </a:extLst>
          </p:cNvPr>
          <p:cNvSpPr>
            <a:spLocks noGrp="1"/>
          </p:cNvSpPr>
          <p:nvPr>
            <p:ph type="sldNum" sz="quarter" idx="5"/>
          </p:nvPr>
        </p:nvSpPr>
        <p:spPr/>
        <p:txBody>
          <a:bodyPr/>
          <a:lstStyle/>
          <a:p>
            <a:fld id="{83C353D4-0C51-4438-ACC1-F3CCB9529910}" type="slidenum">
              <a:rPr lang="zh-CN" altLang="en-US" smtClean="0"/>
              <a:t>7</a:t>
            </a:fld>
            <a:endParaRPr lang="zh-CN" altLang="en-US"/>
          </a:p>
        </p:txBody>
      </p:sp>
    </p:spTree>
    <p:extLst>
      <p:ext uri="{BB962C8B-B14F-4D97-AF65-F5344CB8AC3E}">
        <p14:creationId xmlns:p14="http://schemas.microsoft.com/office/powerpoint/2010/main" val="20894352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1F010C-4778-EB7A-EC39-E2BF75CD4DC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7EF7CD5-3F76-08F1-D625-7871221882B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8F64530-52FA-D42E-4D64-D56F8230EB3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A412FCD-52CE-33B5-F2F5-99E5C72C2C61}"/>
              </a:ext>
            </a:extLst>
          </p:cNvPr>
          <p:cNvSpPr>
            <a:spLocks noGrp="1"/>
          </p:cNvSpPr>
          <p:nvPr>
            <p:ph type="sldNum" sz="quarter" idx="5"/>
          </p:nvPr>
        </p:nvSpPr>
        <p:spPr/>
        <p:txBody>
          <a:bodyPr/>
          <a:lstStyle/>
          <a:p>
            <a:fld id="{83C353D4-0C51-4438-ACC1-F3CCB9529910}" type="slidenum">
              <a:rPr lang="zh-CN" altLang="en-US" smtClean="0"/>
              <a:t>8</a:t>
            </a:fld>
            <a:endParaRPr lang="zh-CN" altLang="en-US"/>
          </a:p>
        </p:txBody>
      </p:sp>
    </p:spTree>
    <p:extLst>
      <p:ext uri="{BB962C8B-B14F-4D97-AF65-F5344CB8AC3E}">
        <p14:creationId xmlns:p14="http://schemas.microsoft.com/office/powerpoint/2010/main" val="6280840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51B82C-A911-C112-0CDC-EA60E80C516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5112AC2-2A52-D2DA-A61D-C72079B5BB5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B2A95C6-C4C3-9898-887D-D251A502673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BAEE81E-CF74-4372-DA7C-B06840FCF333}"/>
              </a:ext>
            </a:extLst>
          </p:cNvPr>
          <p:cNvSpPr>
            <a:spLocks noGrp="1"/>
          </p:cNvSpPr>
          <p:nvPr>
            <p:ph type="sldNum" sz="quarter" idx="5"/>
          </p:nvPr>
        </p:nvSpPr>
        <p:spPr/>
        <p:txBody>
          <a:bodyPr/>
          <a:lstStyle/>
          <a:p>
            <a:fld id="{83C353D4-0C51-4438-ACC1-F3CCB9529910}" type="slidenum">
              <a:rPr lang="zh-CN" altLang="en-US" smtClean="0"/>
              <a:t>9</a:t>
            </a:fld>
            <a:endParaRPr lang="zh-CN" altLang="en-US"/>
          </a:p>
        </p:txBody>
      </p:sp>
    </p:spTree>
    <p:extLst>
      <p:ext uri="{BB962C8B-B14F-4D97-AF65-F5344CB8AC3E}">
        <p14:creationId xmlns:p14="http://schemas.microsoft.com/office/powerpoint/2010/main" val="11899730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36E181-CB49-1C14-8FBC-5F2BEE85958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4234564-94A6-0AF1-F4AF-1513C302DCC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56C8E39-50B7-D43B-0759-A4F60C77640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38E1710-7B92-0545-669D-FB2AD8B4F231}"/>
              </a:ext>
            </a:extLst>
          </p:cNvPr>
          <p:cNvSpPr>
            <a:spLocks noGrp="1"/>
          </p:cNvSpPr>
          <p:nvPr>
            <p:ph type="sldNum" sz="quarter" idx="5"/>
          </p:nvPr>
        </p:nvSpPr>
        <p:spPr/>
        <p:txBody>
          <a:bodyPr/>
          <a:lstStyle/>
          <a:p>
            <a:fld id="{83C353D4-0C51-4438-ACC1-F3CCB9529910}" type="slidenum">
              <a:rPr lang="zh-CN" altLang="en-US" smtClean="0"/>
              <a:t>10</a:t>
            </a:fld>
            <a:endParaRPr lang="zh-CN" altLang="en-US"/>
          </a:p>
        </p:txBody>
      </p:sp>
    </p:spTree>
    <p:extLst>
      <p:ext uri="{BB962C8B-B14F-4D97-AF65-F5344CB8AC3E}">
        <p14:creationId xmlns:p14="http://schemas.microsoft.com/office/powerpoint/2010/main" val="2841586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17CD4-ACF0-0C9B-E877-67BFC6399AC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BB84F95-7043-AF6B-E921-C8E6301124F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8C9F4CF-85F8-9E96-3E4D-C73DCBF7912B}"/>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73B2D11-96F1-548F-B7AA-3C4AB350222E}"/>
              </a:ext>
            </a:extLst>
          </p:cNvPr>
          <p:cNvSpPr>
            <a:spLocks noGrp="1"/>
          </p:cNvSpPr>
          <p:nvPr>
            <p:ph type="sldNum" sz="quarter" idx="5"/>
          </p:nvPr>
        </p:nvSpPr>
        <p:spPr/>
        <p:txBody>
          <a:bodyPr/>
          <a:lstStyle/>
          <a:p>
            <a:fld id="{83C353D4-0C51-4438-ACC1-F3CCB9529910}" type="slidenum">
              <a:rPr lang="zh-CN" altLang="en-US" smtClean="0"/>
              <a:t>11</a:t>
            </a:fld>
            <a:endParaRPr lang="zh-CN" altLang="en-US"/>
          </a:p>
        </p:txBody>
      </p:sp>
    </p:spTree>
    <p:extLst>
      <p:ext uri="{BB962C8B-B14F-4D97-AF65-F5344CB8AC3E}">
        <p14:creationId xmlns:p14="http://schemas.microsoft.com/office/powerpoint/2010/main" val="35483731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26CA27-E369-B1A4-1C1A-57742B40B8B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74EA3E6-CFCF-223C-3575-6DC9BA4776A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9B3D152-6451-2DC2-8844-E0D06E5EFBA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CACADF7-57AF-FFC9-9A0A-6D6BE9A92FE0}"/>
              </a:ext>
            </a:extLst>
          </p:cNvPr>
          <p:cNvSpPr>
            <a:spLocks noGrp="1"/>
          </p:cNvSpPr>
          <p:nvPr>
            <p:ph type="sldNum" sz="quarter" idx="5"/>
          </p:nvPr>
        </p:nvSpPr>
        <p:spPr/>
        <p:txBody>
          <a:bodyPr/>
          <a:lstStyle/>
          <a:p>
            <a:fld id="{83C353D4-0C51-4438-ACC1-F3CCB9529910}" type="slidenum">
              <a:rPr lang="zh-CN" altLang="en-US" smtClean="0"/>
              <a:t>12</a:t>
            </a:fld>
            <a:endParaRPr lang="zh-CN" altLang="en-US"/>
          </a:p>
        </p:txBody>
      </p:sp>
    </p:spTree>
    <p:extLst>
      <p:ext uri="{BB962C8B-B14F-4D97-AF65-F5344CB8AC3E}">
        <p14:creationId xmlns:p14="http://schemas.microsoft.com/office/powerpoint/2010/main" val="29863567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3B2299A-D4ED-4AA2-815C-5CE3EBF05664}"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13</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2026/6/4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2026/6/4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2026/6/4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2026/6/4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2026/6/4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2026/6/4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空白">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AC53F64-55D0-4D2E-AB7F-04E6B48EAF25}"/>
              </a:ext>
            </a:extLst>
          </p:cNvPr>
          <p:cNvSpPr txBox="1"/>
          <p:nvPr userDrawn="1"/>
        </p:nvSpPr>
        <p:spPr>
          <a:xfrm>
            <a:off x="149703" y="-37319"/>
            <a:ext cx="9787927" cy="769966"/>
          </a:xfrm>
          <a:prstGeom prst="rect">
            <a:avLst/>
          </a:prstGeom>
        </p:spPr>
        <p:txBody>
          <a:bodyPr/>
          <a:lstStyle>
            <a:lvl1pPr algn="ctr" defTabSz="914400" rtl="0" eaLnBrk="1" latinLnBrk="0" hangingPunct="1">
              <a:lnSpc>
                <a:spcPct val="90000"/>
              </a:lnSpc>
              <a:spcBef>
                <a:spcPct val="0"/>
              </a:spcBef>
              <a:buNone/>
              <a:defRPr sz="3600" kern="1200">
                <a:solidFill>
                  <a:schemeClr val="tx1"/>
                </a:solidFill>
                <a:latin typeface="Playfair Display Black" charset="0"/>
                <a:ea typeface="Playfair Display Black" charset="0"/>
                <a:cs typeface="Playfair Display Black"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zh-CN" altLang="en-US" sz="2400" b="1" i="0" u="none" strike="noStrike" kern="1200" cap="none" spc="110" normalizeH="0" baseline="0" noProof="0" dirty="0">
              <a:ln>
                <a:noFill/>
              </a:ln>
              <a:solidFill>
                <a:srgbClr val="743481"/>
              </a:solidFill>
              <a:effectLst/>
              <a:uLnTx/>
              <a:uFillTx/>
              <a:latin typeface="微软雅黑" panose="020B0503020204020204" pitchFamily="34" charset="-122"/>
              <a:ea typeface="微软雅黑" panose="020B0503020204020204" pitchFamily="34" charset="-122"/>
              <a:cs typeface="+mn-cs"/>
            </a:endParaRPr>
          </a:p>
        </p:txBody>
      </p:sp>
      <p:grpSp>
        <p:nvGrpSpPr>
          <p:cNvPr id="6" name="组合 5">
            <a:extLst>
              <a:ext uri="{FF2B5EF4-FFF2-40B4-BE49-F238E27FC236}">
                <a16:creationId xmlns:a16="http://schemas.microsoft.com/office/drawing/2014/main" id="{7DF6F8D7-A2B2-4949-9BD5-0D8779C15DB1}"/>
              </a:ext>
            </a:extLst>
          </p:cNvPr>
          <p:cNvGrpSpPr/>
          <p:nvPr userDrawn="1"/>
        </p:nvGrpSpPr>
        <p:grpSpPr>
          <a:xfrm>
            <a:off x="1" y="787688"/>
            <a:ext cx="12191996" cy="64795"/>
            <a:chOff x="6618517" y="1156120"/>
            <a:chExt cx="11043839" cy="65556"/>
          </a:xfrm>
          <a:solidFill>
            <a:srgbClr val="643D95"/>
          </a:solidFill>
        </p:grpSpPr>
        <p:sp>
          <p:nvSpPr>
            <p:cNvPr id="7" name="矩形 6">
              <a:extLst>
                <a:ext uri="{FF2B5EF4-FFF2-40B4-BE49-F238E27FC236}">
                  <a16:creationId xmlns:a16="http://schemas.microsoft.com/office/drawing/2014/main" id="{5ABBD4F3-61EA-4FFE-A6EC-133B7443BC2F}"/>
                </a:ext>
              </a:extLst>
            </p:cNvPr>
            <p:cNvSpPr/>
            <p:nvPr/>
          </p:nvSpPr>
          <p:spPr>
            <a:xfrm>
              <a:off x="6618517" y="1156120"/>
              <a:ext cx="1983307" cy="6555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14350" rtl="0" eaLnBrk="1" fontAlgn="auto" latinLnBrk="0" hangingPunct="1">
                <a:lnSpc>
                  <a:spcPct val="100000"/>
                </a:lnSpc>
                <a:spcBef>
                  <a:spcPts val="0"/>
                </a:spcBef>
                <a:spcAft>
                  <a:spcPts val="0"/>
                </a:spcAft>
                <a:buClrTx/>
                <a:buSzTx/>
                <a:buFontTx/>
                <a:buNone/>
                <a:tabLst/>
                <a:defRPr/>
              </a:pPr>
              <a:endParaRPr kumimoji="0" lang="zh-CN" altLang="en-US" sz="1015"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cxnSp>
          <p:nvCxnSpPr>
            <p:cNvPr id="8" name="直接连接符 40">
              <a:extLst>
                <a:ext uri="{FF2B5EF4-FFF2-40B4-BE49-F238E27FC236}">
                  <a16:creationId xmlns:a16="http://schemas.microsoft.com/office/drawing/2014/main" id="{CD16F0BC-A10E-4E99-BB59-06F26FA98B1A}"/>
                </a:ext>
              </a:extLst>
            </p:cNvPr>
            <p:cNvCxnSpPr/>
            <p:nvPr/>
          </p:nvCxnSpPr>
          <p:spPr>
            <a:xfrm flipV="1">
              <a:off x="8601824" y="1204050"/>
              <a:ext cx="9060532" cy="1"/>
            </a:xfrm>
            <a:prstGeom prst="line">
              <a:avLst/>
            </a:prstGeom>
            <a:grpFill/>
            <a:ln w="22225">
              <a:solidFill>
                <a:srgbClr val="611C55"/>
              </a:solidFill>
            </a:ln>
          </p:spPr>
          <p:style>
            <a:lnRef idx="1">
              <a:schemeClr val="accent1"/>
            </a:lnRef>
            <a:fillRef idx="0">
              <a:schemeClr val="accent1"/>
            </a:fillRef>
            <a:effectRef idx="0">
              <a:schemeClr val="accent1"/>
            </a:effectRef>
            <a:fontRef idx="minor">
              <a:schemeClr val="tx1"/>
            </a:fontRef>
          </p:style>
        </p:cxnSp>
      </p:grpSp>
      <p:pic>
        <p:nvPicPr>
          <p:cNvPr id="9" name="图片 8">
            <a:extLst>
              <a:ext uri="{FF2B5EF4-FFF2-40B4-BE49-F238E27FC236}">
                <a16:creationId xmlns:a16="http://schemas.microsoft.com/office/drawing/2014/main" id="{84FF60C2-560C-4D2F-B2EF-2333DABAED69}"/>
              </a:ext>
            </a:extLst>
          </p:cNvPr>
          <p:cNvPicPr>
            <a:picLocks noChangeAspect="1"/>
          </p:cNvPicPr>
          <p:nvPr userDrawn="1"/>
        </p:nvPicPr>
        <p:blipFill>
          <a:blip r:embed="rId2"/>
          <a:stretch>
            <a:fillRect/>
          </a:stretch>
        </p:blipFill>
        <p:spPr>
          <a:xfrm>
            <a:off x="7952721" y="45609"/>
            <a:ext cx="4239279" cy="765766"/>
          </a:xfrm>
          <a:prstGeom prst="rect">
            <a:avLst/>
          </a:prstGeom>
        </p:spPr>
      </p:pic>
      <p:sp>
        <p:nvSpPr>
          <p:cNvPr id="4" name="日期占位符 3">
            <a:extLst>
              <a:ext uri="{FF2B5EF4-FFF2-40B4-BE49-F238E27FC236}">
                <a16:creationId xmlns:a16="http://schemas.microsoft.com/office/drawing/2014/main" id="{0EDC30C8-B1D0-46F2-AF7A-9BFB9EA3AA4E}"/>
              </a:ext>
            </a:extLst>
          </p:cNvPr>
          <p:cNvSpPr>
            <a:spLocks noGrp="1"/>
          </p:cNvSpPr>
          <p:nvPr>
            <p:ph type="dt" sz="half" idx="10"/>
          </p:nvPr>
        </p:nvSpPr>
        <p:spPr/>
        <p:txBody>
          <a:bodyPr/>
          <a:lstStyle/>
          <a:p>
            <a:endParaRPr lang="zh-CN" altLang="en-US"/>
          </a:p>
        </p:txBody>
      </p:sp>
      <p:sp>
        <p:nvSpPr>
          <p:cNvPr id="11" name="页脚占位符 10">
            <a:extLst>
              <a:ext uri="{FF2B5EF4-FFF2-40B4-BE49-F238E27FC236}">
                <a16:creationId xmlns:a16="http://schemas.microsoft.com/office/drawing/2014/main" id="{2E4D678C-D606-46A2-A543-4BFB40C1AB41}"/>
              </a:ext>
            </a:extLst>
          </p:cNvPr>
          <p:cNvSpPr>
            <a:spLocks noGrp="1"/>
          </p:cNvSpPr>
          <p:nvPr>
            <p:ph type="ftr" sz="quarter" idx="11"/>
          </p:nvPr>
        </p:nvSpPr>
        <p:spPr/>
        <p:txBody>
          <a:bodyPr/>
          <a:lstStyle/>
          <a:p>
            <a:endParaRPr lang="zh-CN" altLang="en-US" dirty="0"/>
          </a:p>
        </p:txBody>
      </p:sp>
      <p:sp>
        <p:nvSpPr>
          <p:cNvPr id="12" name="灯片编号占位符 11">
            <a:extLst>
              <a:ext uri="{FF2B5EF4-FFF2-40B4-BE49-F238E27FC236}">
                <a16:creationId xmlns:a16="http://schemas.microsoft.com/office/drawing/2014/main" id="{483C2030-4FC6-4B0D-B906-20C85B23433E}"/>
              </a:ext>
            </a:extLst>
          </p:cNvPr>
          <p:cNvSpPr>
            <a:spLocks noGrp="1"/>
          </p:cNvSpPr>
          <p:nvPr>
            <p:ph type="sldNum" sz="quarter" idx="12"/>
          </p:nvPr>
        </p:nvSpPr>
        <p:spPr/>
        <p:txBody>
          <a:bodyPr>
            <a:noAutofit/>
          </a:bodyPr>
          <a:lstStyle>
            <a:lvl1pPr>
              <a:defRPr sz="2000" b="1">
                <a:solidFill>
                  <a:schemeClr val="tx1"/>
                </a:solidFill>
              </a:defRPr>
            </a:lvl1pPr>
          </a:lstStyle>
          <a:p>
            <a:fld id="{49AE70B2-8BF9-45C0-BB95-33D1B9D3A854}" type="slidenum">
              <a:rPr lang="zh-CN" altLang="en-US" smtClean="0"/>
              <a:pPr/>
              <a:t>‹#›</a:t>
            </a:fld>
            <a:endParaRPr lang="zh-CN" altLang="en-US" dirty="0"/>
          </a:p>
        </p:txBody>
      </p:sp>
      <p:sp>
        <p:nvSpPr>
          <p:cNvPr id="17" name="标题 16">
            <a:extLst>
              <a:ext uri="{FF2B5EF4-FFF2-40B4-BE49-F238E27FC236}">
                <a16:creationId xmlns:a16="http://schemas.microsoft.com/office/drawing/2014/main" id="{8A8BFE45-B6CC-4A0D-93EC-2DCF28823DAE}"/>
              </a:ext>
            </a:extLst>
          </p:cNvPr>
          <p:cNvSpPr>
            <a:spLocks noGrp="1"/>
          </p:cNvSpPr>
          <p:nvPr>
            <p:ph type="title"/>
          </p:nvPr>
        </p:nvSpPr>
        <p:spPr>
          <a:xfrm>
            <a:off x="149703" y="38891"/>
            <a:ext cx="10969200" cy="705600"/>
          </a:xfrm>
        </p:spPr>
        <p:txBody>
          <a:bodyPr>
            <a:normAutofit/>
          </a:bodyPr>
          <a:lstStyle>
            <a:lvl1pPr>
              <a:defRPr sz="2800">
                <a:solidFill>
                  <a:schemeClr val="tx1"/>
                </a:solidFill>
              </a:defRPr>
            </a:lvl1pPr>
          </a:lstStyle>
          <a:p>
            <a:r>
              <a:rPr lang="zh-CN" altLang="en-US"/>
              <a:t>单击此处编辑母版标题样式</a:t>
            </a:r>
          </a:p>
        </p:txBody>
      </p:sp>
    </p:spTree>
    <p:extLst>
      <p:ext uri="{BB962C8B-B14F-4D97-AF65-F5344CB8AC3E}">
        <p14:creationId xmlns:p14="http://schemas.microsoft.com/office/powerpoint/2010/main" val="42334519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2026/6/4</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notesSlide" Target="../notesSlides/notesSlide2.xml"/><Relationship Id="rId2" Type="http://schemas.openxmlformats.org/officeDocument/2006/relationships/tags" Target="../tags/tag2.xml"/><Relationship Id="rId16" Type="http://schemas.openxmlformats.org/officeDocument/2006/relationships/slideLayout" Target="../slideLayouts/slideLayout1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2.xml"/><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2.xml"/><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notesSlide" Target="../notesSlides/notesSlide12.xml"/><Relationship Id="rId5" Type="http://schemas.openxmlformats.org/officeDocument/2006/relationships/slideLayout" Target="../slideLayouts/slideLayout12.xml"/><Relationship Id="rId4" Type="http://schemas.openxmlformats.org/officeDocument/2006/relationships/tags" Target="../tags/tag19.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3707" y="616300"/>
            <a:ext cx="5698724" cy="5664569"/>
          </a:xfrm>
          <a:prstGeom prst="rect">
            <a:avLst/>
          </a:prstGeom>
        </p:spPr>
      </p:pic>
      <p:sp>
        <p:nvSpPr>
          <p:cNvPr id="13" name="矩形 12"/>
          <p:cNvSpPr/>
          <p:nvPr/>
        </p:nvSpPr>
        <p:spPr>
          <a:xfrm>
            <a:off x="13706" y="236306"/>
            <a:ext cx="5965853" cy="6151385"/>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7462520" y="5525586"/>
            <a:ext cx="3728085" cy="375920"/>
          </a:xfrm>
          <a:prstGeom prst="rect">
            <a:avLst/>
          </a:prstGeom>
        </p:spPr>
        <p:txBody>
          <a:bodyPr wrap="square" lIns="68580" tIns="34291" rIns="68580" bIns="34291">
            <a:spAutoFit/>
          </a:bodyPr>
          <a:lstStyle/>
          <a:p>
            <a:pPr defTabSz="342900">
              <a:defRPr/>
            </a:pPr>
            <a:r>
              <a:rPr kumimoji="1" lang="zh-CN" altLang="en-US" sz="20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汇报人：汪奕辰</a:t>
            </a:r>
          </a:p>
        </p:txBody>
      </p:sp>
      <p:sp>
        <p:nvSpPr>
          <p:cNvPr id="10" name="TextBox 5"/>
          <p:cNvSpPr txBox="1"/>
          <p:nvPr/>
        </p:nvSpPr>
        <p:spPr>
          <a:xfrm>
            <a:off x="7462520" y="5907038"/>
            <a:ext cx="2446508" cy="375920"/>
          </a:xfrm>
          <a:prstGeom prst="rect">
            <a:avLst/>
          </a:prstGeom>
          <a:noFill/>
        </p:spPr>
        <p:txBody>
          <a:bodyPr wrap="square" lIns="68580" tIns="34291" rIns="68580" bIns="34291" rtlCol="0">
            <a:spAutoFit/>
          </a:bodyPr>
          <a:lstStyle/>
          <a:p>
            <a:pPr defTabSz="342900">
              <a:defRPr/>
            </a:pPr>
            <a:r>
              <a:rPr lang="zh-CN" altLang="en-US" sz="20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日期：</a:t>
            </a:r>
            <a:r>
              <a:rPr lang="en-US" altLang="zh-CN" sz="20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2026.6</a:t>
            </a:r>
            <a:endParaRPr lang="zh-CN" altLang="en-US" sz="20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4" name="矩形 13"/>
          <p:cNvSpPr/>
          <p:nvPr/>
        </p:nvSpPr>
        <p:spPr>
          <a:xfrm>
            <a:off x="0" y="2429648"/>
            <a:ext cx="12192000" cy="1852002"/>
          </a:xfrm>
          <a:prstGeom prst="rect">
            <a:avLst/>
          </a:prstGeom>
          <a:gradFill flip="none" rotWithShape="1">
            <a:gsLst>
              <a:gs pos="0">
                <a:srgbClr val="0E64AC">
                  <a:shade val="30000"/>
                  <a:satMod val="115000"/>
                </a:srgbClr>
              </a:gs>
              <a:gs pos="50000">
                <a:srgbClr val="0E64AC">
                  <a:shade val="67500"/>
                  <a:satMod val="115000"/>
                </a:srgbClr>
              </a:gs>
              <a:gs pos="100000">
                <a:srgbClr val="0E64AC">
                  <a:shade val="100000"/>
                  <a:satMod val="115000"/>
                </a:srgb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400" b="1" dirty="0">
                <a:latin typeface="微软雅黑" panose="020B0503020204020204" pitchFamily="34" charset="-122"/>
                <a:ea typeface="微软雅黑" panose="020B0503020204020204" pitchFamily="34" charset="-122"/>
              </a:rPr>
              <a:t>数据驱动的燃气蒸汽联合循环机组</a:t>
            </a:r>
            <a:endParaRPr lang="en-US" altLang="zh-CN" sz="4400" b="1" dirty="0">
              <a:latin typeface="微软雅黑" panose="020B0503020204020204" pitchFamily="34" charset="-122"/>
              <a:ea typeface="微软雅黑" panose="020B0503020204020204" pitchFamily="34" charset="-122"/>
            </a:endParaRPr>
          </a:p>
          <a:p>
            <a:pPr algn="ctr"/>
            <a:r>
              <a:rPr lang="zh-CN" altLang="en-US" sz="4400" b="1" dirty="0">
                <a:latin typeface="微软雅黑" panose="020B0503020204020204" pitchFamily="34" charset="-122"/>
                <a:ea typeface="微软雅黑" panose="020B0503020204020204" pitchFamily="34" charset="-122"/>
              </a:rPr>
              <a:t>性能评估方法研究</a:t>
            </a:r>
          </a:p>
        </p:txBody>
      </p:sp>
      <p:sp>
        <p:nvSpPr>
          <p:cNvPr id="2" name="文本框 1"/>
          <p:cNvSpPr txBox="1"/>
          <p:nvPr/>
        </p:nvSpPr>
        <p:spPr>
          <a:xfrm>
            <a:off x="0" y="1907540"/>
            <a:ext cx="4811395" cy="52197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本科毕业设计报告：</a:t>
            </a:r>
          </a:p>
        </p:txBody>
      </p:sp>
      <p:sp>
        <p:nvSpPr>
          <p:cNvPr id="3" name="矩形 2"/>
          <p:cNvSpPr/>
          <p:nvPr/>
        </p:nvSpPr>
        <p:spPr>
          <a:xfrm>
            <a:off x="7462520" y="5147945"/>
            <a:ext cx="3413760" cy="375920"/>
          </a:xfrm>
          <a:prstGeom prst="rect">
            <a:avLst/>
          </a:prstGeom>
        </p:spPr>
        <p:txBody>
          <a:bodyPr wrap="square" lIns="68580" tIns="34291" rIns="68580" bIns="34291">
            <a:spAutoFit/>
          </a:bodyPr>
          <a:lstStyle/>
          <a:p>
            <a:pPr defTabSz="342900">
              <a:defRPr/>
            </a:pPr>
            <a:r>
              <a:rPr kumimoji="1" lang="zh-CN" altLang="en-US" sz="20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指导老师：刘超</a:t>
            </a:r>
          </a:p>
        </p:txBody>
      </p:sp>
    </p:spTree>
  </p:cSld>
  <p:clrMapOvr>
    <a:masterClrMapping/>
  </p:clrMapOvr>
  <mc:AlternateContent xmlns:mc="http://schemas.openxmlformats.org/markup-compatibility/2006" xmlns:p14="http://schemas.microsoft.com/office/powerpoint/2010/main">
    <mc:Choice Requires="p14">
      <p:transition spd="slow" p14:dur="2000" advTm="9729"/>
    </mc:Choice>
    <mc:Fallback xmlns="">
      <p:transition spd="slow" advTm="9729"/>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FD79A-ACA0-C5CA-D120-8A59E6A8E3E6}"/>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86F40B68-5A13-558E-FCCA-77D7DC24624C}"/>
              </a:ext>
            </a:extLst>
          </p:cNvPr>
          <p:cNvSpPr txBox="1"/>
          <p:nvPr/>
        </p:nvSpPr>
        <p:spPr>
          <a:xfrm>
            <a:off x="166815" y="105032"/>
            <a:ext cx="1005403" cy="584775"/>
          </a:xfrm>
          <a:prstGeom prst="rect">
            <a:avLst/>
          </a:prstGeom>
          <a:noFill/>
        </p:spPr>
        <p:txBody>
          <a:bodyPr wrap="none" rtlCol="0">
            <a:spAutoFit/>
          </a:bodyPr>
          <a:lstStyle/>
          <a:p>
            <a:r>
              <a:rPr lang="zh-CN" altLang="en-US" sz="3200" b="1" dirty="0"/>
              <a:t>目录</a:t>
            </a:r>
          </a:p>
        </p:txBody>
      </p:sp>
      <p:sp>
        <p:nvSpPr>
          <p:cNvPr id="4" name="灯片编号占位符 3">
            <a:extLst>
              <a:ext uri="{FF2B5EF4-FFF2-40B4-BE49-F238E27FC236}">
                <a16:creationId xmlns:a16="http://schemas.microsoft.com/office/drawing/2014/main" id="{36EE02E1-7D21-70AE-AF76-1B8A23E89C71}"/>
              </a:ext>
            </a:extLst>
          </p:cNvPr>
          <p:cNvSpPr>
            <a:spLocks noGrp="1"/>
          </p:cNvSpPr>
          <p:nvPr>
            <p:ph type="sldNum" sz="quarter" idx="12"/>
          </p:nvPr>
        </p:nvSpPr>
        <p:spPr>
          <a:xfrm>
            <a:off x="11338560" y="6428700"/>
            <a:ext cx="787680" cy="316800"/>
          </a:xfrm>
        </p:spPr>
        <p:txBody>
          <a:bodyPr/>
          <a:lstStyle/>
          <a:p>
            <a:fld id="{49AE70B2-8BF9-45C0-BB95-33D1B9D3A854}" type="slidenum">
              <a:rPr lang="zh-CN" altLang="en-US" smtClean="0"/>
              <a:pPr/>
              <a:t>2</a:t>
            </a:fld>
            <a:endParaRPr lang="zh-CN" altLang="en-US" dirty="0"/>
          </a:p>
        </p:txBody>
      </p:sp>
      <p:grpSp>
        <p:nvGrpSpPr>
          <p:cNvPr id="5" name="组合 4">
            <a:extLst>
              <a:ext uri="{FF2B5EF4-FFF2-40B4-BE49-F238E27FC236}">
                <a16:creationId xmlns:a16="http://schemas.microsoft.com/office/drawing/2014/main" id="{5F8D7796-1E19-EA1B-C357-EC864E6FEAB6}"/>
              </a:ext>
            </a:extLst>
          </p:cNvPr>
          <p:cNvGrpSpPr/>
          <p:nvPr>
            <p:custDataLst>
              <p:tags r:id="rId1"/>
            </p:custDataLst>
          </p:nvPr>
        </p:nvGrpSpPr>
        <p:grpSpPr>
          <a:xfrm>
            <a:off x="3071496" y="1954208"/>
            <a:ext cx="5826758" cy="707886"/>
            <a:chOff x="3203934" y="1734276"/>
            <a:chExt cx="5826758" cy="707886"/>
          </a:xfrm>
        </p:grpSpPr>
        <p:sp>
          <p:nvSpPr>
            <p:cNvPr id="6" name="箭头: 五边形 5">
              <a:extLst>
                <a:ext uri="{FF2B5EF4-FFF2-40B4-BE49-F238E27FC236}">
                  <a16:creationId xmlns:a16="http://schemas.microsoft.com/office/drawing/2014/main" id="{82F19240-7A72-7923-3903-8B2516C01DCF}"/>
                </a:ext>
              </a:extLst>
            </p:cNvPr>
            <p:cNvSpPr/>
            <p:nvPr>
              <p:custDataLst>
                <p:tags r:id="rId12"/>
              </p:custDataLst>
            </p:nvPr>
          </p:nvSpPr>
          <p:spPr>
            <a:xfrm>
              <a:off x="3513812" y="1734276"/>
              <a:ext cx="5516880" cy="707886"/>
            </a:xfrm>
            <a:prstGeom prst="homePlate">
              <a:avLst/>
            </a:prstGeom>
            <a:solidFill>
              <a:srgbClr val="E7E6E6"/>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7" name="矩形: 圆角 6">
              <a:extLst>
                <a:ext uri="{FF2B5EF4-FFF2-40B4-BE49-F238E27FC236}">
                  <a16:creationId xmlns:a16="http://schemas.microsoft.com/office/drawing/2014/main" id="{44D5CA62-19BA-C1AF-512F-2D6EF414FA21}"/>
                </a:ext>
              </a:extLst>
            </p:cNvPr>
            <p:cNvSpPr/>
            <p:nvPr>
              <p:custDataLst>
                <p:tags r:id="rId13"/>
              </p:custDataLst>
            </p:nvPr>
          </p:nvSpPr>
          <p:spPr>
            <a:xfrm rot="2700000">
              <a:off x="3203933" y="1786805"/>
              <a:ext cx="619760" cy="619759"/>
            </a:xfrm>
            <a:prstGeom prst="roundRect">
              <a:avLst/>
            </a:prstGeom>
            <a:solidFill>
              <a:srgbClr val="004A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8" name="文本框 16">
              <a:extLst>
                <a:ext uri="{FF2B5EF4-FFF2-40B4-BE49-F238E27FC236}">
                  <a16:creationId xmlns:a16="http://schemas.microsoft.com/office/drawing/2014/main" id="{1A7BE165-E180-2F8A-3748-4C5E9AADE9F3}"/>
                </a:ext>
              </a:extLst>
            </p:cNvPr>
            <p:cNvSpPr txBox="1"/>
            <p:nvPr>
              <p:custDataLst>
                <p:tags r:id="rId14"/>
              </p:custDataLst>
            </p:nvPr>
          </p:nvSpPr>
          <p:spPr>
            <a:xfrm>
              <a:off x="3300839" y="1822447"/>
              <a:ext cx="405880" cy="52197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800" b="1" dirty="0">
                  <a:solidFill>
                    <a:schemeClr val="bg1"/>
                  </a:solidFill>
                  <a:latin typeface="微软雅黑" panose="020B0503020204020204" pitchFamily="34" charset="-122"/>
                  <a:ea typeface="微软雅黑" panose="020B0503020204020204" pitchFamily="34" charset="-122"/>
                </a:rPr>
                <a:t>1</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EF7B2807-2CC2-D71F-01D1-1498377C667A}"/>
                </a:ext>
              </a:extLst>
            </p:cNvPr>
            <p:cNvSpPr/>
            <p:nvPr>
              <p:custDataLst>
                <p:tags r:id="rId15"/>
              </p:custDataLst>
            </p:nvPr>
          </p:nvSpPr>
          <p:spPr>
            <a:xfrm>
              <a:off x="4034664" y="1845682"/>
              <a:ext cx="4444849" cy="52197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800" b="1" dirty="0">
                  <a:solidFill>
                    <a:srgbClr val="004A8A"/>
                  </a:solidFill>
                  <a:latin typeface="微软雅黑" panose="020B0503020204020204" pitchFamily="34" charset="-122"/>
                  <a:ea typeface="微软雅黑" panose="020B0503020204020204" pitchFamily="34" charset="-122"/>
                </a:rPr>
                <a:t>研究背景和意义</a:t>
              </a:r>
            </a:p>
          </p:txBody>
        </p:sp>
      </p:grpSp>
      <p:grpSp>
        <p:nvGrpSpPr>
          <p:cNvPr id="10" name="组合 9">
            <a:extLst>
              <a:ext uri="{FF2B5EF4-FFF2-40B4-BE49-F238E27FC236}">
                <a16:creationId xmlns:a16="http://schemas.microsoft.com/office/drawing/2014/main" id="{74F10ED2-6620-742B-0746-C9FB0E0586D5}"/>
              </a:ext>
            </a:extLst>
          </p:cNvPr>
          <p:cNvGrpSpPr/>
          <p:nvPr>
            <p:custDataLst>
              <p:tags r:id="rId2"/>
            </p:custDataLst>
          </p:nvPr>
        </p:nvGrpSpPr>
        <p:grpSpPr>
          <a:xfrm>
            <a:off x="3071496" y="3360362"/>
            <a:ext cx="5826758" cy="707886"/>
            <a:chOff x="3203934" y="1734276"/>
            <a:chExt cx="5826758" cy="707886"/>
          </a:xfrm>
        </p:grpSpPr>
        <p:sp>
          <p:nvSpPr>
            <p:cNvPr id="11" name="箭头: 五边形 10">
              <a:extLst>
                <a:ext uri="{FF2B5EF4-FFF2-40B4-BE49-F238E27FC236}">
                  <a16:creationId xmlns:a16="http://schemas.microsoft.com/office/drawing/2014/main" id="{7445063E-836B-7B81-A6E1-E8EA5F991958}"/>
                </a:ext>
              </a:extLst>
            </p:cNvPr>
            <p:cNvSpPr/>
            <p:nvPr>
              <p:custDataLst>
                <p:tags r:id="rId8"/>
              </p:custDataLst>
            </p:nvPr>
          </p:nvSpPr>
          <p:spPr>
            <a:xfrm>
              <a:off x="3513812" y="1734276"/>
              <a:ext cx="5516880" cy="707886"/>
            </a:xfrm>
            <a:prstGeom prst="homePlate">
              <a:avLst/>
            </a:prstGeom>
            <a:solidFill>
              <a:srgbClr val="E7E6E6"/>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2" name="矩形: 圆角 11">
              <a:extLst>
                <a:ext uri="{FF2B5EF4-FFF2-40B4-BE49-F238E27FC236}">
                  <a16:creationId xmlns:a16="http://schemas.microsoft.com/office/drawing/2014/main" id="{BAB5B4CB-A67C-54AE-2D53-1D04B7F3E1DF}"/>
                </a:ext>
              </a:extLst>
            </p:cNvPr>
            <p:cNvSpPr/>
            <p:nvPr>
              <p:custDataLst>
                <p:tags r:id="rId9"/>
              </p:custDataLst>
            </p:nvPr>
          </p:nvSpPr>
          <p:spPr>
            <a:xfrm rot="2700000">
              <a:off x="3203933" y="1786805"/>
              <a:ext cx="619760" cy="619759"/>
            </a:xfrm>
            <a:prstGeom prst="roundRect">
              <a:avLst/>
            </a:prstGeom>
            <a:solidFill>
              <a:srgbClr val="004A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3" name="文本框 16">
              <a:extLst>
                <a:ext uri="{FF2B5EF4-FFF2-40B4-BE49-F238E27FC236}">
                  <a16:creationId xmlns:a16="http://schemas.microsoft.com/office/drawing/2014/main" id="{A45A7D9E-8716-D3EE-C566-4DD927D71A53}"/>
                </a:ext>
              </a:extLst>
            </p:cNvPr>
            <p:cNvSpPr txBox="1"/>
            <p:nvPr>
              <p:custDataLst>
                <p:tags r:id="rId10"/>
              </p:custDataLst>
            </p:nvPr>
          </p:nvSpPr>
          <p:spPr>
            <a:xfrm>
              <a:off x="3300839" y="1822447"/>
              <a:ext cx="405880" cy="52197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800" b="1" dirty="0">
                  <a:solidFill>
                    <a:schemeClr val="bg1"/>
                  </a:solidFill>
                  <a:latin typeface="微软雅黑" panose="020B0503020204020204" pitchFamily="34" charset="-122"/>
                  <a:ea typeface="微软雅黑" panose="020B0503020204020204" pitchFamily="34" charset="-122"/>
                </a:rPr>
                <a:t>2</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14" name="矩形 13">
              <a:extLst>
                <a:ext uri="{FF2B5EF4-FFF2-40B4-BE49-F238E27FC236}">
                  <a16:creationId xmlns:a16="http://schemas.microsoft.com/office/drawing/2014/main" id="{61047DE7-CE07-BB0A-F764-0D85760AFABD}"/>
                </a:ext>
              </a:extLst>
            </p:cNvPr>
            <p:cNvSpPr/>
            <p:nvPr>
              <p:custDataLst>
                <p:tags r:id="rId11"/>
              </p:custDataLst>
            </p:nvPr>
          </p:nvSpPr>
          <p:spPr>
            <a:xfrm>
              <a:off x="4034664" y="1845682"/>
              <a:ext cx="4444849" cy="52197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800" b="1" dirty="0">
                  <a:solidFill>
                    <a:srgbClr val="004A8A"/>
                  </a:solidFill>
                  <a:latin typeface="微软雅黑" panose="020B0503020204020204" pitchFamily="34" charset="-122"/>
                  <a:ea typeface="微软雅黑" panose="020B0503020204020204" pitchFamily="34" charset="-122"/>
                </a:rPr>
                <a:t>研究成果</a:t>
              </a:r>
            </a:p>
          </p:txBody>
        </p:sp>
      </p:grpSp>
      <p:grpSp>
        <p:nvGrpSpPr>
          <p:cNvPr id="15" name="组合 14">
            <a:extLst>
              <a:ext uri="{FF2B5EF4-FFF2-40B4-BE49-F238E27FC236}">
                <a16:creationId xmlns:a16="http://schemas.microsoft.com/office/drawing/2014/main" id="{3608D294-4E34-5FE6-5897-3D487DB4BA7B}"/>
              </a:ext>
            </a:extLst>
          </p:cNvPr>
          <p:cNvGrpSpPr/>
          <p:nvPr>
            <p:custDataLst>
              <p:tags r:id="rId3"/>
            </p:custDataLst>
          </p:nvPr>
        </p:nvGrpSpPr>
        <p:grpSpPr>
          <a:xfrm>
            <a:off x="3071496" y="4864355"/>
            <a:ext cx="5826758" cy="707886"/>
            <a:chOff x="3203934" y="1734276"/>
            <a:chExt cx="5826758" cy="707886"/>
          </a:xfrm>
        </p:grpSpPr>
        <p:sp>
          <p:nvSpPr>
            <p:cNvPr id="16" name="箭头: 五边形 15">
              <a:extLst>
                <a:ext uri="{FF2B5EF4-FFF2-40B4-BE49-F238E27FC236}">
                  <a16:creationId xmlns:a16="http://schemas.microsoft.com/office/drawing/2014/main" id="{B2178CA1-ADB6-911E-1F12-7D8BE9094C68}"/>
                </a:ext>
              </a:extLst>
            </p:cNvPr>
            <p:cNvSpPr/>
            <p:nvPr>
              <p:custDataLst>
                <p:tags r:id="rId4"/>
              </p:custDataLst>
            </p:nvPr>
          </p:nvSpPr>
          <p:spPr>
            <a:xfrm>
              <a:off x="3513812" y="1734276"/>
              <a:ext cx="5516880" cy="707886"/>
            </a:xfrm>
            <a:prstGeom prst="homePlate">
              <a:avLst/>
            </a:prstGeom>
            <a:solidFill>
              <a:srgbClr val="E7E6E6"/>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7" name="矩形: 圆角 16">
              <a:extLst>
                <a:ext uri="{FF2B5EF4-FFF2-40B4-BE49-F238E27FC236}">
                  <a16:creationId xmlns:a16="http://schemas.microsoft.com/office/drawing/2014/main" id="{F2E4D711-8884-9D98-E6B0-3655ADA70779}"/>
                </a:ext>
              </a:extLst>
            </p:cNvPr>
            <p:cNvSpPr/>
            <p:nvPr>
              <p:custDataLst>
                <p:tags r:id="rId5"/>
              </p:custDataLst>
            </p:nvPr>
          </p:nvSpPr>
          <p:spPr>
            <a:xfrm rot="2700000">
              <a:off x="3203933" y="1786805"/>
              <a:ext cx="619760" cy="619759"/>
            </a:xfrm>
            <a:prstGeom prst="roundRect">
              <a:avLst/>
            </a:prstGeom>
            <a:solidFill>
              <a:srgbClr val="004A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18" name="文本框 16">
              <a:extLst>
                <a:ext uri="{FF2B5EF4-FFF2-40B4-BE49-F238E27FC236}">
                  <a16:creationId xmlns:a16="http://schemas.microsoft.com/office/drawing/2014/main" id="{750873D1-93F3-20F4-A559-2168A330655E}"/>
                </a:ext>
              </a:extLst>
            </p:cNvPr>
            <p:cNvSpPr txBox="1"/>
            <p:nvPr>
              <p:custDataLst>
                <p:tags r:id="rId6"/>
              </p:custDataLst>
            </p:nvPr>
          </p:nvSpPr>
          <p:spPr>
            <a:xfrm>
              <a:off x="3300839" y="1822447"/>
              <a:ext cx="405880" cy="52197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800" b="1" dirty="0">
                  <a:solidFill>
                    <a:schemeClr val="bg1"/>
                  </a:solidFill>
                  <a:latin typeface="微软雅黑" panose="020B0503020204020204" pitchFamily="34" charset="-122"/>
                  <a:ea typeface="微软雅黑" panose="020B0503020204020204" pitchFamily="34" charset="-122"/>
                </a:rPr>
                <a:t>3</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19" name="矩形 18">
              <a:extLst>
                <a:ext uri="{FF2B5EF4-FFF2-40B4-BE49-F238E27FC236}">
                  <a16:creationId xmlns:a16="http://schemas.microsoft.com/office/drawing/2014/main" id="{549792B9-48A6-8E5D-1D00-9CDE17086154}"/>
                </a:ext>
              </a:extLst>
            </p:cNvPr>
            <p:cNvSpPr/>
            <p:nvPr>
              <p:custDataLst>
                <p:tags r:id="rId7"/>
              </p:custDataLst>
            </p:nvPr>
          </p:nvSpPr>
          <p:spPr>
            <a:xfrm>
              <a:off x="4034664" y="1845682"/>
              <a:ext cx="4444849" cy="52197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800" b="1" dirty="0">
                  <a:solidFill>
                    <a:srgbClr val="004A8A"/>
                  </a:solidFill>
                  <a:latin typeface="微软雅黑" panose="020B0503020204020204" pitchFamily="34" charset="-122"/>
                  <a:ea typeface="微软雅黑" panose="020B0503020204020204" pitchFamily="34" charset="-122"/>
                </a:rPr>
                <a:t>结论和展望</a:t>
              </a:r>
            </a:p>
          </p:txBody>
        </p:sp>
      </p:grpSp>
    </p:spTree>
    <p:extLst>
      <p:ext uri="{BB962C8B-B14F-4D97-AF65-F5344CB8AC3E}">
        <p14:creationId xmlns:p14="http://schemas.microsoft.com/office/powerpoint/2010/main" val="41967511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101EA5-CA33-CF94-EEAF-CB62747B3DE1}"/>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4F6BACB0-4214-5008-29B1-55E2EAC96BF6}"/>
              </a:ext>
            </a:extLst>
          </p:cNvPr>
          <p:cNvSpPr txBox="1"/>
          <p:nvPr/>
        </p:nvSpPr>
        <p:spPr>
          <a:xfrm>
            <a:off x="166815" y="105032"/>
            <a:ext cx="3374642" cy="584775"/>
          </a:xfrm>
          <a:prstGeom prst="rect">
            <a:avLst/>
          </a:prstGeom>
          <a:noFill/>
        </p:spPr>
        <p:txBody>
          <a:bodyPr wrap="none" rtlCol="0">
            <a:spAutoFit/>
          </a:bodyPr>
          <a:lstStyle/>
          <a:p>
            <a:r>
              <a:rPr lang="en-US" altLang="zh-CN" sz="3200" b="1" dirty="0"/>
              <a:t>1.</a:t>
            </a:r>
            <a:r>
              <a:rPr lang="zh-CN" altLang="en-US" sz="3200" b="1" dirty="0"/>
              <a:t>研究背景与意义</a:t>
            </a:r>
          </a:p>
        </p:txBody>
      </p:sp>
      <p:sp>
        <p:nvSpPr>
          <p:cNvPr id="4" name="灯片编号占位符 3">
            <a:extLst>
              <a:ext uri="{FF2B5EF4-FFF2-40B4-BE49-F238E27FC236}">
                <a16:creationId xmlns:a16="http://schemas.microsoft.com/office/drawing/2014/main" id="{1F4B4A47-1B25-F504-14DB-8CCEE8EAB332}"/>
              </a:ext>
            </a:extLst>
          </p:cNvPr>
          <p:cNvSpPr>
            <a:spLocks noGrp="1"/>
          </p:cNvSpPr>
          <p:nvPr>
            <p:ph type="sldNum" sz="quarter" idx="12"/>
          </p:nvPr>
        </p:nvSpPr>
        <p:spPr>
          <a:xfrm>
            <a:off x="11338560" y="6428700"/>
            <a:ext cx="787680" cy="316800"/>
          </a:xfrm>
        </p:spPr>
        <p:txBody>
          <a:bodyPr/>
          <a:lstStyle/>
          <a:p>
            <a:fld id="{49AE70B2-8BF9-45C0-BB95-33D1B9D3A854}" type="slidenum">
              <a:rPr lang="zh-CN" altLang="en-US" smtClean="0"/>
              <a:pPr/>
              <a:t>3</a:t>
            </a:fld>
            <a:endParaRPr lang="zh-CN" altLang="en-US" dirty="0"/>
          </a:p>
        </p:txBody>
      </p:sp>
      <p:pic>
        <p:nvPicPr>
          <p:cNvPr id="5" name="图片 4">
            <a:extLst>
              <a:ext uri="{FF2B5EF4-FFF2-40B4-BE49-F238E27FC236}">
                <a16:creationId xmlns:a16="http://schemas.microsoft.com/office/drawing/2014/main" id="{2C5B3035-8F7C-D936-44C3-B42BDB4CC0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56475" y="3913157"/>
            <a:ext cx="4658127" cy="2765409"/>
          </a:xfrm>
          <a:prstGeom prst="rect">
            <a:avLst/>
          </a:prstGeom>
        </p:spPr>
      </p:pic>
      <p:sp>
        <p:nvSpPr>
          <p:cNvPr id="6" name="椭圆 5">
            <a:extLst>
              <a:ext uri="{FF2B5EF4-FFF2-40B4-BE49-F238E27FC236}">
                <a16:creationId xmlns:a16="http://schemas.microsoft.com/office/drawing/2014/main" id="{CF3D1DD0-D860-F6E3-053F-6C940A086044}"/>
              </a:ext>
            </a:extLst>
          </p:cNvPr>
          <p:cNvSpPr/>
          <p:nvPr/>
        </p:nvSpPr>
        <p:spPr>
          <a:xfrm>
            <a:off x="1103067" y="2087074"/>
            <a:ext cx="772985" cy="772985"/>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500"/>
              </a:spcAft>
              <a:buClrTx/>
              <a:buSzTx/>
              <a:buFontTx/>
              <a:buNone/>
              <a:tabLst/>
              <a:defRPr/>
            </a:pPr>
            <a:r>
              <a:rPr kumimoji="1" lang="en-US" altLang="zh-CN" sz="20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libaba PuHuiTi" pitchFamily="18" charset="-122"/>
              </a:rPr>
              <a:t>01</a:t>
            </a:r>
            <a:endParaRPr kumimoji="1" lang="zh-CN" altLang="en-US" sz="20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libaba PuHuiTi" pitchFamily="18" charset="-122"/>
            </a:endParaRPr>
          </a:p>
        </p:txBody>
      </p:sp>
      <p:sp>
        <p:nvSpPr>
          <p:cNvPr id="7" name="文本框 6">
            <a:extLst>
              <a:ext uri="{FF2B5EF4-FFF2-40B4-BE49-F238E27FC236}">
                <a16:creationId xmlns:a16="http://schemas.microsoft.com/office/drawing/2014/main" id="{8B28D836-D1DF-38A0-AAEE-73F6B29B864E}"/>
              </a:ext>
            </a:extLst>
          </p:cNvPr>
          <p:cNvSpPr txBox="1"/>
          <p:nvPr/>
        </p:nvSpPr>
        <p:spPr>
          <a:xfrm>
            <a:off x="2047491" y="2020220"/>
            <a:ext cx="3944728" cy="1751570"/>
          </a:xfrm>
          <a:prstGeom prst="rect">
            <a:avLst/>
          </a:prstGeom>
          <a:noFill/>
        </p:spPr>
        <p:txBody>
          <a:bodyPr wrap="square" rtlCol="0">
            <a:spAutoFit/>
          </a:bodyPr>
          <a:lstStyle/>
          <a:p>
            <a:pPr marL="0" marR="0" lvl="0" indent="0" defTabSz="914400" rtl="0" eaLnBrk="1" fontAlgn="auto" latinLnBrk="0" hangingPunct="1">
              <a:lnSpc>
                <a:spcPct val="150000"/>
              </a:lnSpc>
              <a:spcBef>
                <a:spcPts val="0"/>
              </a:spcBef>
              <a:buClrTx/>
              <a:buSzTx/>
              <a:buFontTx/>
              <a:buNone/>
              <a:tabLst/>
              <a:defRPr/>
            </a:pPr>
            <a:r>
              <a:rPr kumimoji="1" lang="zh-CN" altLang="en-US" sz="2000" b="1" dirty="0">
                <a:solidFill>
                  <a:schemeClr val="accent1">
                    <a:lumMod val="60000"/>
                    <a:lumOff val="40000"/>
                  </a:schemeClr>
                </a:solidFill>
                <a:latin typeface="微软雅黑" panose="020B0503020204020204" pitchFamily="34" charset="-122"/>
                <a:ea typeface="微软雅黑" panose="020B0503020204020204" pitchFamily="34" charset="-122"/>
                <a:cs typeface="Alibaba PuHuiTi" pitchFamily="18" charset="-122"/>
              </a:rPr>
              <a:t>显著优势</a:t>
            </a:r>
            <a:r>
              <a:rPr kumimoji="1" lang="zh-CN" altLang="en-US" sz="2000" b="1" i="0" u="none" strike="noStrike" kern="1200" cap="none" spc="0" normalizeH="0" baseline="0" noProof="0" dirty="0">
                <a:ln>
                  <a:noFill/>
                </a:ln>
                <a:solidFill>
                  <a:schemeClr val="accent1">
                    <a:lumMod val="60000"/>
                    <a:lumOff val="40000"/>
                  </a:schemeClr>
                </a:solidFill>
                <a:effectLst/>
                <a:uLnTx/>
                <a:uFillTx/>
                <a:latin typeface="微软雅黑" panose="020B0503020204020204" pitchFamily="34" charset="-122"/>
                <a:ea typeface="微软雅黑" panose="020B0503020204020204" pitchFamily="34" charset="-122"/>
                <a:cs typeface="Alibaba PuHuiTi" pitchFamily="18" charset="-122"/>
              </a:rPr>
              <a:t>：</a:t>
            </a:r>
            <a:endParaRPr kumimoji="1" lang="en-US" altLang="zh-CN" sz="2000" b="1" i="0" u="none" strike="noStrike" kern="1200" cap="none" spc="0" normalizeH="0" baseline="0" noProof="0" dirty="0">
              <a:ln>
                <a:noFill/>
              </a:ln>
              <a:solidFill>
                <a:schemeClr val="accent1">
                  <a:lumMod val="60000"/>
                  <a:lumOff val="40000"/>
                </a:schemeClr>
              </a:solidFill>
              <a:effectLst/>
              <a:uLnTx/>
              <a:uFillTx/>
              <a:latin typeface="微软雅黑" panose="020B0503020204020204" pitchFamily="34" charset="-122"/>
              <a:ea typeface="微软雅黑" panose="020B0503020204020204" pitchFamily="34" charset="-122"/>
              <a:cs typeface="Alibaba PuHuiTi" pitchFamily="18" charset="-122"/>
            </a:endParaRPr>
          </a:p>
          <a:p>
            <a:pPr marL="0" marR="0" lvl="0" indent="0" algn="just" defTabSz="914400" rtl="0" eaLnBrk="1" fontAlgn="auto" latinLnBrk="0" hangingPunct="1">
              <a:lnSpc>
                <a:spcPct val="150000"/>
              </a:lnSpc>
              <a:spcBef>
                <a:spcPts val="0"/>
              </a:spcBef>
              <a:buClrTx/>
              <a:buSzTx/>
              <a:buFontTx/>
              <a:buNone/>
              <a:tabLst/>
              <a:defRPr/>
            </a:pPr>
            <a:r>
              <a:rPr kumimoji="1" lang="zh-CN" altLang="en-US" dirty="0">
                <a:solidFill>
                  <a:schemeClr val="tx1">
                    <a:lumMod val="85000"/>
                    <a:lumOff val="15000"/>
                  </a:schemeClr>
                </a:solidFill>
                <a:latin typeface="微软雅黑" panose="020B0503020204020204" pitchFamily="34" charset="-122"/>
                <a:ea typeface="微软雅黑" panose="020B0503020204020204" pitchFamily="34" charset="-122"/>
              </a:rPr>
              <a:t>热效率高，污染物排放低</a:t>
            </a:r>
            <a:endParaRPr kumimoji="1" lang="en-US" altLang="zh-CN" dirty="0">
              <a:solidFill>
                <a:schemeClr val="tx1">
                  <a:lumMod val="85000"/>
                  <a:lumOff val="15000"/>
                </a:schemeClr>
              </a:solidFill>
              <a:latin typeface="微软雅黑" panose="020B0503020204020204" pitchFamily="34" charset="-122"/>
              <a:ea typeface="微软雅黑" panose="020B0503020204020204" pitchFamily="34" charset="-122"/>
            </a:endParaRPr>
          </a:p>
          <a:p>
            <a:pPr marL="0" marR="0" lvl="0" indent="0" algn="just" defTabSz="914400" rtl="0" eaLnBrk="1" fontAlgn="auto" latinLnBrk="0" hangingPunct="1">
              <a:lnSpc>
                <a:spcPct val="150000"/>
              </a:lnSpc>
              <a:spcBef>
                <a:spcPts val="0"/>
              </a:spcBef>
              <a:buClrTx/>
              <a:buSzTx/>
              <a:buFontTx/>
              <a:buNone/>
              <a:tabLst/>
              <a:defRPr/>
            </a:pPr>
            <a:r>
              <a:rPr kumimoji="1" lang="zh-CN" altLang="en-US" dirty="0">
                <a:solidFill>
                  <a:schemeClr val="tx1">
                    <a:lumMod val="85000"/>
                    <a:lumOff val="15000"/>
                  </a:schemeClr>
                </a:solidFill>
                <a:latin typeface="微软雅黑" panose="020B0503020204020204" pitchFamily="34" charset="-122"/>
                <a:ea typeface="微软雅黑" panose="020B0503020204020204" pitchFamily="34" charset="-122"/>
              </a:rPr>
              <a:t>响应速度快，适用于调峰调频</a:t>
            </a:r>
            <a:endParaRPr kumimoji="1" lang="en-US" altLang="zh-CN" dirty="0">
              <a:solidFill>
                <a:schemeClr val="tx1">
                  <a:lumMod val="85000"/>
                  <a:lumOff val="15000"/>
                </a:schemeClr>
              </a:solidFill>
              <a:latin typeface="微软雅黑" panose="020B0503020204020204" pitchFamily="34" charset="-122"/>
              <a:ea typeface="微软雅黑" panose="020B0503020204020204" pitchFamily="34" charset="-122"/>
            </a:endParaRPr>
          </a:p>
          <a:p>
            <a:pPr marL="0" marR="0" lvl="0" indent="0" algn="just" defTabSz="914400" rtl="0" eaLnBrk="1" fontAlgn="auto" latinLnBrk="0" hangingPunct="1">
              <a:lnSpc>
                <a:spcPct val="150000"/>
              </a:lnSpc>
              <a:spcBef>
                <a:spcPts val="0"/>
              </a:spcBef>
              <a:buClrTx/>
              <a:buSzTx/>
              <a:buFontTx/>
              <a:buNone/>
              <a:tabLst/>
              <a:defRPr/>
            </a:pPr>
            <a:r>
              <a:rPr kumimoji="1" lang="zh-CN" altLang="en-US" dirty="0">
                <a:solidFill>
                  <a:schemeClr val="tx1">
                    <a:lumMod val="85000"/>
                    <a:lumOff val="15000"/>
                  </a:schemeClr>
                </a:solidFill>
                <a:latin typeface="微软雅黑" panose="020B0503020204020204" pitchFamily="34" charset="-122"/>
                <a:ea typeface="微软雅黑" panose="020B0503020204020204" pitchFamily="34" charset="-122"/>
              </a:rPr>
              <a:t>将成为未来能源系统重要组成部分</a:t>
            </a:r>
            <a:endParaRPr kumimoji="1" lang="en-US" altLang="zh-CN"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8" name="椭圆 7">
            <a:extLst>
              <a:ext uri="{FF2B5EF4-FFF2-40B4-BE49-F238E27FC236}">
                <a16:creationId xmlns:a16="http://schemas.microsoft.com/office/drawing/2014/main" id="{5B740167-C48A-0D26-BF4D-D3AE51B61AB2}"/>
              </a:ext>
            </a:extLst>
          </p:cNvPr>
          <p:cNvSpPr/>
          <p:nvPr/>
        </p:nvSpPr>
        <p:spPr>
          <a:xfrm>
            <a:off x="5612051" y="2087074"/>
            <a:ext cx="772985" cy="772985"/>
          </a:xfrm>
          <a:prstGeom prst="ellipse">
            <a:avLst/>
          </a:prstGeom>
          <a:solidFill>
            <a:srgbClr val="68A4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500"/>
              </a:spcAft>
              <a:buClrTx/>
              <a:buSzTx/>
              <a:buFontTx/>
              <a:buNone/>
              <a:tabLst/>
              <a:defRPr/>
            </a:pPr>
            <a:r>
              <a:rPr kumimoji="1" lang="en-US" altLang="zh-CN" sz="20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libaba PuHuiTi" pitchFamily="18" charset="-122"/>
              </a:rPr>
              <a:t>02</a:t>
            </a:r>
            <a:endParaRPr kumimoji="1" lang="zh-CN" altLang="en-US" sz="20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libaba PuHuiTi" pitchFamily="18" charset="-122"/>
            </a:endParaRPr>
          </a:p>
        </p:txBody>
      </p:sp>
      <p:sp>
        <p:nvSpPr>
          <p:cNvPr id="9" name="文本框 8">
            <a:extLst>
              <a:ext uri="{FF2B5EF4-FFF2-40B4-BE49-F238E27FC236}">
                <a16:creationId xmlns:a16="http://schemas.microsoft.com/office/drawing/2014/main" id="{844A900A-72C9-DFF6-6064-968B4A1A84D4}"/>
              </a:ext>
            </a:extLst>
          </p:cNvPr>
          <p:cNvSpPr txBox="1"/>
          <p:nvPr/>
        </p:nvSpPr>
        <p:spPr>
          <a:xfrm>
            <a:off x="6556475" y="2020220"/>
            <a:ext cx="5035450" cy="1751570"/>
          </a:xfrm>
          <a:prstGeom prst="rect">
            <a:avLst/>
          </a:prstGeom>
          <a:noFill/>
        </p:spPr>
        <p:txBody>
          <a:bodyPr wrap="square" rtlCol="0">
            <a:spAutoFit/>
          </a:bodyPr>
          <a:lstStyle/>
          <a:p>
            <a:pPr marL="0" marR="0" lvl="0" indent="0" defTabSz="914400" rtl="0" eaLnBrk="1" fontAlgn="auto" latinLnBrk="0" hangingPunct="1">
              <a:lnSpc>
                <a:spcPct val="150000"/>
              </a:lnSpc>
              <a:spcBef>
                <a:spcPts val="0"/>
              </a:spcBef>
              <a:buClrTx/>
              <a:buSzTx/>
              <a:buFontTx/>
              <a:buNone/>
              <a:tabLst/>
              <a:defRPr/>
            </a:pPr>
            <a:r>
              <a:rPr kumimoji="1" lang="zh-CN" altLang="en-US" sz="2000" b="1" i="0" u="none" strike="noStrike" kern="1200" cap="none" spc="0" normalizeH="0" baseline="0" noProof="0" dirty="0">
                <a:ln>
                  <a:noFill/>
                </a:ln>
                <a:solidFill>
                  <a:srgbClr val="68A4C6"/>
                </a:solidFill>
                <a:effectLst/>
                <a:uLnTx/>
                <a:uFillTx/>
                <a:latin typeface="微软雅黑" panose="020B0503020204020204" pitchFamily="34" charset="-122"/>
                <a:ea typeface="微软雅黑" panose="020B0503020204020204" pitchFamily="34" charset="-122"/>
                <a:cs typeface="Alibaba PuHuiTi" pitchFamily="18" charset="-122"/>
              </a:rPr>
              <a:t>面临挑战：</a:t>
            </a:r>
            <a:endParaRPr kumimoji="1" lang="en-US" altLang="zh-CN" sz="2000" b="1" i="0" u="none" strike="noStrike" kern="1200" cap="none" spc="0" normalizeH="0" baseline="0" noProof="0" dirty="0">
              <a:ln>
                <a:noFill/>
              </a:ln>
              <a:solidFill>
                <a:srgbClr val="68A4C6"/>
              </a:solidFill>
              <a:effectLst/>
              <a:uLnTx/>
              <a:uFillTx/>
              <a:latin typeface="微软雅黑" panose="020B0503020204020204" pitchFamily="34" charset="-122"/>
              <a:ea typeface="微软雅黑" panose="020B0503020204020204" pitchFamily="34" charset="-122"/>
              <a:cs typeface="Alibaba PuHuiTi" pitchFamily="18" charset="-122"/>
            </a:endParaRPr>
          </a:p>
          <a:p>
            <a:pPr marL="0" marR="0" lvl="0" indent="0" defTabSz="914400" rtl="0" eaLnBrk="1" fontAlgn="auto" latinLnBrk="0" hangingPunct="1">
              <a:lnSpc>
                <a:spcPct val="150000"/>
              </a:lnSpc>
              <a:spcBef>
                <a:spcPts val="0"/>
              </a:spcBef>
              <a:buClrTx/>
              <a:buSzTx/>
              <a:buFontTx/>
              <a:buNone/>
              <a:tabLst/>
              <a:defRPr/>
            </a:pPr>
            <a:r>
              <a:rPr kumimoji="1" lang="zh-CN" altLang="en-US" dirty="0">
                <a:latin typeface="微软雅黑" panose="020B0503020204020204" pitchFamily="34" charset="-122"/>
                <a:ea typeface="微软雅黑" panose="020B0503020204020204" pitchFamily="34" charset="-122"/>
                <a:cs typeface="Alibaba PuHuiTi" pitchFamily="18" charset="-122"/>
              </a:rPr>
              <a:t>运行工况偏离设计工况</a:t>
            </a:r>
            <a:endParaRPr kumimoji="1" lang="en-US" altLang="zh-CN" dirty="0">
              <a:latin typeface="微软雅黑" panose="020B0503020204020204" pitchFamily="34" charset="-122"/>
              <a:ea typeface="微软雅黑" panose="020B0503020204020204" pitchFamily="34" charset="-122"/>
              <a:cs typeface="Alibaba PuHuiTi" pitchFamily="18" charset="-122"/>
            </a:endParaRPr>
          </a:p>
          <a:p>
            <a:pPr marL="0" marR="0" lvl="0" indent="0" defTabSz="914400" rtl="0" eaLnBrk="1" fontAlgn="auto" latinLnBrk="0" hangingPunct="1">
              <a:lnSpc>
                <a:spcPct val="150000"/>
              </a:lnSpc>
              <a:spcBef>
                <a:spcPts val="0"/>
              </a:spcBef>
              <a:buClrTx/>
              <a:buSzTx/>
              <a:buFontTx/>
              <a:buNone/>
              <a:tabLst/>
              <a:defRPr/>
            </a:pPr>
            <a:r>
              <a:rPr kumimoji="1" lang="zh-CN" altLang="en-US"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Alibaba PuHuiTi" pitchFamily="18" charset="-122"/>
              </a:rPr>
              <a:t>部件在长时间运行中发生退化</a:t>
            </a:r>
            <a:endParaRPr kumimoji="1" lang="en-US" altLang="zh-CN"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Alibaba PuHuiTi" pitchFamily="18" charset="-122"/>
            </a:endParaRPr>
          </a:p>
          <a:p>
            <a:pPr marL="0" marR="0" lvl="0" indent="0" defTabSz="914400" rtl="0" eaLnBrk="1" fontAlgn="auto" latinLnBrk="0" hangingPunct="1">
              <a:lnSpc>
                <a:spcPct val="150000"/>
              </a:lnSpc>
              <a:spcBef>
                <a:spcPts val="0"/>
              </a:spcBef>
              <a:buClrTx/>
              <a:buSzTx/>
              <a:buFontTx/>
              <a:buNone/>
              <a:tabLst/>
              <a:defRPr/>
            </a:pPr>
            <a:r>
              <a:rPr kumimoji="1" lang="zh-CN" altLang="en-US" dirty="0">
                <a:latin typeface="微软雅黑" panose="020B0503020204020204" pitchFamily="34" charset="-122"/>
                <a:ea typeface="微软雅黑" panose="020B0503020204020204" pitchFamily="34" charset="-122"/>
                <a:cs typeface="Alibaba PuHuiTi" pitchFamily="18" charset="-122"/>
              </a:rPr>
              <a:t>机组性能评估是认识和改进机组性能的首要任务</a:t>
            </a:r>
            <a:endParaRPr kumimoji="1" lang="en-US" altLang="zh-CN"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Alibaba PuHuiTi" pitchFamily="18" charset="-122"/>
            </a:endParaRPr>
          </a:p>
        </p:txBody>
      </p:sp>
      <p:pic>
        <p:nvPicPr>
          <p:cNvPr id="3" name="图片 2">
            <a:extLst>
              <a:ext uri="{FF2B5EF4-FFF2-40B4-BE49-F238E27FC236}">
                <a16:creationId xmlns:a16="http://schemas.microsoft.com/office/drawing/2014/main" id="{5E3644C5-FEBB-DCB6-1EA3-724A00F004ED}"/>
              </a:ext>
            </a:extLst>
          </p:cNvPr>
          <p:cNvPicPr>
            <a:picLocks noChangeAspect="1"/>
          </p:cNvPicPr>
          <p:nvPr/>
        </p:nvPicPr>
        <p:blipFill>
          <a:blip r:embed="rId4"/>
          <a:stretch>
            <a:fillRect/>
          </a:stretch>
        </p:blipFill>
        <p:spPr>
          <a:xfrm>
            <a:off x="1103067" y="3801790"/>
            <a:ext cx="4097712" cy="2876776"/>
          </a:xfrm>
          <a:prstGeom prst="rect">
            <a:avLst/>
          </a:prstGeom>
        </p:spPr>
      </p:pic>
      <p:sp>
        <p:nvSpPr>
          <p:cNvPr id="10" name="文本框 9">
            <a:extLst>
              <a:ext uri="{FF2B5EF4-FFF2-40B4-BE49-F238E27FC236}">
                <a16:creationId xmlns:a16="http://schemas.microsoft.com/office/drawing/2014/main" id="{1040A5A8-2357-77E1-A926-4B73AF90D2C0}"/>
              </a:ext>
            </a:extLst>
          </p:cNvPr>
          <p:cNvSpPr txBox="1"/>
          <p:nvPr/>
        </p:nvSpPr>
        <p:spPr>
          <a:xfrm>
            <a:off x="783771" y="1066890"/>
            <a:ext cx="10554789" cy="923330"/>
          </a:xfrm>
          <a:prstGeom prst="rect">
            <a:avLst/>
          </a:prstGeom>
          <a:noFill/>
        </p:spPr>
        <p:txBody>
          <a:bodyPr wrap="square" rtlCol="0">
            <a:spAutoFit/>
          </a:bodyPr>
          <a:lstStyle/>
          <a:p>
            <a:r>
              <a:rPr lang="zh-CN" altLang="en-US" b="1" dirty="0"/>
              <a:t>分析对象：</a:t>
            </a:r>
            <a:r>
              <a:rPr lang="zh-CN" altLang="en-US" dirty="0"/>
              <a:t>北京某二拖一联合循环热电联产机组，由两台西门子</a:t>
            </a:r>
            <a:r>
              <a:rPr lang="zh-CN" altLang="zh-CN" b="1" dirty="0"/>
              <a:t>SGT5-4000F</a:t>
            </a:r>
            <a:r>
              <a:rPr lang="zh-CN" altLang="zh-CN" dirty="0"/>
              <a:t> 型 F 级重型燃气轮机</a:t>
            </a:r>
            <a:r>
              <a:rPr lang="zh-CN" altLang="en-US" dirty="0"/>
              <a:t>和上气余热锅炉和汽轮机组成。可二拖一或者一拖一运行，可背压或纯凝运行。数据为</a:t>
            </a:r>
            <a:r>
              <a:rPr lang="en-US" altLang="zh-CN" dirty="0"/>
              <a:t>2025 </a:t>
            </a:r>
            <a:r>
              <a:rPr lang="zh-CN" altLang="en-US" dirty="0"/>
              <a:t>年 </a:t>
            </a:r>
            <a:r>
              <a:rPr lang="en-US" altLang="zh-CN" dirty="0"/>
              <a:t>4 </a:t>
            </a:r>
            <a:r>
              <a:rPr lang="zh-CN" altLang="en-US" dirty="0"/>
              <a:t>月至 </a:t>
            </a:r>
            <a:r>
              <a:rPr lang="en-US" altLang="zh-CN" dirty="0"/>
              <a:t>2025 </a:t>
            </a:r>
            <a:r>
              <a:rPr lang="zh-CN" altLang="en-US" dirty="0"/>
              <a:t>年 </a:t>
            </a:r>
            <a:r>
              <a:rPr lang="en-US" altLang="zh-CN" dirty="0"/>
              <a:t>12 </a:t>
            </a:r>
            <a:r>
              <a:rPr lang="zh-CN" altLang="en-US" dirty="0"/>
              <a:t>月真实运行数据。</a:t>
            </a:r>
            <a:endParaRPr lang="en-US" altLang="zh-CN" dirty="0"/>
          </a:p>
        </p:txBody>
      </p:sp>
    </p:spTree>
    <p:extLst>
      <p:ext uri="{BB962C8B-B14F-4D97-AF65-F5344CB8AC3E}">
        <p14:creationId xmlns:p14="http://schemas.microsoft.com/office/powerpoint/2010/main" val="26915646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490B2-9AEB-96D8-8080-883CAC80AD2D}"/>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D737BDD0-28F9-543D-3F03-029480DB969B}"/>
              </a:ext>
            </a:extLst>
          </p:cNvPr>
          <p:cNvSpPr txBox="1"/>
          <p:nvPr/>
        </p:nvSpPr>
        <p:spPr>
          <a:xfrm>
            <a:off x="166815" y="105032"/>
            <a:ext cx="4400564" cy="584775"/>
          </a:xfrm>
          <a:prstGeom prst="rect">
            <a:avLst/>
          </a:prstGeom>
          <a:noFill/>
        </p:spPr>
        <p:txBody>
          <a:bodyPr wrap="none" rtlCol="0">
            <a:spAutoFit/>
          </a:bodyPr>
          <a:lstStyle/>
          <a:p>
            <a:r>
              <a:rPr lang="en-US" altLang="zh-CN" sz="3200" b="1" dirty="0"/>
              <a:t>2.</a:t>
            </a:r>
            <a:r>
              <a:rPr lang="zh-CN" altLang="en-US" sz="3200" b="1" dirty="0"/>
              <a:t>研究成果：</a:t>
            </a:r>
            <a:r>
              <a:rPr lang="zh-CN" altLang="en-US" sz="2400" b="1" dirty="0"/>
              <a:t>工质建模方法</a:t>
            </a:r>
            <a:endParaRPr lang="zh-CN" altLang="en-US" sz="3200" b="1" dirty="0"/>
          </a:p>
        </p:txBody>
      </p:sp>
      <p:sp>
        <p:nvSpPr>
          <p:cNvPr id="4" name="灯片编号占位符 3">
            <a:extLst>
              <a:ext uri="{FF2B5EF4-FFF2-40B4-BE49-F238E27FC236}">
                <a16:creationId xmlns:a16="http://schemas.microsoft.com/office/drawing/2014/main" id="{58FB015D-5490-9348-2B98-47C2C89E7ED6}"/>
              </a:ext>
            </a:extLst>
          </p:cNvPr>
          <p:cNvSpPr>
            <a:spLocks noGrp="1"/>
          </p:cNvSpPr>
          <p:nvPr>
            <p:ph type="sldNum" sz="quarter" idx="12"/>
          </p:nvPr>
        </p:nvSpPr>
        <p:spPr>
          <a:xfrm>
            <a:off x="11338560" y="6428700"/>
            <a:ext cx="787680" cy="316800"/>
          </a:xfrm>
        </p:spPr>
        <p:txBody>
          <a:bodyPr/>
          <a:lstStyle/>
          <a:p>
            <a:fld id="{49AE70B2-8BF9-45C0-BB95-33D1B9D3A854}" type="slidenum">
              <a:rPr lang="zh-CN" altLang="en-US" smtClean="0"/>
              <a:pPr/>
              <a:t>4</a:t>
            </a:fld>
            <a:endParaRPr lang="zh-CN" altLang="en-US" dirty="0"/>
          </a:p>
        </p:txBody>
      </p:sp>
      <p:grpSp>
        <p:nvGrpSpPr>
          <p:cNvPr id="59" name="组合 58">
            <a:extLst>
              <a:ext uri="{FF2B5EF4-FFF2-40B4-BE49-F238E27FC236}">
                <a16:creationId xmlns:a16="http://schemas.microsoft.com/office/drawing/2014/main" id="{681BAFBF-22E8-1E93-3526-5D49DE16F83B}"/>
              </a:ext>
            </a:extLst>
          </p:cNvPr>
          <p:cNvGrpSpPr/>
          <p:nvPr/>
        </p:nvGrpSpPr>
        <p:grpSpPr>
          <a:xfrm>
            <a:off x="10439548" y="2008424"/>
            <a:ext cx="1521820" cy="1416593"/>
            <a:chOff x="3543594" y="1559868"/>
            <a:chExt cx="1252770" cy="1416593"/>
          </a:xfrm>
        </p:grpSpPr>
        <p:sp>
          <p:nvSpPr>
            <p:cNvPr id="5" name="矩形 4">
              <a:extLst>
                <a:ext uri="{FF2B5EF4-FFF2-40B4-BE49-F238E27FC236}">
                  <a16:creationId xmlns:a16="http://schemas.microsoft.com/office/drawing/2014/main" id="{F6C5D993-E4A7-1497-28DF-0899186A07A4}"/>
                </a:ext>
              </a:extLst>
            </p:cNvPr>
            <p:cNvSpPr/>
            <p:nvPr/>
          </p:nvSpPr>
          <p:spPr>
            <a:xfrm>
              <a:off x="3543594" y="1559868"/>
              <a:ext cx="1252770" cy="1416593"/>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F8EA31FF-D969-5EB9-6E25-AC54607E49DD}"/>
                </a:ext>
              </a:extLst>
            </p:cNvPr>
            <p:cNvSpPr txBox="1"/>
            <p:nvPr/>
          </p:nvSpPr>
          <p:spPr>
            <a:xfrm>
              <a:off x="3621339" y="1976432"/>
              <a:ext cx="1097280" cy="646331"/>
            </a:xfrm>
            <a:prstGeom prst="rect">
              <a:avLst/>
            </a:prstGeom>
            <a:noFill/>
          </p:spPr>
          <p:txBody>
            <a:bodyPr wrap="square" rtlCol="0">
              <a:spAutoFit/>
            </a:bodyPr>
            <a:lstStyle/>
            <a:p>
              <a:pPr algn="ctr"/>
              <a:r>
                <a:rPr lang="zh-CN" altLang="en-US" b="1" dirty="0">
                  <a:solidFill>
                    <a:srgbClr val="FF0000"/>
                  </a:solidFill>
                </a:rPr>
                <a:t>水侧状态</a:t>
              </a:r>
              <a:endParaRPr lang="en-US" altLang="zh-CN" b="1" dirty="0">
                <a:solidFill>
                  <a:srgbClr val="FF0000"/>
                </a:solidFill>
              </a:endParaRPr>
            </a:p>
            <a:p>
              <a:pPr algn="ctr"/>
              <a:r>
                <a:rPr lang="en-US" altLang="zh-CN" dirty="0"/>
                <a:t>IAPWS-IF97</a:t>
              </a:r>
              <a:endParaRPr lang="zh-CN" altLang="en-US" dirty="0"/>
            </a:p>
          </p:txBody>
        </p:sp>
      </p:grpSp>
      <p:grpSp>
        <p:nvGrpSpPr>
          <p:cNvPr id="58" name="组合 57">
            <a:extLst>
              <a:ext uri="{FF2B5EF4-FFF2-40B4-BE49-F238E27FC236}">
                <a16:creationId xmlns:a16="http://schemas.microsoft.com/office/drawing/2014/main" id="{E0C7CC36-3DCC-2AE7-03E0-A47FDE083ABD}"/>
              </a:ext>
            </a:extLst>
          </p:cNvPr>
          <p:cNvGrpSpPr/>
          <p:nvPr/>
        </p:nvGrpSpPr>
        <p:grpSpPr>
          <a:xfrm>
            <a:off x="297415" y="3039889"/>
            <a:ext cx="1252770" cy="1416593"/>
            <a:chOff x="1598774" y="1559869"/>
            <a:chExt cx="1252770" cy="1416593"/>
          </a:xfrm>
        </p:grpSpPr>
        <p:sp>
          <p:nvSpPr>
            <p:cNvPr id="8" name="矩形 7">
              <a:extLst>
                <a:ext uri="{FF2B5EF4-FFF2-40B4-BE49-F238E27FC236}">
                  <a16:creationId xmlns:a16="http://schemas.microsoft.com/office/drawing/2014/main" id="{9F18543E-B0EE-1CD6-60A6-F480472653B2}"/>
                </a:ext>
              </a:extLst>
            </p:cNvPr>
            <p:cNvSpPr/>
            <p:nvPr/>
          </p:nvSpPr>
          <p:spPr>
            <a:xfrm>
              <a:off x="1598774" y="1559869"/>
              <a:ext cx="1252770" cy="1416593"/>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7AA4FA48-E78D-3FAB-1A88-E6CBB7D33794}"/>
                </a:ext>
              </a:extLst>
            </p:cNvPr>
            <p:cNvSpPr txBox="1"/>
            <p:nvPr/>
          </p:nvSpPr>
          <p:spPr>
            <a:xfrm>
              <a:off x="1676519" y="1944997"/>
              <a:ext cx="1097280" cy="646331"/>
            </a:xfrm>
            <a:prstGeom prst="rect">
              <a:avLst/>
            </a:prstGeom>
            <a:noFill/>
          </p:spPr>
          <p:txBody>
            <a:bodyPr wrap="square" rtlCol="0">
              <a:spAutoFit/>
            </a:bodyPr>
            <a:lstStyle/>
            <a:p>
              <a:pPr algn="ctr"/>
              <a:r>
                <a:rPr lang="zh-CN" altLang="en-US" b="1" dirty="0">
                  <a:solidFill>
                    <a:srgbClr val="FF0000"/>
                  </a:solidFill>
                </a:rPr>
                <a:t>气侧状态</a:t>
              </a:r>
              <a:endParaRPr lang="en-US" altLang="zh-CN" b="1" dirty="0">
                <a:solidFill>
                  <a:srgbClr val="FF0000"/>
                </a:solidFill>
              </a:endParaRPr>
            </a:p>
            <a:p>
              <a:pPr algn="ctr"/>
              <a:r>
                <a:rPr lang="en-US" altLang="zh-CN" b="1" dirty="0" err="1"/>
                <a:t>CoolProp</a:t>
              </a:r>
              <a:endParaRPr lang="en-US" altLang="zh-CN" b="1" dirty="0"/>
            </a:p>
          </p:txBody>
        </p:sp>
      </p:grpSp>
      <p:grpSp>
        <p:nvGrpSpPr>
          <p:cNvPr id="55" name="组合 54">
            <a:extLst>
              <a:ext uri="{FF2B5EF4-FFF2-40B4-BE49-F238E27FC236}">
                <a16:creationId xmlns:a16="http://schemas.microsoft.com/office/drawing/2014/main" id="{A672BA4C-E728-2196-80F3-398E1A3E0131}"/>
              </a:ext>
            </a:extLst>
          </p:cNvPr>
          <p:cNvGrpSpPr/>
          <p:nvPr/>
        </p:nvGrpSpPr>
        <p:grpSpPr>
          <a:xfrm>
            <a:off x="1784991" y="3829200"/>
            <a:ext cx="1441388" cy="2599500"/>
            <a:chOff x="329440" y="3914219"/>
            <a:chExt cx="1441388" cy="2599500"/>
          </a:xfrm>
        </p:grpSpPr>
        <p:grpSp>
          <p:nvGrpSpPr>
            <p:cNvPr id="20" name="组合 19">
              <a:extLst>
                <a:ext uri="{FF2B5EF4-FFF2-40B4-BE49-F238E27FC236}">
                  <a16:creationId xmlns:a16="http://schemas.microsoft.com/office/drawing/2014/main" id="{97A5F7C3-AA37-BDF5-C854-4DF214E3497E}"/>
                </a:ext>
              </a:extLst>
            </p:cNvPr>
            <p:cNvGrpSpPr/>
            <p:nvPr/>
          </p:nvGrpSpPr>
          <p:grpSpPr>
            <a:xfrm>
              <a:off x="423749" y="5263118"/>
              <a:ext cx="1252770" cy="534850"/>
              <a:chOff x="1978229" y="2012407"/>
              <a:chExt cx="1252770" cy="534850"/>
            </a:xfrm>
          </p:grpSpPr>
          <p:sp>
            <p:nvSpPr>
              <p:cNvPr id="6" name="矩形 5">
                <a:extLst>
                  <a:ext uri="{FF2B5EF4-FFF2-40B4-BE49-F238E27FC236}">
                    <a16:creationId xmlns:a16="http://schemas.microsoft.com/office/drawing/2014/main" id="{4876F0AF-FBD5-2076-6136-B608D85A6257}"/>
                  </a:ext>
                </a:extLst>
              </p:cNvPr>
              <p:cNvSpPr/>
              <p:nvPr/>
            </p:nvSpPr>
            <p:spPr>
              <a:xfrm>
                <a:off x="1978229" y="2012407"/>
                <a:ext cx="1252770" cy="53485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89C18885-A203-2A58-612F-B153021DF312}"/>
                  </a:ext>
                </a:extLst>
              </p:cNvPr>
              <p:cNvSpPr txBox="1"/>
              <p:nvPr/>
            </p:nvSpPr>
            <p:spPr>
              <a:xfrm>
                <a:off x="2055974" y="2095166"/>
                <a:ext cx="1097280" cy="369332"/>
              </a:xfrm>
              <a:prstGeom prst="rect">
                <a:avLst/>
              </a:prstGeom>
              <a:noFill/>
            </p:spPr>
            <p:txBody>
              <a:bodyPr wrap="square" rtlCol="0">
                <a:spAutoFit/>
              </a:bodyPr>
              <a:lstStyle/>
              <a:p>
                <a:pPr algn="ctr"/>
                <a:r>
                  <a:rPr lang="zh-CN" altLang="en-US" b="1" dirty="0"/>
                  <a:t>相对湿度</a:t>
                </a:r>
                <a:endParaRPr lang="en-US" altLang="zh-CN" b="1" dirty="0"/>
              </a:p>
            </p:txBody>
          </p:sp>
        </p:grpSp>
        <p:grpSp>
          <p:nvGrpSpPr>
            <p:cNvPr id="25" name="组合 24">
              <a:extLst>
                <a:ext uri="{FF2B5EF4-FFF2-40B4-BE49-F238E27FC236}">
                  <a16:creationId xmlns:a16="http://schemas.microsoft.com/office/drawing/2014/main" id="{AD8A84F9-ADBE-D641-5C40-215CA75E12EE}"/>
                </a:ext>
              </a:extLst>
            </p:cNvPr>
            <p:cNvGrpSpPr/>
            <p:nvPr/>
          </p:nvGrpSpPr>
          <p:grpSpPr>
            <a:xfrm>
              <a:off x="423749" y="4642146"/>
              <a:ext cx="1252770" cy="534850"/>
              <a:chOff x="1978229" y="2012407"/>
              <a:chExt cx="1252770" cy="534850"/>
            </a:xfrm>
          </p:grpSpPr>
          <p:sp>
            <p:nvSpPr>
              <p:cNvPr id="27" name="矩形 26">
                <a:extLst>
                  <a:ext uri="{FF2B5EF4-FFF2-40B4-BE49-F238E27FC236}">
                    <a16:creationId xmlns:a16="http://schemas.microsoft.com/office/drawing/2014/main" id="{CE02BD85-8FD8-C53B-0C13-E1FFCCC78092}"/>
                  </a:ext>
                </a:extLst>
              </p:cNvPr>
              <p:cNvSpPr/>
              <p:nvPr/>
            </p:nvSpPr>
            <p:spPr>
              <a:xfrm>
                <a:off x="1978229" y="2012407"/>
                <a:ext cx="1252770" cy="53485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47" name="文本框 46">
                <a:extLst>
                  <a:ext uri="{FF2B5EF4-FFF2-40B4-BE49-F238E27FC236}">
                    <a16:creationId xmlns:a16="http://schemas.microsoft.com/office/drawing/2014/main" id="{3C361237-72ED-B1B8-1C40-05D33BC2B098}"/>
                  </a:ext>
                </a:extLst>
              </p:cNvPr>
              <p:cNvSpPr txBox="1"/>
              <p:nvPr/>
            </p:nvSpPr>
            <p:spPr>
              <a:xfrm>
                <a:off x="2055974" y="2095166"/>
                <a:ext cx="1097280" cy="369332"/>
              </a:xfrm>
              <a:prstGeom prst="rect">
                <a:avLst/>
              </a:prstGeom>
              <a:noFill/>
            </p:spPr>
            <p:txBody>
              <a:bodyPr wrap="square" rtlCol="0">
                <a:spAutoFit/>
              </a:bodyPr>
              <a:lstStyle/>
              <a:p>
                <a:pPr algn="ctr"/>
                <a:r>
                  <a:rPr lang="zh-CN" altLang="en-US" b="1" dirty="0"/>
                  <a:t>温度</a:t>
                </a:r>
                <a:endParaRPr lang="en-US" altLang="zh-CN" b="1" dirty="0"/>
              </a:p>
            </p:txBody>
          </p:sp>
        </p:grpSp>
        <p:grpSp>
          <p:nvGrpSpPr>
            <p:cNvPr id="48" name="组合 47">
              <a:extLst>
                <a:ext uri="{FF2B5EF4-FFF2-40B4-BE49-F238E27FC236}">
                  <a16:creationId xmlns:a16="http://schemas.microsoft.com/office/drawing/2014/main" id="{2DC1560C-8F81-B925-66DB-EF1FDAE05873}"/>
                </a:ext>
              </a:extLst>
            </p:cNvPr>
            <p:cNvGrpSpPr/>
            <p:nvPr/>
          </p:nvGrpSpPr>
          <p:grpSpPr>
            <a:xfrm>
              <a:off x="423749" y="4021174"/>
              <a:ext cx="1252770" cy="534850"/>
              <a:chOff x="1978229" y="2012407"/>
              <a:chExt cx="1252770" cy="534850"/>
            </a:xfrm>
          </p:grpSpPr>
          <p:sp>
            <p:nvSpPr>
              <p:cNvPr id="49" name="矩形 48">
                <a:extLst>
                  <a:ext uri="{FF2B5EF4-FFF2-40B4-BE49-F238E27FC236}">
                    <a16:creationId xmlns:a16="http://schemas.microsoft.com/office/drawing/2014/main" id="{14AB268C-B54E-56F2-52FE-0A34645DF77F}"/>
                  </a:ext>
                </a:extLst>
              </p:cNvPr>
              <p:cNvSpPr/>
              <p:nvPr/>
            </p:nvSpPr>
            <p:spPr>
              <a:xfrm>
                <a:off x="1978229" y="2012407"/>
                <a:ext cx="1252770" cy="53485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50" name="文本框 49">
                <a:extLst>
                  <a:ext uri="{FF2B5EF4-FFF2-40B4-BE49-F238E27FC236}">
                    <a16:creationId xmlns:a16="http://schemas.microsoft.com/office/drawing/2014/main" id="{C74D275B-BECA-DC67-666B-FC6C8D5FA084}"/>
                  </a:ext>
                </a:extLst>
              </p:cNvPr>
              <p:cNvSpPr txBox="1"/>
              <p:nvPr/>
            </p:nvSpPr>
            <p:spPr>
              <a:xfrm>
                <a:off x="2055974" y="2095166"/>
                <a:ext cx="1097280" cy="369332"/>
              </a:xfrm>
              <a:prstGeom prst="rect">
                <a:avLst/>
              </a:prstGeom>
              <a:noFill/>
            </p:spPr>
            <p:txBody>
              <a:bodyPr wrap="square" rtlCol="0">
                <a:spAutoFit/>
              </a:bodyPr>
              <a:lstStyle/>
              <a:p>
                <a:pPr algn="ctr"/>
                <a:r>
                  <a:rPr lang="zh-CN" altLang="en-US" b="1" dirty="0"/>
                  <a:t>压力</a:t>
                </a:r>
                <a:endParaRPr lang="en-US" altLang="zh-CN" b="1" dirty="0"/>
              </a:p>
            </p:txBody>
          </p:sp>
        </p:grpSp>
        <p:grpSp>
          <p:nvGrpSpPr>
            <p:cNvPr id="51" name="组合 50">
              <a:extLst>
                <a:ext uri="{FF2B5EF4-FFF2-40B4-BE49-F238E27FC236}">
                  <a16:creationId xmlns:a16="http://schemas.microsoft.com/office/drawing/2014/main" id="{13739CAE-9A23-1C95-4D8D-FF5B9543D5B2}"/>
                </a:ext>
              </a:extLst>
            </p:cNvPr>
            <p:cNvGrpSpPr/>
            <p:nvPr/>
          </p:nvGrpSpPr>
          <p:grpSpPr>
            <a:xfrm>
              <a:off x="423749" y="5880727"/>
              <a:ext cx="1252770" cy="534850"/>
              <a:chOff x="1978229" y="2012407"/>
              <a:chExt cx="1252770" cy="534850"/>
            </a:xfrm>
          </p:grpSpPr>
          <p:sp>
            <p:nvSpPr>
              <p:cNvPr id="52" name="矩形 51">
                <a:extLst>
                  <a:ext uri="{FF2B5EF4-FFF2-40B4-BE49-F238E27FC236}">
                    <a16:creationId xmlns:a16="http://schemas.microsoft.com/office/drawing/2014/main" id="{5E13A933-1B0B-0D93-D8AD-F757061246DF}"/>
                  </a:ext>
                </a:extLst>
              </p:cNvPr>
              <p:cNvSpPr/>
              <p:nvPr/>
            </p:nvSpPr>
            <p:spPr>
              <a:xfrm>
                <a:off x="1978229" y="2012407"/>
                <a:ext cx="1252770" cy="53485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53" name="文本框 52">
                <a:extLst>
                  <a:ext uri="{FF2B5EF4-FFF2-40B4-BE49-F238E27FC236}">
                    <a16:creationId xmlns:a16="http://schemas.microsoft.com/office/drawing/2014/main" id="{33C7FE83-0AA3-A2B3-745E-5B282FAFFC67}"/>
                  </a:ext>
                </a:extLst>
              </p:cNvPr>
              <p:cNvSpPr txBox="1"/>
              <p:nvPr/>
            </p:nvSpPr>
            <p:spPr>
              <a:xfrm>
                <a:off x="2055974" y="2095166"/>
                <a:ext cx="1097280" cy="369332"/>
              </a:xfrm>
              <a:prstGeom prst="rect">
                <a:avLst/>
              </a:prstGeom>
              <a:noFill/>
            </p:spPr>
            <p:txBody>
              <a:bodyPr wrap="square" rtlCol="0">
                <a:spAutoFit/>
              </a:bodyPr>
              <a:lstStyle/>
              <a:p>
                <a:pPr algn="ctr"/>
                <a:r>
                  <a:rPr lang="zh-CN" altLang="en-US" b="1" dirty="0"/>
                  <a:t>质量流量</a:t>
                </a:r>
                <a:endParaRPr lang="en-US" altLang="zh-CN" b="1" dirty="0"/>
              </a:p>
            </p:txBody>
          </p:sp>
        </p:grpSp>
        <p:sp>
          <p:nvSpPr>
            <p:cNvPr id="54" name="矩形 53">
              <a:extLst>
                <a:ext uri="{FF2B5EF4-FFF2-40B4-BE49-F238E27FC236}">
                  <a16:creationId xmlns:a16="http://schemas.microsoft.com/office/drawing/2014/main" id="{FBD00987-C8C9-F6E1-F30B-1700C103F58F}"/>
                </a:ext>
              </a:extLst>
            </p:cNvPr>
            <p:cNvSpPr/>
            <p:nvPr/>
          </p:nvSpPr>
          <p:spPr>
            <a:xfrm>
              <a:off x="329440" y="3914219"/>
              <a:ext cx="1441388" cy="2599500"/>
            </a:xfrm>
            <a:prstGeom prst="rect">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grpSp>
      <p:grpSp>
        <p:nvGrpSpPr>
          <p:cNvPr id="79" name="组合 78">
            <a:extLst>
              <a:ext uri="{FF2B5EF4-FFF2-40B4-BE49-F238E27FC236}">
                <a16:creationId xmlns:a16="http://schemas.microsoft.com/office/drawing/2014/main" id="{B9C9E64D-C683-C790-F2BF-1B387D95EC22}"/>
              </a:ext>
            </a:extLst>
          </p:cNvPr>
          <p:cNvGrpSpPr/>
          <p:nvPr/>
        </p:nvGrpSpPr>
        <p:grpSpPr>
          <a:xfrm>
            <a:off x="1784991" y="1063757"/>
            <a:ext cx="1441388" cy="2599500"/>
            <a:chOff x="329440" y="3914219"/>
            <a:chExt cx="1441388" cy="2599500"/>
          </a:xfrm>
        </p:grpSpPr>
        <p:grpSp>
          <p:nvGrpSpPr>
            <p:cNvPr id="80" name="组合 79">
              <a:extLst>
                <a:ext uri="{FF2B5EF4-FFF2-40B4-BE49-F238E27FC236}">
                  <a16:creationId xmlns:a16="http://schemas.microsoft.com/office/drawing/2014/main" id="{5F91C7A8-F96C-4257-991A-8E52048DA521}"/>
                </a:ext>
              </a:extLst>
            </p:cNvPr>
            <p:cNvGrpSpPr/>
            <p:nvPr/>
          </p:nvGrpSpPr>
          <p:grpSpPr>
            <a:xfrm>
              <a:off x="423749" y="5263118"/>
              <a:ext cx="1252770" cy="534850"/>
              <a:chOff x="1978229" y="2012407"/>
              <a:chExt cx="1252770" cy="534850"/>
            </a:xfrm>
          </p:grpSpPr>
          <p:sp>
            <p:nvSpPr>
              <p:cNvPr id="91" name="矩形 90">
                <a:extLst>
                  <a:ext uri="{FF2B5EF4-FFF2-40B4-BE49-F238E27FC236}">
                    <a16:creationId xmlns:a16="http://schemas.microsoft.com/office/drawing/2014/main" id="{844FCD0C-81C3-4898-62DA-8597A518D718}"/>
                  </a:ext>
                </a:extLst>
              </p:cNvPr>
              <p:cNvSpPr/>
              <p:nvPr/>
            </p:nvSpPr>
            <p:spPr>
              <a:xfrm>
                <a:off x="1978229" y="2012407"/>
                <a:ext cx="1252770" cy="53485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92" name="文本框 91">
                <a:extLst>
                  <a:ext uri="{FF2B5EF4-FFF2-40B4-BE49-F238E27FC236}">
                    <a16:creationId xmlns:a16="http://schemas.microsoft.com/office/drawing/2014/main" id="{8481264E-F747-E607-3686-8AE83C9AF82E}"/>
                  </a:ext>
                </a:extLst>
              </p:cNvPr>
              <p:cNvSpPr txBox="1"/>
              <p:nvPr/>
            </p:nvSpPr>
            <p:spPr>
              <a:xfrm>
                <a:off x="2055974" y="2095166"/>
                <a:ext cx="1097280" cy="369332"/>
              </a:xfrm>
              <a:prstGeom prst="rect">
                <a:avLst/>
              </a:prstGeom>
              <a:noFill/>
            </p:spPr>
            <p:txBody>
              <a:bodyPr wrap="square" rtlCol="0">
                <a:spAutoFit/>
              </a:bodyPr>
              <a:lstStyle/>
              <a:p>
                <a:pPr algn="ctr"/>
                <a:r>
                  <a:rPr lang="zh-CN" altLang="en-US" b="1" dirty="0"/>
                  <a:t>组分</a:t>
                </a:r>
                <a:endParaRPr lang="en-US" altLang="zh-CN" b="1" dirty="0"/>
              </a:p>
            </p:txBody>
          </p:sp>
        </p:grpSp>
        <p:grpSp>
          <p:nvGrpSpPr>
            <p:cNvPr id="81" name="组合 80">
              <a:extLst>
                <a:ext uri="{FF2B5EF4-FFF2-40B4-BE49-F238E27FC236}">
                  <a16:creationId xmlns:a16="http://schemas.microsoft.com/office/drawing/2014/main" id="{1A1282ED-14E8-1FBF-3D43-A71E4AE0A01E}"/>
                </a:ext>
              </a:extLst>
            </p:cNvPr>
            <p:cNvGrpSpPr/>
            <p:nvPr/>
          </p:nvGrpSpPr>
          <p:grpSpPr>
            <a:xfrm>
              <a:off x="423749" y="4642146"/>
              <a:ext cx="1252770" cy="534850"/>
              <a:chOff x="1978229" y="2012407"/>
              <a:chExt cx="1252770" cy="534850"/>
            </a:xfrm>
          </p:grpSpPr>
          <p:sp>
            <p:nvSpPr>
              <p:cNvPr id="89" name="矩形 88">
                <a:extLst>
                  <a:ext uri="{FF2B5EF4-FFF2-40B4-BE49-F238E27FC236}">
                    <a16:creationId xmlns:a16="http://schemas.microsoft.com/office/drawing/2014/main" id="{9520B6C0-8797-749F-A883-CA45CE47001E}"/>
                  </a:ext>
                </a:extLst>
              </p:cNvPr>
              <p:cNvSpPr/>
              <p:nvPr/>
            </p:nvSpPr>
            <p:spPr>
              <a:xfrm>
                <a:off x="1978229" y="2012407"/>
                <a:ext cx="1252770" cy="53485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90" name="文本框 89">
                <a:extLst>
                  <a:ext uri="{FF2B5EF4-FFF2-40B4-BE49-F238E27FC236}">
                    <a16:creationId xmlns:a16="http://schemas.microsoft.com/office/drawing/2014/main" id="{D113D1C1-1886-F957-65EE-83FE614B177F}"/>
                  </a:ext>
                </a:extLst>
              </p:cNvPr>
              <p:cNvSpPr txBox="1"/>
              <p:nvPr/>
            </p:nvSpPr>
            <p:spPr>
              <a:xfrm>
                <a:off x="2055974" y="2095166"/>
                <a:ext cx="1097280" cy="369332"/>
              </a:xfrm>
              <a:prstGeom prst="rect">
                <a:avLst/>
              </a:prstGeom>
              <a:noFill/>
            </p:spPr>
            <p:txBody>
              <a:bodyPr wrap="square" rtlCol="0">
                <a:spAutoFit/>
              </a:bodyPr>
              <a:lstStyle/>
              <a:p>
                <a:pPr algn="ctr"/>
                <a:r>
                  <a:rPr lang="zh-CN" altLang="en-US" b="1" dirty="0"/>
                  <a:t>温度</a:t>
                </a:r>
                <a:endParaRPr lang="en-US" altLang="zh-CN" b="1" dirty="0"/>
              </a:p>
            </p:txBody>
          </p:sp>
        </p:grpSp>
        <p:grpSp>
          <p:nvGrpSpPr>
            <p:cNvPr id="82" name="组合 81">
              <a:extLst>
                <a:ext uri="{FF2B5EF4-FFF2-40B4-BE49-F238E27FC236}">
                  <a16:creationId xmlns:a16="http://schemas.microsoft.com/office/drawing/2014/main" id="{8AD95677-2538-75DE-6956-AF4E688F23BE}"/>
                </a:ext>
              </a:extLst>
            </p:cNvPr>
            <p:cNvGrpSpPr/>
            <p:nvPr/>
          </p:nvGrpSpPr>
          <p:grpSpPr>
            <a:xfrm>
              <a:off x="423749" y="4021174"/>
              <a:ext cx="1252770" cy="534850"/>
              <a:chOff x="1978229" y="2012407"/>
              <a:chExt cx="1252770" cy="534850"/>
            </a:xfrm>
          </p:grpSpPr>
          <p:sp>
            <p:nvSpPr>
              <p:cNvPr id="87" name="矩形 86">
                <a:extLst>
                  <a:ext uri="{FF2B5EF4-FFF2-40B4-BE49-F238E27FC236}">
                    <a16:creationId xmlns:a16="http://schemas.microsoft.com/office/drawing/2014/main" id="{FCC102A2-2796-3E12-B0D3-AA494731CBDB}"/>
                  </a:ext>
                </a:extLst>
              </p:cNvPr>
              <p:cNvSpPr/>
              <p:nvPr/>
            </p:nvSpPr>
            <p:spPr>
              <a:xfrm>
                <a:off x="1978229" y="2012407"/>
                <a:ext cx="1252770" cy="53485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88" name="文本框 87">
                <a:extLst>
                  <a:ext uri="{FF2B5EF4-FFF2-40B4-BE49-F238E27FC236}">
                    <a16:creationId xmlns:a16="http://schemas.microsoft.com/office/drawing/2014/main" id="{E0C22C27-D7FF-6021-FB8E-4E7CFA8C399C}"/>
                  </a:ext>
                </a:extLst>
              </p:cNvPr>
              <p:cNvSpPr txBox="1"/>
              <p:nvPr/>
            </p:nvSpPr>
            <p:spPr>
              <a:xfrm>
                <a:off x="2055974" y="2095166"/>
                <a:ext cx="1097280" cy="369332"/>
              </a:xfrm>
              <a:prstGeom prst="rect">
                <a:avLst/>
              </a:prstGeom>
              <a:noFill/>
            </p:spPr>
            <p:txBody>
              <a:bodyPr wrap="square" rtlCol="0">
                <a:spAutoFit/>
              </a:bodyPr>
              <a:lstStyle/>
              <a:p>
                <a:pPr algn="ctr"/>
                <a:r>
                  <a:rPr lang="zh-CN" altLang="en-US" b="1" dirty="0"/>
                  <a:t>压力</a:t>
                </a:r>
                <a:endParaRPr lang="en-US" altLang="zh-CN" b="1" dirty="0"/>
              </a:p>
            </p:txBody>
          </p:sp>
        </p:grpSp>
        <p:grpSp>
          <p:nvGrpSpPr>
            <p:cNvPr id="83" name="组合 82">
              <a:extLst>
                <a:ext uri="{FF2B5EF4-FFF2-40B4-BE49-F238E27FC236}">
                  <a16:creationId xmlns:a16="http://schemas.microsoft.com/office/drawing/2014/main" id="{39BA2956-5CCB-94CE-1683-69B91D664ECF}"/>
                </a:ext>
              </a:extLst>
            </p:cNvPr>
            <p:cNvGrpSpPr/>
            <p:nvPr/>
          </p:nvGrpSpPr>
          <p:grpSpPr>
            <a:xfrm>
              <a:off x="423749" y="5880727"/>
              <a:ext cx="1252770" cy="534850"/>
              <a:chOff x="1978229" y="2012407"/>
              <a:chExt cx="1252770" cy="534850"/>
            </a:xfrm>
          </p:grpSpPr>
          <p:sp>
            <p:nvSpPr>
              <p:cNvPr id="85" name="矩形 84">
                <a:extLst>
                  <a:ext uri="{FF2B5EF4-FFF2-40B4-BE49-F238E27FC236}">
                    <a16:creationId xmlns:a16="http://schemas.microsoft.com/office/drawing/2014/main" id="{40EB4FAD-3585-F0A6-D773-2790A4FD5BD5}"/>
                  </a:ext>
                </a:extLst>
              </p:cNvPr>
              <p:cNvSpPr/>
              <p:nvPr/>
            </p:nvSpPr>
            <p:spPr>
              <a:xfrm>
                <a:off x="1978229" y="2012407"/>
                <a:ext cx="1252770" cy="53485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86" name="文本框 85">
                <a:extLst>
                  <a:ext uri="{FF2B5EF4-FFF2-40B4-BE49-F238E27FC236}">
                    <a16:creationId xmlns:a16="http://schemas.microsoft.com/office/drawing/2014/main" id="{06FCCF1C-1D5E-8029-667A-A43CBFDB9562}"/>
                  </a:ext>
                </a:extLst>
              </p:cNvPr>
              <p:cNvSpPr txBox="1"/>
              <p:nvPr/>
            </p:nvSpPr>
            <p:spPr>
              <a:xfrm>
                <a:off x="2055974" y="2095166"/>
                <a:ext cx="1097280" cy="369332"/>
              </a:xfrm>
              <a:prstGeom prst="rect">
                <a:avLst/>
              </a:prstGeom>
              <a:noFill/>
            </p:spPr>
            <p:txBody>
              <a:bodyPr wrap="square" rtlCol="0">
                <a:spAutoFit/>
              </a:bodyPr>
              <a:lstStyle/>
              <a:p>
                <a:pPr algn="ctr"/>
                <a:r>
                  <a:rPr lang="zh-CN" altLang="en-US" b="1" dirty="0"/>
                  <a:t>质量流量</a:t>
                </a:r>
                <a:endParaRPr lang="en-US" altLang="zh-CN" b="1" dirty="0"/>
              </a:p>
            </p:txBody>
          </p:sp>
        </p:grpSp>
        <p:sp>
          <p:nvSpPr>
            <p:cNvPr id="84" name="矩形 83">
              <a:extLst>
                <a:ext uri="{FF2B5EF4-FFF2-40B4-BE49-F238E27FC236}">
                  <a16:creationId xmlns:a16="http://schemas.microsoft.com/office/drawing/2014/main" id="{64AE4F35-179E-91BB-0E32-FB081A3F61DB}"/>
                </a:ext>
              </a:extLst>
            </p:cNvPr>
            <p:cNvSpPr/>
            <p:nvPr/>
          </p:nvSpPr>
          <p:spPr>
            <a:xfrm>
              <a:off x="329440" y="3914219"/>
              <a:ext cx="1441388" cy="2599500"/>
            </a:xfrm>
            <a:prstGeom prst="rect">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grpSp>
      <p:grpSp>
        <p:nvGrpSpPr>
          <p:cNvPr id="98" name="组合 97">
            <a:extLst>
              <a:ext uri="{FF2B5EF4-FFF2-40B4-BE49-F238E27FC236}">
                <a16:creationId xmlns:a16="http://schemas.microsoft.com/office/drawing/2014/main" id="{74E1B19A-4D21-B20F-D9AE-882BE7AAC128}"/>
              </a:ext>
            </a:extLst>
          </p:cNvPr>
          <p:cNvGrpSpPr/>
          <p:nvPr/>
        </p:nvGrpSpPr>
        <p:grpSpPr>
          <a:xfrm>
            <a:off x="3839691" y="4861525"/>
            <a:ext cx="1252770" cy="534850"/>
            <a:chOff x="3957257" y="4445331"/>
            <a:chExt cx="1252770" cy="534850"/>
          </a:xfrm>
        </p:grpSpPr>
        <p:sp>
          <p:nvSpPr>
            <p:cNvPr id="96" name="矩形 95">
              <a:extLst>
                <a:ext uri="{FF2B5EF4-FFF2-40B4-BE49-F238E27FC236}">
                  <a16:creationId xmlns:a16="http://schemas.microsoft.com/office/drawing/2014/main" id="{A4843B83-AB9E-A4E7-C6FB-383461C77318}"/>
                </a:ext>
              </a:extLst>
            </p:cNvPr>
            <p:cNvSpPr/>
            <p:nvPr/>
          </p:nvSpPr>
          <p:spPr>
            <a:xfrm>
              <a:off x="3957257" y="4445331"/>
              <a:ext cx="1252770" cy="53485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97" name="文本框 96">
              <a:extLst>
                <a:ext uri="{FF2B5EF4-FFF2-40B4-BE49-F238E27FC236}">
                  <a16:creationId xmlns:a16="http://schemas.microsoft.com/office/drawing/2014/main" id="{E6040735-2DCD-AB20-E367-40F1F5D6285E}"/>
                </a:ext>
              </a:extLst>
            </p:cNvPr>
            <p:cNvSpPr txBox="1"/>
            <p:nvPr/>
          </p:nvSpPr>
          <p:spPr>
            <a:xfrm>
              <a:off x="4035002" y="4528090"/>
              <a:ext cx="1097280" cy="369332"/>
            </a:xfrm>
            <a:prstGeom prst="rect">
              <a:avLst/>
            </a:prstGeom>
            <a:noFill/>
          </p:spPr>
          <p:txBody>
            <a:bodyPr wrap="square" rtlCol="0">
              <a:spAutoFit/>
            </a:bodyPr>
            <a:lstStyle/>
            <a:p>
              <a:pPr algn="ctr"/>
              <a:r>
                <a:rPr lang="zh-CN" altLang="en-US" b="1" dirty="0"/>
                <a:t>空气状态</a:t>
              </a:r>
              <a:endParaRPr lang="en-US" altLang="zh-CN" b="1" dirty="0"/>
            </a:p>
          </p:txBody>
        </p:sp>
      </p:grpSp>
      <p:grpSp>
        <p:nvGrpSpPr>
          <p:cNvPr id="99" name="组合 98">
            <a:extLst>
              <a:ext uri="{FF2B5EF4-FFF2-40B4-BE49-F238E27FC236}">
                <a16:creationId xmlns:a16="http://schemas.microsoft.com/office/drawing/2014/main" id="{106830D2-9B53-07C1-D1EB-FB4E65F4B7D9}"/>
              </a:ext>
            </a:extLst>
          </p:cNvPr>
          <p:cNvGrpSpPr/>
          <p:nvPr/>
        </p:nvGrpSpPr>
        <p:grpSpPr>
          <a:xfrm>
            <a:off x="3839691" y="2095404"/>
            <a:ext cx="1252770" cy="534850"/>
            <a:chOff x="3957257" y="4445331"/>
            <a:chExt cx="1252770" cy="534850"/>
          </a:xfrm>
        </p:grpSpPr>
        <p:sp>
          <p:nvSpPr>
            <p:cNvPr id="100" name="矩形 99">
              <a:extLst>
                <a:ext uri="{FF2B5EF4-FFF2-40B4-BE49-F238E27FC236}">
                  <a16:creationId xmlns:a16="http://schemas.microsoft.com/office/drawing/2014/main" id="{CF668AF8-909C-8226-180A-A5A71ED6ADEA}"/>
                </a:ext>
              </a:extLst>
            </p:cNvPr>
            <p:cNvSpPr/>
            <p:nvPr/>
          </p:nvSpPr>
          <p:spPr>
            <a:xfrm>
              <a:off x="3957257" y="4445331"/>
              <a:ext cx="1252770" cy="53485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101" name="文本框 100">
              <a:extLst>
                <a:ext uri="{FF2B5EF4-FFF2-40B4-BE49-F238E27FC236}">
                  <a16:creationId xmlns:a16="http://schemas.microsoft.com/office/drawing/2014/main" id="{8C2F37F3-1748-9D14-4497-52862F5E39A8}"/>
                </a:ext>
              </a:extLst>
            </p:cNvPr>
            <p:cNvSpPr txBox="1"/>
            <p:nvPr/>
          </p:nvSpPr>
          <p:spPr>
            <a:xfrm>
              <a:off x="4035002" y="4528090"/>
              <a:ext cx="1097280" cy="369332"/>
            </a:xfrm>
            <a:prstGeom prst="rect">
              <a:avLst/>
            </a:prstGeom>
            <a:noFill/>
          </p:spPr>
          <p:txBody>
            <a:bodyPr wrap="square" rtlCol="0">
              <a:spAutoFit/>
            </a:bodyPr>
            <a:lstStyle/>
            <a:p>
              <a:pPr algn="ctr"/>
              <a:r>
                <a:rPr lang="zh-CN" altLang="en-US" b="1" dirty="0"/>
                <a:t>燃料状态</a:t>
              </a:r>
              <a:endParaRPr lang="en-US" altLang="zh-CN" b="1" dirty="0"/>
            </a:p>
          </p:txBody>
        </p:sp>
      </p:grpSp>
      <p:grpSp>
        <p:nvGrpSpPr>
          <p:cNvPr id="106" name="组合 105">
            <a:extLst>
              <a:ext uri="{FF2B5EF4-FFF2-40B4-BE49-F238E27FC236}">
                <a16:creationId xmlns:a16="http://schemas.microsoft.com/office/drawing/2014/main" id="{04FA1237-DD7A-F09C-1952-5BFB0FF0FBD6}"/>
              </a:ext>
            </a:extLst>
          </p:cNvPr>
          <p:cNvGrpSpPr/>
          <p:nvPr/>
        </p:nvGrpSpPr>
        <p:grpSpPr>
          <a:xfrm>
            <a:off x="4398589" y="3480761"/>
            <a:ext cx="1252770" cy="534850"/>
            <a:chOff x="3957257" y="4445331"/>
            <a:chExt cx="1252770" cy="534850"/>
          </a:xfrm>
        </p:grpSpPr>
        <p:sp>
          <p:nvSpPr>
            <p:cNvPr id="107" name="矩形 106">
              <a:extLst>
                <a:ext uri="{FF2B5EF4-FFF2-40B4-BE49-F238E27FC236}">
                  <a16:creationId xmlns:a16="http://schemas.microsoft.com/office/drawing/2014/main" id="{2EF3217B-126A-31B8-7E04-DB37A93DDC8C}"/>
                </a:ext>
              </a:extLst>
            </p:cNvPr>
            <p:cNvSpPr/>
            <p:nvPr/>
          </p:nvSpPr>
          <p:spPr>
            <a:xfrm>
              <a:off x="3957257" y="4445331"/>
              <a:ext cx="1252770" cy="53485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108" name="文本框 107">
              <a:extLst>
                <a:ext uri="{FF2B5EF4-FFF2-40B4-BE49-F238E27FC236}">
                  <a16:creationId xmlns:a16="http://schemas.microsoft.com/office/drawing/2014/main" id="{2F1FFC25-3499-4B59-320E-AD4E72BABFA4}"/>
                </a:ext>
              </a:extLst>
            </p:cNvPr>
            <p:cNvSpPr txBox="1"/>
            <p:nvPr/>
          </p:nvSpPr>
          <p:spPr>
            <a:xfrm>
              <a:off x="4035002" y="4528090"/>
              <a:ext cx="1097280" cy="369332"/>
            </a:xfrm>
            <a:prstGeom prst="rect">
              <a:avLst/>
            </a:prstGeom>
            <a:noFill/>
          </p:spPr>
          <p:txBody>
            <a:bodyPr wrap="square" rtlCol="0">
              <a:spAutoFit/>
            </a:bodyPr>
            <a:lstStyle/>
            <a:p>
              <a:pPr algn="ctr"/>
              <a:r>
                <a:rPr lang="zh-CN" altLang="en-US" b="1" dirty="0"/>
                <a:t>烟气状态</a:t>
              </a:r>
              <a:endParaRPr lang="en-US" altLang="zh-CN" b="1" dirty="0"/>
            </a:p>
          </p:txBody>
        </p:sp>
      </p:grpSp>
      <p:cxnSp>
        <p:nvCxnSpPr>
          <p:cNvPr id="110" name="直接箭头连接符 109">
            <a:extLst>
              <a:ext uri="{FF2B5EF4-FFF2-40B4-BE49-F238E27FC236}">
                <a16:creationId xmlns:a16="http://schemas.microsoft.com/office/drawing/2014/main" id="{7D0CD6F1-D810-3744-B76F-3A0B38C273B5}"/>
              </a:ext>
            </a:extLst>
          </p:cNvPr>
          <p:cNvCxnSpPr/>
          <p:nvPr/>
        </p:nvCxnSpPr>
        <p:spPr>
          <a:xfrm>
            <a:off x="3324497" y="2362829"/>
            <a:ext cx="437606"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1" name="直接箭头连接符 110">
            <a:extLst>
              <a:ext uri="{FF2B5EF4-FFF2-40B4-BE49-F238E27FC236}">
                <a16:creationId xmlns:a16="http://schemas.microsoft.com/office/drawing/2014/main" id="{77D63F45-017F-1C1B-8A60-9F394514A160}"/>
              </a:ext>
            </a:extLst>
          </p:cNvPr>
          <p:cNvCxnSpPr/>
          <p:nvPr/>
        </p:nvCxnSpPr>
        <p:spPr>
          <a:xfrm>
            <a:off x="3324497" y="5111194"/>
            <a:ext cx="437606"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直接箭头连接符 111">
            <a:extLst>
              <a:ext uri="{FF2B5EF4-FFF2-40B4-BE49-F238E27FC236}">
                <a16:creationId xmlns:a16="http://schemas.microsoft.com/office/drawing/2014/main" id="{D3C8AC93-2E4A-7631-0865-4086CE7950D5}"/>
              </a:ext>
            </a:extLst>
          </p:cNvPr>
          <p:cNvCxnSpPr>
            <a:cxnSpLocks/>
          </p:cNvCxnSpPr>
          <p:nvPr/>
        </p:nvCxnSpPr>
        <p:spPr>
          <a:xfrm>
            <a:off x="4704805" y="2719245"/>
            <a:ext cx="0" cy="705772"/>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直接箭头连接符 114">
            <a:extLst>
              <a:ext uri="{FF2B5EF4-FFF2-40B4-BE49-F238E27FC236}">
                <a16:creationId xmlns:a16="http://schemas.microsoft.com/office/drawing/2014/main" id="{96A4E3C2-C30B-A94F-172E-9242C548BC24}"/>
              </a:ext>
            </a:extLst>
          </p:cNvPr>
          <p:cNvCxnSpPr>
            <a:cxnSpLocks/>
          </p:cNvCxnSpPr>
          <p:nvPr/>
        </p:nvCxnSpPr>
        <p:spPr>
          <a:xfrm flipV="1">
            <a:off x="4704805" y="4096608"/>
            <a:ext cx="0" cy="71974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31" name="组合 130">
            <a:extLst>
              <a:ext uri="{FF2B5EF4-FFF2-40B4-BE49-F238E27FC236}">
                <a16:creationId xmlns:a16="http://schemas.microsoft.com/office/drawing/2014/main" id="{639BB089-CAF4-5664-BF81-2487F4918F05}"/>
              </a:ext>
            </a:extLst>
          </p:cNvPr>
          <p:cNvGrpSpPr/>
          <p:nvPr/>
        </p:nvGrpSpPr>
        <p:grpSpPr>
          <a:xfrm>
            <a:off x="8773373" y="1716444"/>
            <a:ext cx="1441388" cy="2019794"/>
            <a:chOff x="6901277" y="1769211"/>
            <a:chExt cx="1441388" cy="2019794"/>
          </a:xfrm>
        </p:grpSpPr>
        <p:grpSp>
          <p:nvGrpSpPr>
            <p:cNvPr id="119" name="组合 118">
              <a:extLst>
                <a:ext uri="{FF2B5EF4-FFF2-40B4-BE49-F238E27FC236}">
                  <a16:creationId xmlns:a16="http://schemas.microsoft.com/office/drawing/2014/main" id="{C2AAC365-4807-FBBE-1F6C-4BBD124FF8C8}"/>
                </a:ext>
              </a:extLst>
            </p:cNvPr>
            <p:cNvGrpSpPr/>
            <p:nvPr/>
          </p:nvGrpSpPr>
          <p:grpSpPr>
            <a:xfrm>
              <a:off x="6995586" y="2497138"/>
              <a:ext cx="1252770" cy="534850"/>
              <a:chOff x="1978229" y="2012407"/>
              <a:chExt cx="1252770" cy="534850"/>
            </a:xfrm>
          </p:grpSpPr>
          <p:sp>
            <p:nvSpPr>
              <p:cNvPr id="127" name="矩形 126">
                <a:extLst>
                  <a:ext uri="{FF2B5EF4-FFF2-40B4-BE49-F238E27FC236}">
                    <a16:creationId xmlns:a16="http://schemas.microsoft.com/office/drawing/2014/main" id="{D2E886A9-9321-6C35-3D43-252D10A38086}"/>
                  </a:ext>
                </a:extLst>
              </p:cNvPr>
              <p:cNvSpPr/>
              <p:nvPr/>
            </p:nvSpPr>
            <p:spPr>
              <a:xfrm>
                <a:off x="1978229" y="2012407"/>
                <a:ext cx="1252770" cy="53485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128" name="文本框 127">
                <a:extLst>
                  <a:ext uri="{FF2B5EF4-FFF2-40B4-BE49-F238E27FC236}">
                    <a16:creationId xmlns:a16="http://schemas.microsoft.com/office/drawing/2014/main" id="{A5A23FBF-A3A2-4B4A-DA9B-695F6E993333}"/>
                  </a:ext>
                </a:extLst>
              </p:cNvPr>
              <p:cNvSpPr txBox="1"/>
              <p:nvPr/>
            </p:nvSpPr>
            <p:spPr>
              <a:xfrm>
                <a:off x="2055974" y="2095166"/>
                <a:ext cx="1097280" cy="369332"/>
              </a:xfrm>
              <a:prstGeom prst="rect">
                <a:avLst/>
              </a:prstGeom>
              <a:noFill/>
            </p:spPr>
            <p:txBody>
              <a:bodyPr wrap="square" rtlCol="0">
                <a:spAutoFit/>
              </a:bodyPr>
              <a:lstStyle/>
              <a:p>
                <a:pPr algn="ctr"/>
                <a:r>
                  <a:rPr lang="zh-CN" altLang="en-US" b="1" dirty="0"/>
                  <a:t>温度</a:t>
                </a:r>
                <a:endParaRPr lang="en-US" altLang="zh-CN" b="1" dirty="0"/>
              </a:p>
            </p:txBody>
          </p:sp>
        </p:grpSp>
        <p:grpSp>
          <p:nvGrpSpPr>
            <p:cNvPr id="120" name="组合 119">
              <a:extLst>
                <a:ext uri="{FF2B5EF4-FFF2-40B4-BE49-F238E27FC236}">
                  <a16:creationId xmlns:a16="http://schemas.microsoft.com/office/drawing/2014/main" id="{2299FB11-8047-4560-D059-D8441619C903}"/>
                </a:ext>
              </a:extLst>
            </p:cNvPr>
            <p:cNvGrpSpPr/>
            <p:nvPr/>
          </p:nvGrpSpPr>
          <p:grpSpPr>
            <a:xfrm>
              <a:off x="6995586" y="1876166"/>
              <a:ext cx="1252770" cy="534850"/>
              <a:chOff x="1978229" y="2012407"/>
              <a:chExt cx="1252770" cy="534850"/>
            </a:xfrm>
          </p:grpSpPr>
          <p:sp>
            <p:nvSpPr>
              <p:cNvPr id="125" name="矩形 124">
                <a:extLst>
                  <a:ext uri="{FF2B5EF4-FFF2-40B4-BE49-F238E27FC236}">
                    <a16:creationId xmlns:a16="http://schemas.microsoft.com/office/drawing/2014/main" id="{1C20C48D-174E-90F2-6707-112A11ACCE10}"/>
                  </a:ext>
                </a:extLst>
              </p:cNvPr>
              <p:cNvSpPr/>
              <p:nvPr/>
            </p:nvSpPr>
            <p:spPr>
              <a:xfrm>
                <a:off x="1978229" y="2012407"/>
                <a:ext cx="1252770" cy="53485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126" name="文本框 125">
                <a:extLst>
                  <a:ext uri="{FF2B5EF4-FFF2-40B4-BE49-F238E27FC236}">
                    <a16:creationId xmlns:a16="http://schemas.microsoft.com/office/drawing/2014/main" id="{2DBA643E-2D85-5FFF-D805-68902D38D95F}"/>
                  </a:ext>
                </a:extLst>
              </p:cNvPr>
              <p:cNvSpPr txBox="1"/>
              <p:nvPr/>
            </p:nvSpPr>
            <p:spPr>
              <a:xfrm>
                <a:off x="2055974" y="2095166"/>
                <a:ext cx="1097280" cy="369332"/>
              </a:xfrm>
              <a:prstGeom prst="rect">
                <a:avLst/>
              </a:prstGeom>
              <a:noFill/>
            </p:spPr>
            <p:txBody>
              <a:bodyPr wrap="square" rtlCol="0">
                <a:spAutoFit/>
              </a:bodyPr>
              <a:lstStyle/>
              <a:p>
                <a:pPr algn="ctr"/>
                <a:r>
                  <a:rPr lang="zh-CN" altLang="en-US" b="1" dirty="0"/>
                  <a:t>压力</a:t>
                </a:r>
                <a:endParaRPr lang="en-US" altLang="zh-CN" b="1" dirty="0"/>
              </a:p>
            </p:txBody>
          </p:sp>
        </p:grpSp>
        <p:grpSp>
          <p:nvGrpSpPr>
            <p:cNvPr id="121" name="组合 120">
              <a:extLst>
                <a:ext uri="{FF2B5EF4-FFF2-40B4-BE49-F238E27FC236}">
                  <a16:creationId xmlns:a16="http://schemas.microsoft.com/office/drawing/2014/main" id="{4E5FD8CF-7B76-8ABE-F139-0942D30B7EFC}"/>
                </a:ext>
              </a:extLst>
            </p:cNvPr>
            <p:cNvGrpSpPr/>
            <p:nvPr/>
          </p:nvGrpSpPr>
          <p:grpSpPr>
            <a:xfrm>
              <a:off x="6995586" y="3114747"/>
              <a:ext cx="1252770" cy="534850"/>
              <a:chOff x="1978229" y="2012407"/>
              <a:chExt cx="1252770" cy="534850"/>
            </a:xfrm>
          </p:grpSpPr>
          <p:sp>
            <p:nvSpPr>
              <p:cNvPr id="123" name="矩形 122">
                <a:extLst>
                  <a:ext uri="{FF2B5EF4-FFF2-40B4-BE49-F238E27FC236}">
                    <a16:creationId xmlns:a16="http://schemas.microsoft.com/office/drawing/2014/main" id="{CCE1CC57-0D48-809D-8099-4C65F3703EC2}"/>
                  </a:ext>
                </a:extLst>
              </p:cNvPr>
              <p:cNvSpPr/>
              <p:nvPr/>
            </p:nvSpPr>
            <p:spPr>
              <a:xfrm>
                <a:off x="1978229" y="2012407"/>
                <a:ext cx="1252770" cy="53485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124" name="文本框 123">
                <a:extLst>
                  <a:ext uri="{FF2B5EF4-FFF2-40B4-BE49-F238E27FC236}">
                    <a16:creationId xmlns:a16="http://schemas.microsoft.com/office/drawing/2014/main" id="{24AFD766-8C9E-EA0E-2C5E-98AFED615A53}"/>
                  </a:ext>
                </a:extLst>
              </p:cNvPr>
              <p:cNvSpPr txBox="1"/>
              <p:nvPr/>
            </p:nvSpPr>
            <p:spPr>
              <a:xfrm>
                <a:off x="2055974" y="2095166"/>
                <a:ext cx="1097280" cy="369332"/>
              </a:xfrm>
              <a:prstGeom prst="rect">
                <a:avLst/>
              </a:prstGeom>
              <a:noFill/>
            </p:spPr>
            <p:txBody>
              <a:bodyPr wrap="square" rtlCol="0">
                <a:spAutoFit/>
              </a:bodyPr>
              <a:lstStyle/>
              <a:p>
                <a:pPr algn="ctr"/>
                <a:r>
                  <a:rPr lang="zh-CN" altLang="en-US" b="1" dirty="0"/>
                  <a:t>质量流量</a:t>
                </a:r>
                <a:endParaRPr lang="en-US" altLang="zh-CN" b="1" dirty="0"/>
              </a:p>
            </p:txBody>
          </p:sp>
        </p:grpSp>
        <p:sp>
          <p:nvSpPr>
            <p:cNvPr id="122" name="矩形 121">
              <a:extLst>
                <a:ext uri="{FF2B5EF4-FFF2-40B4-BE49-F238E27FC236}">
                  <a16:creationId xmlns:a16="http://schemas.microsoft.com/office/drawing/2014/main" id="{A7B258A6-4583-EFF4-0DCF-E2DC9D48C46A}"/>
                </a:ext>
              </a:extLst>
            </p:cNvPr>
            <p:cNvSpPr/>
            <p:nvPr/>
          </p:nvSpPr>
          <p:spPr>
            <a:xfrm>
              <a:off x="6901277" y="1769211"/>
              <a:ext cx="1441388" cy="2019794"/>
            </a:xfrm>
            <a:prstGeom prst="rect">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grpSp>
      <p:grpSp>
        <p:nvGrpSpPr>
          <p:cNvPr id="132" name="组合 131">
            <a:extLst>
              <a:ext uri="{FF2B5EF4-FFF2-40B4-BE49-F238E27FC236}">
                <a16:creationId xmlns:a16="http://schemas.microsoft.com/office/drawing/2014/main" id="{2B1E876B-2557-E132-FE32-28C0089C963F}"/>
              </a:ext>
            </a:extLst>
          </p:cNvPr>
          <p:cNvGrpSpPr/>
          <p:nvPr/>
        </p:nvGrpSpPr>
        <p:grpSpPr>
          <a:xfrm>
            <a:off x="6264671" y="2444371"/>
            <a:ext cx="1761256" cy="534850"/>
            <a:chOff x="3957257" y="4445331"/>
            <a:chExt cx="1252770" cy="534850"/>
          </a:xfrm>
        </p:grpSpPr>
        <p:sp>
          <p:nvSpPr>
            <p:cNvPr id="133" name="矩形 132">
              <a:extLst>
                <a:ext uri="{FF2B5EF4-FFF2-40B4-BE49-F238E27FC236}">
                  <a16:creationId xmlns:a16="http://schemas.microsoft.com/office/drawing/2014/main" id="{7C88DFA0-4207-0145-F396-AB6D4575A53F}"/>
                </a:ext>
              </a:extLst>
            </p:cNvPr>
            <p:cNvSpPr/>
            <p:nvPr/>
          </p:nvSpPr>
          <p:spPr>
            <a:xfrm>
              <a:off x="3957257" y="4445331"/>
              <a:ext cx="1252770" cy="53485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134" name="文本框 133">
              <a:extLst>
                <a:ext uri="{FF2B5EF4-FFF2-40B4-BE49-F238E27FC236}">
                  <a16:creationId xmlns:a16="http://schemas.microsoft.com/office/drawing/2014/main" id="{5C924687-D44B-D484-A998-D4497DB0037A}"/>
                </a:ext>
              </a:extLst>
            </p:cNvPr>
            <p:cNvSpPr txBox="1"/>
            <p:nvPr/>
          </p:nvSpPr>
          <p:spPr>
            <a:xfrm>
              <a:off x="4035002" y="4528090"/>
              <a:ext cx="1097280" cy="369332"/>
            </a:xfrm>
            <a:prstGeom prst="rect">
              <a:avLst/>
            </a:prstGeom>
            <a:noFill/>
          </p:spPr>
          <p:txBody>
            <a:bodyPr wrap="square" rtlCol="0">
              <a:spAutoFit/>
            </a:bodyPr>
            <a:lstStyle/>
            <a:p>
              <a:pPr algn="ctr"/>
              <a:r>
                <a:rPr lang="zh-CN" altLang="en-US" b="1" dirty="0"/>
                <a:t>水 </a:t>
              </a:r>
              <a:r>
                <a:rPr lang="en-US" altLang="zh-CN" b="1" dirty="0"/>
                <a:t>/ </a:t>
              </a:r>
              <a:r>
                <a:rPr lang="zh-CN" altLang="en-US" b="1" dirty="0"/>
                <a:t>蒸汽状态</a:t>
              </a:r>
              <a:endParaRPr lang="en-US" altLang="zh-CN" b="1" dirty="0"/>
            </a:p>
          </p:txBody>
        </p:sp>
      </p:grpSp>
      <p:cxnSp>
        <p:nvCxnSpPr>
          <p:cNvPr id="135" name="直接箭头连接符 134">
            <a:extLst>
              <a:ext uri="{FF2B5EF4-FFF2-40B4-BE49-F238E27FC236}">
                <a16:creationId xmlns:a16="http://schemas.microsoft.com/office/drawing/2014/main" id="{DAB9353D-9AF1-0382-FC82-1065B16AEF1F}"/>
              </a:ext>
            </a:extLst>
          </p:cNvPr>
          <p:cNvCxnSpPr>
            <a:cxnSpLocks/>
          </p:cNvCxnSpPr>
          <p:nvPr/>
        </p:nvCxnSpPr>
        <p:spPr>
          <a:xfrm flipH="1">
            <a:off x="8130027" y="2731185"/>
            <a:ext cx="500742"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37" name="组合 136">
            <a:extLst>
              <a:ext uri="{FF2B5EF4-FFF2-40B4-BE49-F238E27FC236}">
                <a16:creationId xmlns:a16="http://schemas.microsoft.com/office/drawing/2014/main" id="{98DF894E-1C7D-B80D-5586-32626CF4FFB6}"/>
              </a:ext>
            </a:extLst>
          </p:cNvPr>
          <p:cNvGrpSpPr/>
          <p:nvPr/>
        </p:nvGrpSpPr>
        <p:grpSpPr>
          <a:xfrm>
            <a:off x="6475239" y="4861525"/>
            <a:ext cx="1441387" cy="534850"/>
            <a:chOff x="3957257" y="4445331"/>
            <a:chExt cx="1252770" cy="534850"/>
          </a:xfrm>
        </p:grpSpPr>
        <p:sp>
          <p:nvSpPr>
            <p:cNvPr id="138" name="矩形 137">
              <a:extLst>
                <a:ext uri="{FF2B5EF4-FFF2-40B4-BE49-F238E27FC236}">
                  <a16:creationId xmlns:a16="http://schemas.microsoft.com/office/drawing/2014/main" id="{735464ED-E6FE-D667-61DE-D96030D71C3D}"/>
                </a:ext>
              </a:extLst>
            </p:cNvPr>
            <p:cNvSpPr/>
            <p:nvPr/>
          </p:nvSpPr>
          <p:spPr>
            <a:xfrm>
              <a:off x="3957257" y="4445331"/>
              <a:ext cx="1252770" cy="53485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139" name="文本框 138">
              <a:extLst>
                <a:ext uri="{FF2B5EF4-FFF2-40B4-BE49-F238E27FC236}">
                  <a16:creationId xmlns:a16="http://schemas.microsoft.com/office/drawing/2014/main" id="{99FB88F5-3DB7-BA45-F778-F076DFB9E95B}"/>
                </a:ext>
              </a:extLst>
            </p:cNvPr>
            <p:cNvSpPr txBox="1"/>
            <p:nvPr/>
          </p:nvSpPr>
          <p:spPr>
            <a:xfrm>
              <a:off x="4035002" y="4528090"/>
              <a:ext cx="1097280" cy="369332"/>
            </a:xfrm>
            <a:prstGeom prst="rect">
              <a:avLst/>
            </a:prstGeom>
            <a:noFill/>
          </p:spPr>
          <p:txBody>
            <a:bodyPr wrap="square" rtlCol="0">
              <a:spAutoFit/>
            </a:bodyPr>
            <a:lstStyle/>
            <a:p>
              <a:pPr algn="ctr"/>
              <a:r>
                <a:rPr lang="zh-CN" altLang="en-US" b="1" dirty="0">
                  <a:solidFill>
                    <a:srgbClr val="FF0000"/>
                  </a:solidFill>
                </a:rPr>
                <a:t>部件</a:t>
              </a:r>
              <a:endParaRPr lang="en-US" altLang="zh-CN" b="1" dirty="0">
                <a:solidFill>
                  <a:srgbClr val="FF0000"/>
                </a:solidFill>
              </a:endParaRPr>
            </a:p>
          </p:txBody>
        </p:sp>
      </p:grpSp>
      <p:grpSp>
        <p:nvGrpSpPr>
          <p:cNvPr id="140" name="组合 139">
            <a:extLst>
              <a:ext uri="{FF2B5EF4-FFF2-40B4-BE49-F238E27FC236}">
                <a16:creationId xmlns:a16="http://schemas.microsoft.com/office/drawing/2014/main" id="{A3D56217-3F35-A7BD-5F40-03A69924920B}"/>
              </a:ext>
            </a:extLst>
          </p:cNvPr>
          <p:cNvGrpSpPr/>
          <p:nvPr/>
        </p:nvGrpSpPr>
        <p:grpSpPr>
          <a:xfrm>
            <a:off x="8998162" y="4861525"/>
            <a:ext cx="1441387" cy="534850"/>
            <a:chOff x="3957257" y="4445331"/>
            <a:chExt cx="1252770" cy="534850"/>
          </a:xfrm>
        </p:grpSpPr>
        <p:sp>
          <p:nvSpPr>
            <p:cNvPr id="141" name="矩形 140">
              <a:extLst>
                <a:ext uri="{FF2B5EF4-FFF2-40B4-BE49-F238E27FC236}">
                  <a16:creationId xmlns:a16="http://schemas.microsoft.com/office/drawing/2014/main" id="{FAA9F636-993C-84B7-20AB-9904F225BE8F}"/>
                </a:ext>
              </a:extLst>
            </p:cNvPr>
            <p:cNvSpPr/>
            <p:nvPr/>
          </p:nvSpPr>
          <p:spPr>
            <a:xfrm>
              <a:off x="3957257" y="4445331"/>
              <a:ext cx="1252770" cy="53485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142" name="文本框 141">
              <a:extLst>
                <a:ext uri="{FF2B5EF4-FFF2-40B4-BE49-F238E27FC236}">
                  <a16:creationId xmlns:a16="http://schemas.microsoft.com/office/drawing/2014/main" id="{3A6E4F15-F19B-72B7-6506-C72C1966615A}"/>
                </a:ext>
              </a:extLst>
            </p:cNvPr>
            <p:cNvSpPr txBox="1"/>
            <p:nvPr/>
          </p:nvSpPr>
          <p:spPr>
            <a:xfrm>
              <a:off x="4035002" y="4528090"/>
              <a:ext cx="1097280" cy="369332"/>
            </a:xfrm>
            <a:prstGeom prst="rect">
              <a:avLst/>
            </a:prstGeom>
            <a:noFill/>
          </p:spPr>
          <p:txBody>
            <a:bodyPr wrap="square" rtlCol="0">
              <a:spAutoFit/>
            </a:bodyPr>
            <a:lstStyle/>
            <a:p>
              <a:pPr algn="ctr"/>
              <a:r>
                <a:rPr lang="zh-CN" altLang="en-US" b="1" dirty="0">
                  <a:solidFill>
                    <a:srgbClr val="FF0000"/>
                  </a:solidFill>
                </a:rPr>
                <a:t>性能参数</a:t>
              </a:r>
              <a:endParaRPr lang="en-US" altLang="zh-CN" b="1" dirty="0">
                <a:solidFill>
                  <a:srgbClr val="FF0000"/>
                </a:solidFill>
              </a:endParaRPr>
            </a:p>
          </p:txBody>
        </p:sp>
      </p:grpSp>
      <p:cxnSp>
        <p:nvCxnSpPr>
          <p:cNvPr id="154" name="直接箭头连接符 153">
            <a:extLst>
              <a:ext uri="{FF2B5EF4-FFF2-40B4-BE49-F238E27FC236}">
                <a16:creationId xmlns:a16="http://schemas.microsoft.com/office/drawing/2014/main" id="{F7D4BDC1-5154-863D-866D-44BE5D3A4F0D}"/>
              </a:ext>
            </a:extLst>
          </p:cNvPr>
          <p:cNvCxnSpPr>
            <a:cxnSpLocks/>
          </p:cNvCxnSpPr>
          <p:nvPr/>
        </p:nvCxnSpPr>
        <p:spPr>
          <a:xfrm flipV="1">
            <a:off x="8130027" y="5091977"/>
            <a:ext cx="737655" cy="1331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7" name="直接箭头连接符 156">
            <a:extLst>
              <a:ext uri="{FF2B5EF4-FFF2-40B4-BE49-F238E27FC236}">
                <a16:creationId xmlns:a16="http://schemas.microsoft.com/office/drawing/2014/main" id="{68ADFEE7-4657-D97E-F7D4-E7D745DB89BA}"/>
              </a:ext>
            </a:extLst>
          </p:cNvPr>
          <p:cNvCxnSpPr>
            <a:cxnSpLocks/>
          </p:cNvCxnSpPr>
          <p:nvPr/>
        </p:nvCxnSpPr>
        <p:spPr>
          <a:xfrm>
            <a:off x="7593873" y="3127875"/>
            <a:ext cx="0" cy="160087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67" name="组合 166">
            <a:extLst>
              <a:ext uri="{FF2B5EF4-FFF2-40B4-BE49-F238E27FC236}">
                <a16:creationId xmlns:a16="http://schemas.microsoft.com/office/drawing/2014/main" id="{6F7778F7-C028-CC2B-190E-14E48D0A317A}"/>
              </a:ext>
            </a:extLst>
          </p:cNvPr>
          <p:cNvGrpSpPr/>
          <p:nvPr/>
        </p:nvGrpSpPr>
        <p:grpSpPr>
          <a:xfrm>
            <a:off x="5805098" y="3748182"/>
            <a:ext cx="1048547" cy="980054"/>
            <a:chOff x="5805098" y="3748182"/>
            <a:chExt cx="1048547" cy="980054"/>
          </a:xfrm>
        </p:grpSpPr>
        <p:cxnSp>
          <p:nvCxnSpPr>
            <p:cNvPr id="159" name="直接箭头连接符 158">
              <a:extLst>
                <a:ext uri="{FF2B5EF4-FFF2-40B4-BE49-F238E27FC236}">
                  <a16:creationId xmlns:a16="http://schemas.microsoft.com/office/drawing/2014/main" id="{2AF5810A-3926-868A-E628-FA34A9E696F0}"/>
                </a:ext>
              </a:extLst>
            </p:cNvPr>
            <p:cNvCxnSpPr>
              <a:cxnSpLocks/>
            </p:cNvCxnSpPr>
            <p:nvPr/>
          </p:nvCxnSpPr>
          <p:spPr>
            <a:xfrm>
              <a:off x="6834052" y="3748182"/>
              <a:ext cx="0" cy="980054"/>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5" name="直接连接符 164">
              <a:extLst>
                <a:ext uri="{FF2B5EF4-FFF2-40B4-BE49-F238E27FC236}">
                  <a16:creationId xmlns:a16="http://schemas.microsoft.com/office/drawing/2014/main" id="{66FA8F62-9244-2138-99F0-E0852C106759}"/>
                </a:ext>
              </a:extLst>
            </p:cNvPr>
            <p:cNvCxnSpPr>
              <a:cxnSpLocks/>
            </p:cNvCxnSpPr>
            <p:nvPr/>
          </p:nvCxnSpPr>
          <p:spPr>
            <a:xfrm flipH="1">
              <a:off x="5805098" y="3766918"/>
              <a:ext cx="1048547"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68" name="直接箭头连接符 167">
            <a:extLst>
              <a:ext uri="{FF2B5EF4-FFF2-40B4-BE49-F238E27FC236}">
                <a16:creationId xmlns:a16="http://schemas.microsoft.com/office/drawing/2014/main" id="{EBD1484E-8903-5A03-60C3-BFCBE445FCF5}"/>
              </a:ext>
            </a:extLst>
          </p:cNvPr>
          <p:cNvCxnSpPr>
            <a:cxnSpLocks/>
          </p:cNvCxnSpPr>
          <p:nvPr/>
        </p:nvCxnSpPr>
        <p:spPr>
          <a:xfrm>
            <a:off x="5259977" y="5178099"/>
            <a:ext cx="1069394"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882726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FFF63-17D7-5C4F-D5F1-462D3EB77662}"/>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C8A8ED79-3A97-61CA-E1A7-486AB1E0ED44}"/>
              </a:ext>
            </a:extLst>
          </p:cNvPr>
          <p:cNvSpPr txBox="1"/>
          <p:nvPr/>
        </p:nvSpPr>
        <p:spPr>
          <a:xfrm>
            <a:off x="166815" y="105032"/>
            <a:ext cx="5631670" cy="584775"/>
          </a:xfrm>
          <a:prstGeom prst="rect">
            <a:avLst/>
          </a:prstGeom>
          <a:noFill/>
        </p:spPr>
        <p:txBody>
          <a:bodyPr wrap="none" rtlCol="0">
            <a:spAutoFit/>
          </a:bodyPr>
          <a:lstStyle/>
          <a:p>
            <a:r>
              <a:rPr lang="en-US" altLang="zh-CN" sz="3200" b="1" dirty="0"/>
              <a:t>2.</a:t>
            </a:r>
            <a:r>
              <a:rPr lang="zh-CN" altLang="en-US" sz="3200" b="1" dirty="0"/>
              <a:t>研究成果：</a:t>
            </a:r>
            <a:r>
              <a:rPr lang="zh-CN" altLang="en-US" sz="2400" b="1" dirty="0"/>
              <a:t>数据预处理和流股构造</a:t>
            </a:r>
            <a:endParaRPr lang="zh-CN" altLang="en-US" sz="3200" b="1" dirty="0"/>
          </a:p>
        </p:txBody>
      </p:sp>
      <p:sp>
        <p:nvSpPr>
          <p:cNvPr id="4" name="灯片编号占位符 3">
            <a:extLst>
              <a:ext uri="{FF2B5EF4-FFF2-40B4-BE49-F238E27FC236}">
                <a16:creationId xmlns:a16="http://schemas.microsoft.com/office/drawing/2014/main" id="{6934966A-ACE6-1D0F-6E83-907D5007DB9B}"/>
              </a:ext>
            </a:extLst>
          </p:cNvPr>
          <p:cNvSpPr>
            <a:spLocks noGrp="1"/>
          </p:cNvSpPr>
          <p:nvPr>
            <p:ph type="sldNum" sz="quarter" idx="12"/>
          </p:nvPr>
        </p:nvSpPr>
        <p:spPr>
          <a:xfrm>
            <a:off x="11338560" y="6428700"/>
            <a:ext cx="787680" cy="316800"/>
          </a:xfrm>
        </p:spPr>
        <p:txBody>
          <a:bodyPr/>
          <a:lstStyle/>
          <a:p>
            <a:fld id="{49AE70B2-8BF9-45C0-BB95-33D1B9D3A854}" type="slidenum">
              <a:rPr lang="zh-CN" altLang="en-US" smtClean="0"/>
              <a:pPr/>
              <a:t>5</a:t>
            </a:fld>
            <a:endParaRPr lang="zh-CN" altLang="en-US" dirty="0"/>
          </a:p>
        </p:txBody>
      </p:sp>
      <p:sp>
        <p:nvSpPr>
          <p:cNvPr id="3" name="文本框 2">
            <a:extLst>
              <a:ext uri="{FF2B5EF4-FFF2-40B4-BE49-F238E27FC236}">
                <a16:creationId xmlns:a16="http://schemas.microsoft.com/office/drawing/2014/main" id="{233FB601-9F44-83C1-6EE0-89EB5FF8957F}"/>
              </a:ext>
            </a:extLst>
          </p:cNvPr>
          <p:cNvSpPr txBox="1"/>
          <p:nvPr/>
        </p:nvSpPr>
        <p:spPr>
          <a:xfrm>
            <a:off x="783771" y="1149388"/>
            <a:ext cx="10554789" cy="646331"/>
          </a:xfrm>
          <a:prstGeom prst="rect">
            <a:avLst/>
          </a:prstGeom>
          <a:noFill/>
        </p:spPr>
        <p:txBody>
          <a:bodyPr wrap="square" rtlCol="0">
            <a:spAutoFit/>
          </a:bodyPr>
          <a:lstStyle/>
          <a:p>
            <a:r>
              <a:rPr lang="zh-CN" altLang="en-US" b="1" dirty="0"/>
              <a:t>流股构造</a:t>
            </a:r>
            <a:r>
              <a:rPr lang="zh-CN" altLang="en-US" dirty="0"/>
              <a:t>：</a:t>
            </a:r>
            <a:r>
              <a:rPr lang="zh-CN" altLang="zh-CN" dirty="0"/>
              <a:t>基于燃气</a:t>
            </a:r>
            <a:r>
              <a:rPr lang="en-US" altLang="zh-CN" dirty="0"/>
              <a:t>—</a:t>
            </a:r>
            <a:r>
              <a:rPr lang="zh-CN" altLang="zh-CN" dirty="0"/>
              <a:t>蒸汽联合循环系统的热力学过程及能量传递路径，对原始运行数据进行系统梳理与筛选，提取共</a:t>
            </a:r>
            <a:r>
              <a:rPr lang="en-US" altLang="zh-CN" dirty="0"/>
              <a:t>110</a:t>
            </a:r>
            <a:r>
              <a:rPr lang="zh-CN" altLang="en-US" dirty="0"/>
              <a:t>处</a:t>
            </a:r>
            <a:r>
              <a:rPr lang="zh-CN" altLang="zh-CN" dirty="0"/>
              <a:t>测点变量。</a:t>
            </a:r>
            <a:r>
              <a:rPr lang="zh-CN" altLang="en-US" dirty="0"/>
              <a:t>构造全场共</a:t>
            </a:r>
            <a:r>
              <a:rPr lang="en-US" altLang="zh-CN" dirty="0"/>
              <a:t>66</a:t>
            </a:r>
            <a:r>
              <a:rPr lang="zh-CN" altLang="en-US" dirty="0"/>
              <a:t>处工质状态。</a:t>
            </a:r>
          </a:p>
        </p:txBody>
      </p:sp>
      <p:pic>
        <p:nvPicPr>
          <p:cNvPr id="8" name="图片 7">
            <a:extLst>
              <a:ext uri="{FF2B5EF4-FFF2-40B4-BE49-F238E27FC236}">
                <a16:creationId xmlns:a16="http://schemas.microsoft.com/office/drawing/2014/main" id="{F2708963-C3BF-AA96-EE91-012E92651DE5}"/>
              </a:ext>
            </a:extLst>
          </p:cNvPr>
          <p:cNvPicPr>
            <a:picLocks noChangeAspect="1"/>
          </p:cNvPicPr>
          <p:nvPr/>
        </p:nvPicPr>
        <p:blipFill>
          <a:blip r:embed="rId3" cstate="print">
            <a:extLst>
              <a:ext uri="{28A0092B-C50C-407E-A947-70E740481C1C}">
                <a14:useLocalDpi xmlns:a14="http://schemas.microsoft.com/office/drawing/2010/main" val="0"/>
              </a:ext>
            </a:extLst>
          </a:blip>
          <a:srcRect b="11672"/>
          <a:stretch>
            <a:fillRect/>
          </a:stretch>
        </p:blipFill>
        <p:spPr>
          <a:xfrm>
            <a:off x="3209447" y="2957440"/>
            <a:ext cx="5773106" cy="2863189"/>
          </a:xfrm>
          <a:prstGeom prst="rect">
            <a:avLst/>
          </a:prstGeom>
        </p:spPr>
      </p:pic>
      <p:sp>
        <p:nvSpPr>
          <p:cNvPr id="9" name="对话气泡: 矩形 8">
            <a:extLst>
              <a:ext uri="{FF2B5EF4-FFF2-40B4-BE49-F238E27FC236}">
                <a16:creationId xmlns:a16="http://schemas.microsoft.com/office/drawing/2014/main" id="{17540946-3063-AD42-81EA-34C5077D75B0}"/>
              </a:ext>
            </a:extLst>
          </p:cNvPr>
          <p:cNvSpPr/>
          <p:nvPr/>
        </p:nvSpPr>
        <p:spPr>
          <a:xfrm>
            <a:off x="1143849" y="2057261"/>
            <a:ext cx="2850405" cy="1236017"/>
          </a:xfrm>
          <a:prstGeom prst="wedgeRectCallout">
            <a:avLst>
              <a:gd name="adj1" fmla="val 96423"/>
              <a:gd name="adj2" fmla="val 78827"/>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对话气泡: 矩形 9">
            <a:extLst>
              <a:ext uri="{FF2B5EF4-FFF2-40B4-BE49-F238E27FC236}">
                <a16:creationId xmlns:a16="http://schemas.microsoft.com/office/drawing/2014/main" id="{910D4E64-110F-E3B1-C6C8-2C68D42B0C30}"/>
              </a:ext>
            </a:extLst>
          </p:cNvPr>
          <p:cNvSpPr/>
          <p:nvPr/>
        </p:nvSpPr>
        <p:spPr>
          <a:xfrm>
            <a:off x="1198179" y="5487155"/>
            <a:ext cx="2850405" cy="1236017"/>
          </a:xfrm>
          <a:prstGeom prst="wedgeRectCallout">
            <a:avLst>
              <a:gd name="adj1" fmla="val 137413"/>
              <a:gd name="adj2" fmla="val -111414"/>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对话气泡: 矩形 10">
            <a:extLst>
              <a:ext uri="{FF2B5EF4-FFF2-40B4-BE49-F238E27FC236}">
                <a16:creationId xmlns:a16="http://schemas.microsoft.com/office/drawing/2014/main" id="{A9302595-C0E1-F93C-0023-892FDAD8551D}"/>
              </a:ext>
            </a:extLst>
          </p:cNvPr>
          <p:cNvSpPr/>
          <p:nvPr/>
        </p:nvSpPr>
        <p:spPr>
          <a:xfrm>
            <a:off x="7089275" y="2077888"/>
            <a:ext cx="2850405" cy="1236017"/>
          </a:xfrm>
          <a:prstGeom prst="wedgeRectCallout">
            <a:avLst>
              <a:gd name="adj1" fmla="val -54404"/>
              <a:gd name="adj2" fmla="val 194539"/>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6A47FD6E-180C-9C76-BB55-D03EBAEEE086}"/>
              </a:ext>
            </a:extLst>
          </p:cNvPr>
          <p:cNvSpPr txBox="1"/>
          <p:nvPr/>
        </p:nvSpPr>
        <p:spPr>
          <a:xfrm>
            <a:off x="1496996" y="2372732"/>
            <a:ext cx="2144110" cy="646331"/>
          </a:xfrm>
          <a:prstGeom prst="rect">
            <a:avLst/>
          </a:prstGeom>
          <a:noFill/>
        </p:spPr>
        <p:txBody>
          <a:bodyPr wrap="square" rtlCol="0">
            <a:spAutoFit/>
          </a:bodyPr>
          <a:lstStyle/>
          <a:p>
            <a:r>
              <a:rPr lang="zh-CN" altLang="en-US" dirty="0"/>
              <a:t>余热锅炉侧高中低压汽水共</a:t>
            </a:r>
            <a:r>
              <a:rPr lang="en-US" altLang="zh-CN" dirty="0"/>
              <a:t>76</a:t>
            </a:r>
            <a:r>
              <a:rPr lang="zh-CN" altLang="en-US" dirty="0"/>
              <a:t>测点</a:t>
            </a:r>
            <a:endParaRPr lang="en-US" altLang="zh-CN" dirty="0"/>
          </a:p>
        </p:txBody>
      </p:sp>
      <p:sp>
        <p:nvSpPr>
          <p:cNvPr id="14" name="文本框 13">
            <a:extLst>
              <a:ext uri="{FF2B5EF4-FFF2-40B4-BE49-F238E27FC236}">
                <a16:creationId xmlns:a16="http://schemas.microsoft.com/office/drawing/2014/main" id="{3BC4AE3B-996F-126E-2C2A-68CA6C74BAB2}"/>
              </a:ext>
            </a:extLst>
          </p:cNvPr>
          <p:cNvSpPr txBox="1"/>
          <p:nvPr/>
        </p:nvSpPr>
        <p:spPr>
          <a:xfrm>
            <a:off x="1551327" y="5781997"/>
            <a:ext cx="2144110" cy="646331"/>
          </a:xfrm>
          <a:prstGeom prst="rect">
            <a:avLst/>
          </a:prstGeom>
          <a:noFill/>
        </p:spPr>
        <p:txBody>
          <a:bodyPr wrap="square" rtlCol="0">
            <a:spAutoFit/>
          </a:bodyPr>
          <a:lstStyle/>
          <a:p>
            <a:r>
              <a:rPr lang="zh-CN" altLang="en-US" dirty="0"/>
              <a:t>汽轮机高中低压缸共</a:t>
            </a:r>
            <a:r>
              <a:rPr lang="en-US" altLang="zh-CN" dirty="0"/>
              <a:t>7</a:t>
            </a:r>
            <a:r>
              <a:rPr lang="zh-CN" altLang="en-US" dirty="0"/>
              <a:t>测点</a:t>
            </a:r>
          </a:p>
        </p:txBody>
      </p:sp>
      <p:sp>
        <p:nvSpPr>
          <p:cNvPr id="15" name="文本框 14">
            <a:extLst>
              <a:ext uri="{FF2B5EF4-FFF2-40B4-BE49-F238E27FC236}">
                <a16:creationId xmlns:a16="http://schemas.microsoft.com/office/drawing/2014/main" id="{1EC67EAA-FBC4-9211-7268-CC7E9ABB46DB}"/>
              </a:ext>
            </a:extLst>
          </p:cNvPr>
          <p:cNvSpPr txBox="1"/>
          <p:nvPr/>
        </p:nvSpPr>
        <p:spPr>
          <a:xfrm>
            <a:off x="7520934" y="2372730"/>
            <a:ext cx="2144110" cy="646331"/>
          </a:xfrm>
          <a:prstGeom prst="rect">
            <a:avLst/>
          </a:prstGeom>
          <a:noFill/>
        </p:spPr>
        <p:txBody>
          <a:bodyPr wrap="square" rtlCol="0">
            <a:spAutoFit/>
          </a:bodyPr>
          <a:lstStyle/>
          <a:p>
            <a:r>
              <a:rPr lang="zh-CN" altLang="en-US" dirty="0"/>
              <a:t>给水泵、节流阀、凝汽器等共</a:t>
            </a:r>
            <a:r>
              <a:rPr lang="en-US" altLang="zh-CN" dirty="0"/>
              <a:t>13</a:t>
            </a:r>
            <a:r>
              <a:rPr lang="zh-CN" altLang="en-US" dirty="0"/>
              <a:t>测点</a:t>
            </a:r>
          </a:p>
        </p:txBody>
      </p:sp>
      <p:grpSp>
        <p:nvGrpSpPr>
          <p:cNvPr id="7" name="组合 6">
            <a:extLst>
              <a:ext uri="{FF2B5EF4-FFF2-40B4-BE49-F238E27FC236}">
                <a16:creationId xmlns:a16="http://schemas.microsoft.com/office/drawing/2014/main" id="{FF69CF46-DD85-25B7-1ACD-64CDD856D56F}"/>
              </a:ext>
            </a:extLst>
          </p:cNvPr>
          <p:cNvGrpSpPr/>
          <p:nvPr/>
        </p:nvGrpSpPr>
        <p:grpSpPr>
          <a:xfrm>
            <a:off x="190238" y="3771025"/>
            <a:ext cx="2850405" cy="1236017"/>
            <a:chOff x="71794" y="3893258"/>
            <a:chExt cx="2850405" cy="1236017"/>
          </a:xfrm>
        </p:grpSpPr>
        <p:sp>
          <p:nvSpPr>
            <p:cNvPr id="5" name="对话气泡: 矩形 4">
              <a:extLst>
                <a:ext uri="{FF2B5EF4-FFF2-40B4-BE49-F238E27FC236}">
                  <a16:creationId xmlns:a16="http://schemas.microsoft.com/office/drawing/2014/main" id="{772C5D18-22F0-C06A-5236-8AACDDAAFFCF}"/>
                </a:ext>
              </a:extLst>
            </p:cNvPr>
            <p:cNvSpPr/>
            <p:nvPr/>
          </p:nvSpPr>
          <p:spPr>
            <a:xfrm>
              <a:off x="71794" y="3893258"/>
              <a:ext cx="2850405" cy="1236017"/>
            </a:xfrm>
            <a:prstGeom prst="wedgeRectCallout">
              <a:avLst>
                <a:gd name="adj1" fmla="val 101957"/>
                <a:gd name="adj2" fmla="val 22640"/>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文本框 5">
              <a:extLst>
                <a:ext uri="{FF2B5EF4-FFF2-40B4-BE49-F238E27FC236}">
                  <a16:creationId xmlns:a16="http://schemas.microsoft.com/office/drawing/2014/main" id="{162F9795-EB73-300C-C570-1372666069E6}"/>
                </a:ext>
              </a:extLst>
            </p:cNvPr>
            <p:cNvSpPr txBox="1"/>
            <p:nvPr/>
          </p:nvSpPr>
          <p:spPr>
            <a:xfrm>
              <a:off x="424941" y="4327783"/>
              <a:ext cx="2144110" cy="369332"/>
            </a:xfrm>
            <a:prstGeom prst="rect">
              <a:avLst/>
            </a:prstGeom>
            <a:noFill/>
          </p:spPr>
          <p:txBody>
            <a:bodyPr wrap="square" rtlCol="0">
              <a:spAutoFit/>
            </a:bodyPr>
            <a:lstStyle/>
            <a:p>
              <a:r>
                <a:rPr lang="zh-CN" altLang="en-US" dirty="0"/>
                <a:t>燃气轮机侧</a:t>
              </a:r>
              <a:r>
                <a:rPr lang="en-US" altLang="zh-CN" dirty="0"/>
                <a:t>14</a:t>
              </a:r>
              <a:r>
                <a:rPr lang="zh-CN" altLang="en-US" dirty="0"/>
                <a:t>测点</a:t>
              </a:r>
            </a:p>
          </p:txBody>
        </p:sp>
      </p:grpSp>
      <p:grpSp>
        <p:nvGrpSpPr>
          <p:cNvPr id="18" name="组合 17">
            <a:extLst>
              <a:ext uri="{FF2B5EF4-FFF2-40B4-BE49-F238E27FC236}">
                <a16:creationId xmlns:a16="http://schemas.microsoft.com/office/drawing/2014/main" id="{C8788E71-81AE-F762-EB82-78FFCA3130D0}"/>
              </a:ext>
            </a:extLst>
          </p:cNvPr>
          <p:cNvGrpSpPr/>
          <p:nvPr/>
        </p:nvGrpSpPr>
        <p:grpSpPr>
          <a:xfrm>
            <a:off x="8982553" y="4545980"/>
            <a:ext cx="2850405" cy="1236017"/>
            <a:chOff x="8881995" y="5413497"/>
            <a:chExt cx="2850405" cy="1236017"/>
          </a:xfrm>
        </p:grpSpPr>
        <p:sp>
          <p:nvSpPr>
            <p:cNvPr id="12" name="对话气泡: 矩形 11">
              <a:extLst>
                <a:ext uri="{FF2B5EF4-FFF2-40B4-BE49-F238E27FC236}">
                  <a16:creationId xmlns:a16="http://schemas.microsoft.com/office/drawing/2014/main" id="{9BB4EAFC-D20D-78D5-1136-CA2460280613}"/>
                </a:ext>
              </a:extLst>
            </p:cNvPr>
            <p:cNvSpPr/>
            <p:nvPr/>
          </p:nvSpPr>
          <p:spPr>
            <a:xfrm>
              <a:off x="8881995" y="5413497"/>
              <a:ext cx="2850405" cy="1236017"/>
            </a:xfrm>
            <a:prstGeom prst="wedgeRectCallout">
              <a:avLst>
                <a:gd name="adj1" fmla="val -19353"/>
                <a:gd name="adj2" fmla="val 24316"/>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a:extLst>
                <a:ext uri="{FF2B5EF4-FFF2-40B4-BE49-F238E27FC236}">
                  <a16:creationId xmlns:a16="http://schemas.microsoft.com/office/drawing/2014/main" id="{A779C565-0C30-17CC-320C-BDAB9968F210}"/>
                </a:ext>
              </a:extLst>
            </p:cNvPr>
            <p:cNvSpPr txBox="1"/>
            <p:nvPr/>
          </p:nvSpPr>
          <p:spPr>
            <a:xfrm>
              <a:off x="8992377" y="5708612"/>
              <a:ext cx="2629639" cy="646331"/>
            </a:xfrm>
            <a:prstGeom prst="rect">
              <a:avLst/>
            </a:prstGeom>
            <a:noFill/>
          </p:spPr>
          <p:txBody>
            <a:bodyPr wrap="square" rtlCol="0">
              <a:spAutoFit/>
            </a:bodyPr>
            <a:lstStyle/>
            <a:p>
              <a:pPr algn="ctr"/>
              <a:r>
                <a:rPr lang="zh-CN" altLang="en-US" b="1" dirty="0"/>
                <a:t>构造</a:t>
              </a:r>
              <a:r>
                <a:rPr lang="en-US" altLang="zh-CN" b="1" dirty="0"/>
                <a:t>56</a:t>
              </a:r>
              <a:r>
                <a:rPr lang="zh-CN" altLang="en-US" b="1" dirty="0"/>
                <a:t>处汽水工质状态</a:t>
              </a:r>
              <a:endParaRPr lang="en-US" altLang="zh-CN" b="1" dirty="0"/>
            </a:p>
            <a:p>
              <a:pPr algn="ctr"/>
              <a:r>
                <a:rPr lang="en-US" altLang="zh-CN" b="1" dirty="0"/>
                <a:t>10</a:t>
              </a:r>
              <a:r>
                <a:rPr lang="zh-CN" altLang="en-US" b="1" dirty="0"/>
                <a:t>处气体工质状态</a:t>
              </a:r>
            </a:p>
          </p:txBody>
        </p:sp>
      </p:grpSp>
    </p:spTree>
    <p:extLst>
      <p:ext uri="{BB962C8B-B14F-4D97-AF65-F5344CB8AC3E}">
        <p14:creationId xmlns:p14="http://schemas.microsoft.com/office/powerpoint/2010/main" val="5793821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91D348-C42F-58BA-0E24-B3475F4B88B0}"/>
            </a:ext>
          </a:extLst>
        </p:cNvPr>
        <p:cNvGrpSpPr/>
        <p:nvPr/>
      </p:nvGrpSpPr>
      <p:grpSpPr>
        <a:xfrm>
          <a:off x="0" y="0"/>
          <a:ext cx="0" cy="0"/>
          <a:chOff x="0" y="0"/>
          <a:chExt cx="0" cy="0"/>
        </a:xfrm>
      </p:grpSpPr>
      <p:pic>
        <p:nvPicPr>
          <p:cNvPr id="63" name="图片 62">
            <a:extLst>
              <a:ext uri="{FF2B5EF4-FFF2-40B4-BE49-F238E27FC236}">
                <a16:creationId xmlns:a16="http://schemas.microsoft.com/office/drawing/2014/main" id="{CCACD78A-A2D3-A1CA-CC8C-2ECEF3D1B4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17984" y="1795719"/>
            <a:ext cx="5014416" cy="4502945"/>
          </a:xfrm>
          <a:prstGeom prst="rect">
            <a:avLst/>
          </a:prstGeom>
        </p:spPr>
      </p:pic>
      <p:sp>
        <p:nvSpPr>
          <p:cNvPr id="2" name="文本框 1">
            <a:extLst>
              <a:ext uri="{FF2B5EF4-FFF2-40B4-BE49-F238E27FC236}">
                <a16:creationId xmlns:a16="http://schemas.microsoft.com/office/drawing/2014/main" id="{9E2F2140-020B-7F6A-4FD0-2F583A56F151}"/>
              </a:ext>
            </a:extLst>
          </p:cNvPr>
          <p:cNvSpPr txBox="1"/>
          <p:nvPr/>
        </p:nvSpPr>
        <p:spPr>
          <a:xfrm>
            <a:off x="166815" y="105032"/>
            <a:ext cx="5102102" cy="584775"/>
          </a:xfrm>
          <a:prstGeom prst="rect">
            <a:avLst/>
          </a:prstGeom>
          <a:noFill/>
        </p:spPr>
        <p:txBody>
          <a:bodyPr wrap="none" rtlCol="0">
            <a:spAutoFit/>
          </a:bodyPr>
          <a:lstStyle/>
          <a:p>
            <a:r>
              <a:rPr lang="en-US" altLang="zh-CN" sz="3200" b="1" dirty="0"/>
              <a:t>2.</a:t>
            </a:r>
            <a:r>
              <a:rPr lang="zh-CN" altLang="en-US" sz="3200" b="1" dirty="0"/>
              <a:t>研究成果：</a:t>
            </a:r>
            <a:r>
              <a:rPr lang="zh-CN" altLang="en-US" sz="2400" b="1" dirty="0"/>
              <a:t>燃气轮机分析方法</a:t>
            </a:r>
          </a:p>
        </p:txBody>
      </p:sp>
      <p:sp>
        <p:nvSpPr>
          <p:cNvPr id="4" name="灯片编号占位符 3">
            <a:extLst>
              <a:ext uri="{FF2B5EF4-FFF2-40B4-BE49-F238E27FC236}">
                <a16:creationId xmlns:a16="http://schemas.microsoft.com/office/drawing/2014/main" id="{C848E491-0BBC-8E5B-2030-5664EFB92941}"/>
              </a:ext>
            </a:extLst>
          </p:cNvPr>
          <p:cNvSpPr>
            <a:spLocks noGrp="1"/>
          </p:cNvSpPr>
          <p:nvPr>
            <p:ph type="sldNum" sz="quarter" idx="12"/>
          </p:nvPr>
        </p:nvSpPr>
        <p:spPr>
          <a:xfrm>
            <a:off x="11338560" y="6428700"/>
            <a:ext cx="787680" cy="316800"/>
          </a:xfrm>
        </p:spPr>
        <p:txBody>
          <a:bodyPr/>
          <a:lstStyle/>
          <a:p>
            <a:fld id="{49AE70B2-8BF9-45C0-BB95-33D1B9D3A854}" type="slidenum">
              <a:rPr lang="zh-CN" altLang="en-US" smtClean="0"/>
              <a:pPr/>
              <a:t>6</a:t>
            </a:fld>
            <a:endParaRPr lang="zh-CN" altLang="en-US" dirty="0"/>
          </a:p>
        </p:txBody>
      </p:sp>
      <p:sp>
        <p:nvSpPr>
          <p:cNvPr id="6" name="文本框 5">
            <a:extLst>
              <a:ext uri="{FF2B5EF4-FFF2-40B4-BE49-F238E27FC236}">
                <a16:creationId xmlns:a16="http://schemas.microsoft.com/office/drawing/2014/main" id="{97B48D79-68E2-4D8D-9DD3-20BF7461548C}"/>
              </a:ext>
            </a:extLst>
          </p:cNvPr>
          <p:cNvSpPr txBox="1"/>
          <p:nvPr/>
        </p:nvSpPr>
        <p:spPr>
          <a:xfrm>
            <a:off x="783771" y="1149388"/>
            <a:ext cx="10554789" cy="646331"/>
          </a:xfrm>
          <a:prstGeom prst="rect">
            <a:avLst/>
          </a:prstGeom>
          <a:noFill/>
        </p:spPr>
        <p:txBody>
          <a:bodyPr wrap="square" rtlCol="0">
            <a:spAutoFit/>
          </a:bodyPr>
          <a:lstStyle/>
          <a:p>
            <a:r>
              <a:rPr lang="zh-CN" altLang="en-US" b="1" dirty="0"/>
              <a:t>燃气轮机的建模方法</a:t>
            </a:r>
            <a:r>
              <a:rPr lang="zh-CN" altLang="en-US" dirty="0"/>
              <a:t>：分别以压气机、燃烧室和透平作为分析对象。其中压气机采用参数化方法处理冷却抽气，燃烧室根据燃料组分和空气流量计算燃烧室温度，透平采用等效冷却掺混模型。</a:t>
            </a:r>
            <a:endParaRPr lang="en-US" altLang="zh-CN" dirty="0"/>
          </a:p>
        </p:txBody>
      </p:sp>
      <p:graphicFrame>
        <p:nvGraphicFramePr>
          <p:cNvPr id="61" name="表格 60">
            <a:extLst>
              <a:ext uri="{FF2B5EF4-FFF2-40B4-BE49-F238E27FC236}">
                <a16:creationId xmlns:a16="http://schemas.microsoft.com/office/drawing/2014/main" id="{FB938474-DA76-0D25-F97F-EA9C82919FAB}"/>
              </a:ext>
            </a:extLst>
          </p:cNvPr>
          <p:cNvGraphicFramePr>
            <a:graphicFrameLocks noGrp="1"/>
          </p:cNvGraphicFramePr>
          <p:nvPr>
            <p:extLst>
              <p:ext uri="{D42A27DB-BD31-4B8C-83A1-F6EECF244321}">
                <p14:modId xmlns:p14="http://schemas.microsoft.com/office/powerpoint/2010/main" val="198401571"/>
              </p:ext>
            </p:extLst>
          </p:nvPr>
        </p:nvGraphicFramePr>
        <p:xfrm>
          <a:off x="959621" y="5023551"/>
          <a:ext cx="5653902" cy="1219200"/>
        </p:xfrm>
        <a:graphic>
          <a:graphicData uri="http://schemas.openxmlformats.org/drawingml/2006/table">
            <a:tbl>
              <a:tblPr firstRow="1" bandRow="1">
                <a:tableStyleId>{5C22544A-7EE6-4342-B048-85BDC9FD1C3A}</a:tableStyleId>
              </a:tblPr>
              <a:tblGrid>
                <a:gridCol w="1884634">
                  <a:extLst>
                    <a:ext uri="{9D8B030D-6E8A-4147-A177-3AD203B41FA5}">
                      <a16:colId xmlns:a16="http://schemas.microsoft.com/office/drawing/2014/main" val="1360722522"/>
                    </a:ext>
                  </a:extLst>
                </a:gridCol>
                <a:gridCol w="1884634">
                  <a:extLst>
                    <a:ext uri="{9D8B030D-6E8A-4147-A177-3AD203B41FA5}">
                      <a16:colId xmlns:a16="http://schemas.microsoft.com/office/drawing/2014/main" val="2672011578"/>
                    </a:ext>
                  </a:extLst>
                </a:gridCol>
                <a:gridCol w="1884634">
                  <a:extLst>
                    <a:ext uri="{9D8B030D-6E8A-4147-A177-3AD203B41FA5}">
                      <a16:colId xmlns:a16="http://schemas.microsoft.com/office/drawing/2014/main" val="2684123699"/>
                    </a:ext>
                  </a:extLst>
                </a:gridCol>
              </a:tblGrid>
              <a:tr h="285218">
                <a:tc>
                  <a:txBody>
                    <a:bodyPr/>
                    <a:lstStyle/>
                    <a:p>
                      <a:pPr algn="ctr"/>
                      <a:r>
                        <a:rPr lang="zh-CN" altLang="en-US" sz="1400" dirty="0"/>
                        <a:t>工况</a:t>
                      </a:r>
                    </a:p>
                  </a:txBody>
                  <a:tcPr/>
                </a:tc>
                <a:tc>
                  <a:txBody>
                    <a:bodyPr/>
                    <a:lstStyle/>
                    <a:p>
                      <a:pPr algn="ctr"/>
                      <a:r>
                        <a:rPr lang="zh-CN" altLang="en-US" sz="1400" dirty="0"/>
                        <a:t>低负荷区间</a:t>
                      </a:r>
                    </a:p>
                  </a:txBody>
                  <a:tcPr/>
                </a:tc>
                <a:tc>
                  <a:txBody>
                    <a:bodyPr/>
                    <a:lstStyle/>
                    <a:p>
                      <a:pPr algn="ctr"/>
                      <a:r>
                        <a:rPr lang="zh-CN" altLang="en-US" sz="1400" dirty="0"/>
                        <a:t>高负荷区间</a:t>
                      </a:r>
                    </a:p>
                  </a:txBody>
                  <a:tcPr/>
                </a:tc>
                <a:extLst>
                  <a:ext uri="{0D108BD9-81ED-4DB2-BD59-A6C34878D82A}">
                    <a16:rowId xmlns:a16="http://schemas.microsoft.com/office/drawing/2014/main" val="2003463613"/>
                  </a:ext>
                </a:extLst>
              </a:tr>
              <a:tr h="285218">
                <a:tc>
                  <a:txBody>
                    <a:bodyPr/>
                    <a:lstStyle/>
                    <a:p>
                      <a:pPr algn="ctr"/>
                      <a:r>
                        <a:rPr lang="zh-CN" altLang="en-US" sz="1400" dirty="0"/>
                        <a:t>夏季工况</a:t>
                      </a:r>
                    </a:p>
                  </a:txBody>
                  <a:tcPr/>
                </a:tc>
                <a:tc>
                  <a:txBody>
                    <a:bodyPr/>
                    <a:lstStyle/>
                    <a:p>
                      <a:pPr algn="ctr"/>
                      <a:r>
                        <a:rPr lang="en-US" altLang="zh-CN" sz="1400" dirty="0"/>
                        <a:t>4.20%</a:t>
                      </a:r>
                      <a:endParaRPr lang="zh-CN" altLang="en-US" sz="1400" dirty="0"/>
                    </a:p>
                  </a:txBody>
                  <a:tcPr/>
                </a:tc>
                <a:tc>
                  <a:txBody>
                    <a:bodyPr/>
                    <a:lstStyle/>
                    <a:p>
                      <a:pPr algn="ctr"/>
                      <a:r>
                        <a:rPr lang="en-US" altLang="zh-CN" sz="1400" dirty="0"/>
                        <a:t>3.11%</a:t>
                      </a:r>
                      <a:endParaRPr lang="zh-CN" altLang="en-US" sz="1400" dirty="0"/>
                    </a:p>
                  </a:txBody>
                  <a:tcPr/>
                </a:tc>
                <a:extLst>
                  <a:ext uri="{0D108BD9-81ED-4DB2-BD59-A6C34878D82A}">
                    <a16:rowId xmlns:a16="http://schemas.microsoft.com/office/drawing/2014/main" val="3608239036"/>
                  </a:ext>
                </a:extLst>
              </a:tr>
              <a:tr h="285218">
                <a:tc>
                  <a:txBody>
                    <a:bodyPr/>
                    <a:lstStyle/>
                    <a:p>
                      <a:pPr algn="ctr"/>
                      <a:r>
                        <a:rPr lang="zh-CN" altLang="en-US" sz="1400" dirty="0"/>
                        <a:t>冬季工况</a:t>
                      </a:r>
                    </a:p>
                  </a:txBody>
                  <a:tcPr/>
                </a:tc>
                <a:tc>
                  <a:txBody>
                    <a:bodyPr/>
                    <a:lstStyle/>
                    <a:p>
                      <a:pPr algn="ctr"/>
                      <a:r>
                        <a:rPr lang="en-US" altLang="zh-CN" sz="1400" dirty="0"/>
                        <a:t>3.64%</a:t>
                      </a:r>
                      <a:endParaRPr lang="zh-CN" altLang="en-US" sz="1400" dirty="0"/>
                    </a:p>
                  </a:txBody>
                  <a:tcPr/>
                </a:tc>
                <a:tc>
                  <a:txBody>
                    <a:bodyPr/>
                    <a:lstStyle/>
                    <a:p>
                      <a:pPr algn="ctr"/>
                      <a:r>
                        <a:rPr lang="en-US" altLang="zh-CN" sz="1400" dirty="0"/>
                        <a:t>7.30%</a:t>
                      </a:r>
                      <a:endParaRPr lang="zh-CN" altLang="en-US" sz="1400" dirty="0"/>
                    </a:p>
                  </a:txBody>
                  <a:tcPr/>
                </a:tc>
                <a:extLst>
                  <a:ext uri="{0D108BD9-81ED-4DB2-BD59-A6C34878D82A}">
                    <a16:rowId xmlns:a16="http://schemas.microsoft.com/office/drawing/2014/main" val="1601402454"/>
                  </a:ext>
                </a:extLst>
              </a:tr>
              <a:tr h="285218">
                <a:tc>
                  <a:txBody>
                    <a:bodyPr/>
                    <a:lstStyle/>
                    <a:p>
                      <a:pPr algn="ctr"/>
                      <a:r>
                        <a:rPr lang="zh-CN" altLang="en-US" sz="1400" dirty="0"/>
                        <a:t>全工况</a:t>
                      </a:r>
                    </a:p>
                  </a:txBody>
                  <a:tcPr/>
                </a:tc>
                <a:tc>
                  <a:txBody>
                    <a:bodyPr/>
                    <a:lstStyle/>
                    <a:p>
                      <a:pPr algn="ctr"/>
                      <a:r>
                        <a:rPr lang="en-US" altLang="zh-CN" sz="1400" dirty="0"/>
                        <a:t>4.04%</a:t>
                      </a:r>
                      <a:endParaRPr lang="zh-CN" altLang="en-US" sz="1400" dirty="0"/>
                    </a:p>
                  </a:txBody>
                  <a:tcPr/>
                </a:tc>
                <a:tc>
                  <a:txBody>
                    <a:bodyPr/>
                    <a:lstStyle/>
                    <a:p>
                      <a:pPr algn="ctr"/>
                      <a:r>
                        <a:rPr lang="en-US" altLang="zh-CN" sz="1400" dirty="0"/>
                        <a:t>8.41%</a:t>
                      </a:r>
                      <a:endParaRPr lang="zh-CN" altLang="en-US" sz="1400" dirty="0"/>
                    </a:p>
                  </a:txBody>
                  <a:tcPr/>
                </a:tc>
                <a:extLst>
                  <a:ext uri="{0D108BD9-81ED-4DB2-BD59-A6C34878D82A}">
                    <a16:rowId xmlns:a16="http://schemas.microsoft.com/office/drawing/2014/main" val="1523917604"/>
                  </a:ext>
                </a:extLst>
              </a:tr>
            </a:tbl>
          </a:graphicData>
        </a:graphic>
      </p:graphicFrame>
      <p:pic>
        <p:nvPicPr>
          <p:cNvPr id="68" name="图片 67">
            <a:extLst>
              <a:ext uri="{FF2B5EF4-FFF2-40B4-BE49-F238E27FC236}">
                <a16:creationId xmlns:a16="http://schemas.microsoft.com/office/drawing/2014/main" id="{054CEEBC-97CD-DA2B-A2EB-36440EBDAB00}"/>
              </a:ext>
            </a:extLst>
          </p:cNvPr>
          <p:cNvPicPr>
            <a:picLocks noChangeAspect="1"/>
          </p:cNvPicPr>
          <p:nvPr/>
        </p:nvPicPr>
        <p:blipFill>
          <a:blip r:embed="rId4"/>
          <a:stretch>
            <a:fillRect/>
          </a:stretch>
        </p:blipFill>
        <p:spPr>
          <a:xfrm>
            <a:off x="1095633" y="1834449"/>
            <a:ext cx="5329881" cy="2942802"/>
          </a:xfrm>
          <a:prstGeom prst="rect">
            <a:avLst/>
          </a:prstGeom>
        </p:spPr>
      </p:pic>
    </p:spTree>
    <p:extLst>
      <p:ext uri="{BB962C8B-B14F-4D97-AF65-F5344CB8AC3E}">
        <p14:creationId xmlns:p14="http://schemas.microsoft.com/office/powerpoint/2010/main" val="35244045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06A505-A48A-5F8E-4D47-476846D6876A}"/>
            </a:ext>
          </a:extLst>
        </p:cNvPr>
        <p:cNvGrpSpPr/>
        <p:nvPr/>
      </p:nvGrpSpPr>
      <p:grpSpPr>
        <a:xfrm>
          <a:off x="0" y="0"/>
          <a:ext cx="0" cy="0"/>
          <a:chOff x="0" y="0"/>
          <a:chExt cx="0" cy="0"/>
        </a:xfrm>
      </p:grpSpPr>
      <p:pic>
        <p:nvPicPr>
          <p:cNvPr id="8" name="图片 7">
            <a:extLst>
              <a:ext uri="{FF2B5EF4-FFF2-40B4-BE49-F238E27FC236}">
                <a16:creationId xmlns:a16="http://schemas.microsoft.com/office/drawing/2014/main" id="{FA4D5FEE-4CD3-E020-0541-34D0CF016F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073555"/>
            <a:ext cx="4792363" cy="4303542"/>
          </a:xfrm>
          <a:prstGeom prst="rect">
            <a:avLst/>
          </a:prstGeom>
        </p:spPr>
      </p:pic>
      <p:sp>
        <p:nvSpPr>
          <p:cNvPr id="2" name="文本框 1">
            <a:extLst>
              <a:ext uri="{FF2B5EF4-FFF2-40B4-BE49-F238E27FC236}">
                <a16:creationId xmlns:a16="http://schemas.microsoft.com/office/drawing/2014/main" id="{339D29A3-4E6B-DB4B-BC38-952B5594E796}"/>
              </a:ext>
            </a:extLst>
          </p:cNvPr>
          <p:cNvSpPr txBox="1"/>
          <p:nvPr/>
        </p:nvSpPr>
        <p:spPr>
          <a:xfrm>
            <a:off x="166815" y="105032"/>
            <a:ext cx="5102102" cy="584775"/>
          </a:xfrm>
          <a:prstGeom prst="rect">
            <a:avLst/>
          </a:prstGeom>
          <a:noFill/>
        </p:spPr>
        <p:txBody>
          <a:bodyPr wrap="none" rtlCol="0">
            <a:spAutoFit/>
          </a:bodyPr>
          <a:lstStyle/>
          <a:p>
            <a:r>
              <a:rPr lang="en-US" altLang="zh-CN" sz="3200" b="1" dirty="0"/>
              <a:t>2.</a:t>
            </a:r>
            <a:r>
              <a:rPr lang="zh-CN" altLang="en-US" sz="3200" b="1" dirty="0"/>
              <a:t>研究成果：</a:t>
            </a:r>
            <a:r>
              <a:rPr lang="zh-CN" altLang="en-US" sz="2400" b="1" dirty="0"/>
              <a:t>燃气轮机结果分析</a:t>
            </a:r>
          </a:p>
        </p:txBody>
      </p:sp>
      <p:sp>
        <p:nvSpPr>
          <p:cNvPr id="4" name="灯片编号占位符 3">
            <a:extLst>
              <a:ext uri="{FF2B5EF4-FFF2-40B4-BE49-F238E27FC236}">
                <a16:creationId xmlns:a16="http://schemas.microsoft.com/office/drawing/2014/main" id="{BC674324-9440-40B9-616B-1069D8A27637}"/>
              </a:ext>
            </a:extLst>
          </p:cNvPr>
          <p:cNvSpPr>
            <a:spLocks noGrp="1"/>
          </p:cNvSpPr>
          <p:nvPr>
            <p:ph type="sldNum" sz="quarter" idx="12"/>
          </p:nvPr>
        </p:nvSpPr>
        <p:spPr>
          <a:xfrm>
            <a:off x="11338560" y="6428700"/>
            <a:ext cx="787680" cy="316800"/>
          </a:xfrm>
        </p:spPr>
        <p:txBody>
          <a:bodyPr/>
          <a:lstStyle/>
          <a:p>
            <a:fld id="{49AE70B2-8BF9-45C0-BB95-33D1B9D3A854}" type="slidenum">
              <a:rPr lang="zh-CN" altLang="en-US" smtClean="0"/>
              <a:pPr/>
              <a:t>7</a:t>
            </a:fld>
            <a:endParaRPr lang="zh-CN" altLang="en-US" dirty="0"/>
          </a:p>
        </p:txBody>
      </p:sp>
      <p:sp>
        <p:nvSpPr>
          <p:cNvPr id="10" name="文本框 9">
            <a:extLst>
              <a:ext uri="{FF2B5EF4-FFF2-40B4-BE49-F238E27FC236}">
                <a16:creationId xmlns:a16="http://schemas.microsoft.com/office/drawing/2014/main" id="{0DD933F8-CEED-6634-65E9-97D26936797B}"/>
              </a:ext>
            </a:extLst>
          </p:cNvPr>
          <p:cNvSpPr txBox="1"/>
          <p:nvPr/>
        </p:nvSpPr>
        <p:spPr>
          <a:xfrm>
            <a:off x="818605" y="1211939"/>
            <a:ext cx="10554789" cy="923330"/>
          </a:xfrm>
          <a:prstGeom prst="rect">
            <a:avLst/>
          </a:prstGeom>
          <a:noFill/>
        </p:spPr>
        <p:txBody>
          <a:bodyPr wrap="square" rtlCol="0">
            <a:spAutoFit/>
          </a:bodyPr>
          <a:lstStyle/>
          <a:p>
            <a:r>
              <a:rPr lang="zh-CN" altLang="en-US" b="1" dirty="0"/>
              <a:t>计算性能参数</a:t>
            </a:r>
            <a:r>
              <a:rPr lang="zh-CN" altLang="en-US" b="1" dirty="0">
                <a:sym typeface="Wingdings" panose="05000000000000000000" pitchFamily="2" charset="2"/>
              </a:rPr>
              <a:t>：（</a:t>
            </a:r>
            <a:r>
              <a:rPr lang="en-US" altLang="zh-CN" b="1" dirty="0">
                <a:sym typeface="Wingdings" panose="05000000000000000000" pitchFamily="2" charset="2"/>
              </a:rPr>
              <a:t>1</a:t>
            </a:r>
            <a:r>
              <a:rPr lang="zh-CN" altLang="en-US" b="1" dirty="0">
                <a:sym typeface="Wingdings" panose="05000000000000000000" pitchFamily="2" charset="2"/>
              </a:rPr>
              <a:t>）</a:t>
            </a:r>
            <a:r>
              <a:rPr lang="zh-CN" altLang="en-US" b="1" dirty="0"/>
              <a:t>压气机：</a:t>
            </a:r>
            <a:r>
              <a:rPr lang="zh-CN" altLang="en-US" dirty="0"/>
              <a:t>等熵效率，㶲效率，等熵损失，耗功；</a:t>
            </a:r>
            <a:r>
              <a:rPr lang="zh-CN" altLang="en-US" b="1" dirty="0"/>
              <a:t>（</a:t>
            </a:r>
            <a:r>
              <a:rPr lang="en-US" altLang="zh-CN" b="1" dirty="0"/>
              <a:t>2</a:t>
            </a:r>
            <a:r>
              <a:rPr lang="zh-CN" altLang="en-US" b="1" dirty="0"/>
              <a:t>）透平：</a:t>
            </a:r>
            <a:r>
              <a:rPr lang="zh-CN" altLang="en-US" dirty="0"/>
              <a:t>等熵效率，㶲效率，等熵损失，输出功；</a:t>
            </a:r>
            <a:r>
              <a:rPr lang="zh-CN" altLang="en-US" b="1" dirty="0"/>
              <a:t>（</a:t>
            </a:r>
            <a:r>
              <a:rPr lang="en-US" altLang="zh-CN" b="1" dirty="0"/>
              <a:t>3</a:t>
            </a:r>
            <a:r>
              <a:rPr lang="zh-CN" altLang="en-US" b="1" dirty="0"/>
              <a:t>）燃烧室：</a:t>
            </a:r>
            <a:r>
              <a:rPr lang="zh-CN" altLang="en-US" dirty="0"/>
              <a:t>燃料低热值，压力损失，出口温度；</a:t>
            </a:r>
            <a:r>
              <a:rPr lang="zh-CN" altLang="en-US" b="1" dirty="0"/>
              <a:t>（</a:t>
            </a:r>
            <a:r>
              <a:rPr lang="en-US" altLang="zh-CN" b="1" dirty="0"/>
              <a:t>4</a:t>
            </a:r>
            <a:r>
              <a:rPr lang="zh-CN" altLang="en-US" b="1" dirty="0"/>
              <a:t>）整机：</a:t>
            </a:r>
            <a:r>
              <a:rPr lang="zh-CN" altLang="en-US" dirty="0"/>
              <a:t>计算功率，热效率，能量分配比例</a:t>
            </a:r>
          </a:p>
        </p:txBody>
      </p:sp>
      <p:pic>
        <p:nvPicPr>
          <p:cNvPr id="48" name="图片 47">
            <a:extLst>
              <a:ext uri="{FF2B5EF4-FFF2-40B4-BE49-F238E27FC236}">
                <a16:creationId xmlns:a16="http://schemas.microsoft.com/office/drawing/2014/main" id="{A0075B98-84B4-BB64-4D48-D8BC87B5731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594156" y="2532051"/>
            <a:ext cx="7441325" cy="3235802"/>
          </a:xfrm>
          <a:prstGeom prst="rect">
            <a:avLst/>
          </a:prstGeom>
        </p:spPr>
      </p:pic>
    </p:spTree>
    <p:extLst>
      <p:ext uri="{BB962C8B-B14F-4D97-AF65-F5344CB8AC3E}">
        <p14:creationId xmlns:p14="http://schemas.microsoft.com/office/powerpoint/2010/main" val="39255028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4AB3AD-11BB-37F4-ADC7-85ED1E5AC213}"/>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403E220A-DA70-5C21-4B53-B06FCEF1040F}"/>
              </a:ext>
            </a:extLst>
          </p:cNvPr>
          <p:cNvSpPr txBox="1"/>
          <p:nvPr/>
        </p:nvSpPr>
        <p:spPr>
          <a:xfrm>
            <a:off x="166815" y="105032"/>
            <a:ext cx="6247223" cy="584775"/>
          </a:xfrm>
          <a:prstGeom prst="rect">
            <a:avLst/>
          </a:prstGeom>
          <a:noFill/>
        </p:spPr>
        <p:txBody>
          <a:bodyPr wrap="none" rtlCol="0">
            <a:spAutoFit/>
          </a:bodyPr>
          <a:lstStyle/>
          <a:p>
            <a:r>
              <a:rPr lang="en-US" altLang="zh-CN" sz="3200" b="1" dirty="0"/>
              <a:t>2.</a:t>
            </a:r>
            <a:r>
              <a:rPr lang="zh-CN" altLang="en-US" sz="3200" b="1" dirty="0"/>
              <a:t>研究成果：</a:t>
            </a:r>
            <a:r>
              <a:rPr lang="zh-CN" altLang="en-US" sz="2400" b="1" dirty="0"/>
              <a:t>余热锅炉的分析方法与结果</a:t>
            </a:r>
          </a:p>
        </p:txBody>
      </p:sp>
      <p:sp>
        <p:nvSpPr>
          <p:cNvPr id="4" name="灯片编号占位符 3">
            <a:extLst>
              <a:ext uri="{FF2B5EF4-FFF2-40B4-BE49-F238E27FC236}">
                <a16:creationId xmlns:a16="http://schemas.microsoft.com/office/drawing/2014/main" id="{F0CDA52B-BDB8-4058-DF36-9349A902EB4A}"/>
              </a:ext>
            </a:extLst>
          </p:cNvPr>
          <p:cNvSpPr>
            <a:spLocks noGrp="1"/>
          </p:cNvSpPr>
          <p:nvPr>
            <p:ph type="sldNum" sz="quarter" idx="12"/>
          </p:nvPr>
        </p:nvSpPr>
        <p:spPr>
          <a:xfrm>
            <a:off x="11338560" y="6428700"/>
            <a:ext cx="787680" cy="316800"/>
          </a:xfrm>
        </p:spPr>
        <p:txBody>
          <a:bodyPr/>
          <a:lstStyle/>
          <a:p>
            <a:fld id="{49AE70B2-8BF9-45C0-BB95-33D1B9D3A854}" type="slidenum">
              <a:rPr lang="zh-CN" altLang="en-US" smtClean="0"/>
              <a:pPr/>
              <a:t>8</a:t>
            </a:fld>
            <a:endParaRPr lang="zh-CN" altLang="en-US" dirty="0"/>
          </a:p>
        </p:txBody>
      </p:sp>
      <p:sp>
        <p:nvSpPr>
          <p:cNvPr id="3" name="文本框 2">
            <a:extLst>
              <a:ext uri="{FF2B5EF4-FFF2-40B4-BE49-F238E27FC236}">
                <a16:creationId xmlns:a16="http://schemas.microsoft.com/office/drawing/2014/main" id="{1AF7852F-C1C3-6DEE-7C1D-B1BB5C3D2126}"/>
              </a:ext>
            </a:extLst>
          </p:cNvPr>
          <p:cNvSpPr txBox="1"/>
          <p:nvPr/>
        </p:nvSpPr>
        <p:spPr>
          <a:xfrm>
            <a:off x="690924" y="1097174"/>
            <a:ext cx="11041476" cy="369332"/>
          </a:xfrm>
          <a:prstGeom prst="rect">
            <a:avLst/>
          </a:prstGeom>
          <a:noFill/>
        </p:spPr>
        <p:txBody>
          <a:bodyPr wrap="square" rtlCol="0">
            <a:spAutoFit/>
          </a:bodyPr>
          <a:lstStyle/>
          <a:p>
            <a:r>
              <a:rPr lang="zh-CN" altLang="en-US" b="1" dirty="0"/>
              <a:t>余热锅炉的分析方法</a:t>
            </a:r>
            <a:r>
              <a:rPr lang="zh-CN" altLang="en-US" dirty="0"/>
              <a:t>：基于烟气侧能量下降和汽水侧能量上升，</a:t>
            </a:r>
            <a:r>
              <a:rPr lang="zh-CN" altLang="zh-CN" dirty="0"/>
              <a:t>逐级计算</a:t>
            </a:r>
            <a:r>
              <a:rPr lang="zh-CN" altLang="en-US" dirty="0"/>
              <a:t>换热量和换热性能。</a:t>
            </a:r>
            <a:endParaRPr lang="en-US" altLang="zh-CN" dirty="0"/>
          </a:p>
        </p:txBody>
      </p:sp>
      <p:sp>
        <p:nvSpPr>
          <p:cNvPr id="5" name="文本框 4">
            <a:extLst>
              <a:ext uri="{FF2B5EF4-FFF2-40B4-BE49-F238E27FC236}">
                <a16:creationId xmlns:a16="http://schemas.microsoft.com/office/drawing/2014/main" id="{5868B3BE-7358-A332-7FBA-E1921E1DC386}"/>
              </a:ext>
            </a:extLst>
          </p:cNvPr>
          <p:cNvSpPr txBox="1"/>
          <p:nvPr/>
        </p:nvSpPr>
        <p:spPr>
          <a:xfrm>
            <a:off x="690924" y="1466506"/>
            <a:ext cx="11041476" cy="646331"/>
          </a:xfrm>
          <a:prstGeom prst="rect">
            <a:avLst/>
          </a:prstGeom>
          <a:noFill/>
        </p:spPr>
        <p:txBody>
          <a:bodyPr wrap="square" rtlCol="0">
            <a:spAutoFit/>
          </a:bodyPr>
          <a:lstStyle/>
          <a:p>
            <a:r>
              <a:rPr lang="zh-CN" altLang="en-US" b="1" dirty="0"/>
              <a:t>计算性能参数</a:t>
            </a:r>
            <a:r>
              <a:rPr lang="zh-CN" altLang="en-US" b="1" dirty="0">
                <a:sym typeface="Wingdings" panose="05000000000000000000" pitchFamily="2" charset="2"/>
              </a:rPr>
              <a:t>：</a:t>
            </a:r>
            <a:r>
              <a:rPr lang="zh-CN" altLang="en-US" b="1" dirty="0">
                <a:solidFill>
                  <a:srgbClr val="FF0000"/>
                </a:solidFill>
                <a:sym typeface="Wingdings" panose="05000000000000000000" pitchFamily="2" charset="2"/>
              </a:rPr>
              <a:t>余热锅炉</a:t>
            </a:r>
            <a:r>
              <a:rPr lang="zh-CN" altLang="en-US" b="1" dirty="0">
                <a:sym typeface="Wingdings" panose="05000000000000000000" pitchFamily="2" charset="2"/>
              </a:rPr>
              <a:t>：</a:t>
            </a:r>
            <a:r>
              <a:rPr lang="zh-CN" altLang="en-US" dirty="0"/>
              <a:t>烟气放热功率，各级汽水吸热功率，换热效率，烟气余热回收率，换热㶲效率，烟气㶲回收率，烟气能量分配</a:t>
            </a:r>
          </a:p>
        </p:txBody>
      </p:sp>
      <p:pic>
        <p:nvPicPr>
          <p:cNvPr id="8" name="图片 7">
            <a:extLst>
              <a:ext uri="{FF2B5EF4-FFF2-40B4-BE49-F238E27FC236}">
                <a16:creationId xmlns:a16="http://schemas.microsoft.com/office/drawing/2014/main" id="{7E60BA2D-A607-9022-A76C-89EA9E7DD1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2112837"/>
            <a:ext cx="5486411" cy="4105664"/>
          </a:xfrm>
          <a:prstGeom prst="rect">
            <a:avLst/>
          </a:prstGeom>
        </p:spPr>
      </p:pic>
      <p:pic>
        <p:nvPicPr>
          <p:cNvPr id="12" name="图片 11">
            <a:extLst>
              <a:ext uri="{FF2B5EF4-FFF2-40B4-BE49-F238E27FC236}">
                <a16:creationId xmlns:a16="http://schemas.microsoft.com/office/drawing/2014/main" id="{CE57BD26-04B4-25CB-3058-FA4DB03D810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589" y="2112837"/>
            <a:ext cx="5486411" cy="4105664"/>
          </a:xfrm>
          <a:prstGeom prst="rect">
            <a:avLst/>
          </a:prstGeom>
        </p:spPr>
      </p:pic>
    </p:spTree>
    <p:extLst>
      <p:ext uri="{BB962C8B-B14F-4D97-AF65-F5344CB8AC3E}">
        <p14:creationId xmlns:p14="http://schemas.microsoft.com/office/powerpoint/2010/main" val="9162492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8EBEF5-4552-4A39-E54E-66135740C95C}"/>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5478C606-5488-628A-F75F-30D6DC681DF3}"/>
              </a:ext>
            </a:extLst>
          </p:cNvPr>
          <p:cNvSpPr txBox="1"/>
          <p:nvPr/>
        </p:nvSpPr>
        <p:spPr>
          <a:xfrm>
            <a:off x="166815" y="105032"/>
            <a:ext cx="5939446" cy="584775"/>
          </a:xfrm>
          <a:prstGeom prst="rect">
            <a:avLst/>
          </a:prstGeom>
          <a:noFill/>
        </p:spPr>
        <p:txBody>
          <a:bodyPr wrap="none" rtlCol="0">
            <a:spAutoFit/>
          </a:bodyPr>
          <a:lstStyle/>
          <a:p>
            <a:r>
              <a:rPr lang="en-US" altLang="zh-CN" sz="3200" b="1" dirty="0"/>
              <a:t>2.</a:t>
            </a:r>
            <a:r>
              <a:rPr lang="zh-CN" altLang="en-US" sz="3200" b="1" dirty="0"/>
              <a:t>研究成果：</a:t>
            </a:r>
            <a:r>
              <a:rPr lang="zh-CN" altLang="en-US" sz="2400" b="1" dirty="0"/>
              <a:t>汽轮机的分析方法与结果</a:t>
            </a:r>
          </a:p>
        </p:txBody>
      </p:sp>
      <p:sp>
        <p:nvSpPr>
          <p:cNvPr id="4" name="灯片编号占位符 3">
            <a:extLst>
              <a:ext uri="{FF2B5EF4-FFF2-40B4-BE49-F238E27FC236}">
                <a16:creationId xmlns:a16="http://schemas.microsoft.com/office/drawing/2014/main" id="{92D21700-562A-3BBB-8B7E-324E0F5E49D6}"/>
              </a:ext>
            </a:extLst>
          </p:cNvPr>
          <p:cNvSpPr>
            <a:spLocks noGrp="1"/>
          </p:cNvSpPr>
          <p:nvPr>
            <p:ph type="sldNum" sz="quarter" idx="12"/>
          </p:nvPr>
        </p:nvSpPr>
        <p:spPr>
          <a:xfrm>
            <a:off x="11338560" y="6428700"/>
            <a:ext cx="787680" cy="316800"/>
          </a:xfrm>
        </p:spPr>
        <p:txBody>
          <a:bodyPr/>
          <a:lstStyle/>
          <a:p>
            <a:fld id="{49AE70B2-8BF9-45C0-BB95-33D1B9D3A854}" type="slidenum">
              <a:rPr lang="zh-CN" altLang="en-US" smtClean="0"/>
              <a:pPr/>
              <a:t>9</a:t>
            </a:fld>
            <a:endParaRPr lang="zh-CN" altLang="en-US" dirty="0"/>
          </a:p>
        </p:txBody>
      </p:sp>
      <p:sp>
        <p:nvSpPr>
          <p:cNvPr id="3" name="文本框 2">
            <a:extLst>
              <a:ext uri="{FF2B5EF4-FFF2-40B4-BE49-F238E27FC236}">
                <a16:creationId xmlns:a16="http://schemas.microsoft.com/office/drawing/2014/main" id="{48CE9780-1E5A-9102-A003-0EEB47E6BCA3}"/>
              </a:ext>
            </a:extLst>
          </p:cNvPr>
          <p:cNvSpPr txBox="1"/>
          <p:nvPr/>
        </p:nvSpPr>
        <p:spPr>
          <a:xfrm>
            <a:off x="227886" y="1072461"/>
            <a:ext cx="11675790" cy="369332"/>
          </a:xfrm>
          <a:prstGeom prst="rect">
            <a:avLst/>
          </a:prstGeom>
          <a:noFill/>
        </p:spPr>
        <p:txBody>
          <a:bodyPr wrap="square" rtlCol="0">
            <a:spAutoFit/>
          </a:bodyPr>
          <a:lstStyle/>
          <a:p>
            <a:r>
              <a:rPr lang="zh-CN" altLang="en-US" b="1" dirty="0"/>
              <a:t>汽轮机的分析方法</a:t>
            </a:r>
            <a:r>
              <a:rPr lang="zh-CN" altLang="en-US" dirty="0"/>
              <a:t>：基于高中低压缸进出口工质状态进行计算。</a:t>
            </a:r>
            <a:endParaRPr lang="en-US" altLang="zh-CN" dirty="0"/>
          </a:p>
        </p:txBody>
      </p:sp>
      <p:sp>
        <p:nvSpPr>
          <p:cNvPr id="5" name="文本框 4">
            <a:extLst>
              <a:ext uri="{FF2B5EF4-FFF2-40B4-BE49-F238E27FC236}">
                <a16:creationId xmlns:a16="http://schemas.microsoft.com/office/drawing/2014/main" id="{436B1975-F52E-7218-7AEA-B09CBD6A1E34}"/>
              </a:ext>
            </a:extLst>
          </p:cNvPr>
          <p:cNvSpPr txBox="1"/>
          <p:nvPr/>
        </p:nvSpPr>
        <p:spPr>
          <a:xfrm>
            <a:off x="227886" y="1598311"/>
            <a:ext cx="7589822" cy="369332"/>
          </a:xfrm>
          <a:prstGeom prst="rect">
            <a:avLst/>
          </a:prstGeom>
          <a:noFill/>
        </p:spPr>
        <p:txBody>
          <a:bodyPr wrap="square" rtlCol="0">
            <a:spAutoFit/>
          </a:bodyPr>
          <a:lstStyle/>
          <a:p>
            <a:r>
              <a:rPr lang="zh-CN" altLang="en-US" b="1" dirty="0"/>
              <a:t>计算性能参数</a:t>
            </a:r>
            <a:r>
              <a:rPr lang="zh-CN" altLang="en-US" b="1" dirty="0">
                <a:sym typeface="Wingdings" panose="05000000000000000000" pitchFamily="2" charset="2"/>
              </a:rPr>
              <a:t>：</a:t>
            </a:r>
            <a:r>
              <a:rPr lang="zh-CN" altLang="en-US" dirty="0"/>
              <a:t>高中低压缸功率，高中低压缸效率</a:t>
            </a:r>
          </a:p>
        </p:txBody>
      </p:sp>
      <p:pic>
        <p:nvPicPr>
          <p:cNvPr id="25" name="图片 24">
            <a:extLst>
              <a:ext uri="{FF2B5EF4-FFF2-40B4-BE49-F238E27FC236}">
                <a16:creationId xmlns:a16="http://schemas.microsoft.com/office/drawing/2014/main" id="{5B8F15D7-58D1-0470-7EF1-B8C29FBB459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73152" y="1187063"/>
            <a:ext cx="4959248" cy="4483871"/>
          </a:xfrm>
          <a:prstGeom prst="rect">
            <a:avLst/>
          </a:prstGeom>
        </p:spPr>
      </p:pic>
      <p:sp>
        <p:nvSpPr>
          <p:cNvPr id="6" name="文本框 5">
            <a:extLst>
              <a:ext uri="{FF2B5EF4-FFF2-40B4-BE49-F238E27FC236}">
                <a16:creationId xmlns:a16="http://schemas.microsoft.com/office/drawing/2014/main" id="{9BF0A034-19DA-9E01-C919-C3DBE6E8B182}"/>
              </a:ext>
            </a:extLst>
          </p:cNvPr>
          <p:cNvSpPr txBox="1"/>
          <p:nvPr/>
        </p:nvSpPr>
        <p:spPr>
          <a:xfrm>
            <a:off x="7412074" y="5785536"/>
            <a:ext cx="4200179" cy="369332"/>
          </a:xfrm>
          <a:prstGeom prst="rect">
            <a:avLst/>
          </a:prstGeom>
          <a:noFill/>
        </p:spPr>
        <p:txBody>
          <a:bodyPr wrap="square" rtlCol="0">
            <a:spAutoFit/>
          </a:bodyPr>
          <a:lstStyle/>
          <a:p>
            <a:pPr algn="ctr"/>
            <a:r>
              <a:rPr lang="zh-CN" altLang="en-US" b="1" dirty="0"/>
              <a:t>相对误差：</a:t>
            </a:r>
            <a:r>
              <a:rPr lang="en-US" altLang="zh-CN" dirty="0"/>
              <a:t>3.79%</a:t>
            </a:r>
            <a:endParaRPr lang="zh-CN" altLang="en-US" dirty="0"/>
          </a:p>
        </p:txBody>
      </p:sp>
      <p:grpSp>
        <p:nvGrpSpPr>
          <p:cNvPr id="82" name="组合 81">
            <a:extLst>
              <a:ext uri="{FF2B5EF4-FFF2-40B4-BE49-F238E27FC236}">
                <a16:creationId xmlns:a16="http://schemas.microsoft.com/office/drawing/2014/main" id="{0A4EEFDF-D141-727F-6F11-0A8E4E7F4612}"/>
              </a:ext>
            </a:extLst>
          </p:cNvPr>
          <p:cNvGrpSpPr/>
          <p:nvPr/>
        </p:nvGrpSpPr>
        <p:grpSpPr>
          <a:xfrm>
            <a:off x="227886" y="2173220"/>
            <a:ext cx="6451378" cy="4413880"/>
            <a:chOff x="227886" y="2785989"/>
            <a:chExt cx="6451378" cy="4413880"/>
          </a:xfrm>
        </p:grpSpPr>
        <p:pic>
          <p:nvPicPr>
            <p:cNvPr id="10" name="图片 9">
              <a:extLst>
                <a:ext uri="{FF2B5EF4-FFF2-40B4-BE49-F238E27FC236}">
                  <a16:creationId xmlns:a16="http://schemas.microsoft.com/office/drawing/2014/main" id="{98A8A9B5-CA31-93EC-7237-7BCD135EFE40}"/>
                </a:ext>
              </a:extLst>
            </p:cNvPr>
            <p:cNvPicPr>
              <a:picLocks noChangeAspect="1"/>
            </p:cNvPicPr>
            <p:nvPr/>
          </p:nvPicPr>
          <p:blipFill>
            <a:blip r:embed="rId4"/>
            <a:stretch>
              <a:fillRect/>
            </a:stretch>
          </p:blipFill>
          <p:spPr>
            <a:xfrm>
              <a:off x="227886" y="3569040"/>
              <a:ext cx="6451378" cy="3630829"/>
            </a:xfrm>
            <a:prstGeom prst="rect">
              <a:avLst/>
            </a:prstGeom>
          </p:spPr>
        </p:pic>
        <p:grpSp>
          <p:nvGrpSpPr>
            <p:cNvPr id="48" name="组合 47">
              <a:extLst>
                <a:ext uri="{FF2B5EF4-FFF2-40B4-BE49-F238E27FC236}">
                  <a16:creationId xmlns:a16="http://schemas.microsoft.com/office/drawing/2014/main" id="{DBDBFE48-FF42-DEE3-D73E-B902A0BA76B0}"/>
                </a:ext>
              </a:extLst>
            </p:cNvPr>
            <p:cNvGrpSpPr/>
            <p:nvPr/>
          </p:nvGrpSpPr>
          <p:grpSpPr>
            <a:xfrm>
              <a:off x="279877" y="3585938"/>
              <a:ext cx="1048979" cy="729090"/>
              <a:chOff x="245664" y="3116949"/>
              <a:chExt cx="1048979" cy="729090"/>
            </a:xfrm>
          </p:grpSpPr>
          <p:sp>
            <p:nvSpPr>
              <p:cNvPr id="12" name="矩形 11">
                <a:extLst>
                  <a:ext uri="{FF2B5EF4-FFF2-40B4-BE49-F238E27FC236}">
                    <a16:creationId xmlns:a16="http://schemas.microsoft.com/office/drawing/2014/main" id="{CD1E7D20-8D3A-F972-8905-A3C7030C8963}"/>
                  </a:ext>
                </a:extLst>
              </p:cNvPr>
              <p:cNvSpPr/>
              <p:nvPr/>
            </p:nvSpPr>
            <p:spPr>
              <a:xfrm>
                <a:off x="245664" y="3116949"/>
                <a:ext cx="1048979" cy="72909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C8B57970-EEE8-4F55-DF3D-E1C96DF9EDA1}"/>
                  </a:ext>
                </a:extLst>
              </p:cNvPr>
              <p:cNvSpPr txBox="1"/>
              <p:nvPr/>
            </p:nvSpPr>
            <p:spPr>
              <a:xfrm>
                <a:off x="323409" y="3199708"/>
                <a:ext cx="918783" cy="646331"/>
              </a:xfrm>
              <a:prstGeom prst="rect">
                <a:avLst/>
              </a:prstGeom>
              <a:noFill/>
            </p:spPr>
            <p:txBody>
              <a:bodyPr wrap="square" rtlCol="0">
                <a:spAutoFit/>
              </a:bodyPr>
              <a:lstStyle/>
              <a:p>
                <a:pPr algn="ctr"/>
                <a:r>
                  <a:rPr lang="zh-CN" altLang="en-US" b="1" dirty="0"/>
                  <a:t>高压</a:t>
                </a:r>
                <a:endParaRPr lang="en-US" altLang="zh-CN" b="1" dirty="0"/>
              </a:p>
              <a:p>
                <a:pPr algn="ctr"/>
                <a:r>
                  <a:rPr lang="zh-CN" altLang="en-US" b="1" dirty="0"/>
                  <a:t>主蒸汽</a:t>
                </a:r>
                <a:endParaRPr lang="en-US" altLang="zh-CN" b="1" dirty="0"/>
              </a:p>
            </p:txBody>
          </p:sp>
        </p:grpSp>
        <p:grpSp>
          <p:nvGrpSpPr>
            <p:cNvPr id="34" name="组合 33">
              <a:extLst>
                <a:ext uri="{FF2B5EF4-FFF2-40B4-BE49-F238E27FC236}">
                  <a16:creationId xmlns:a16="http://schemas.microsoft.com/office/drawing/2014/main" id="{294D197F-5F7E-BB6E-D4FA-B6A3DBEFA1CC}"/>
                </a:ext>
              </a:extLst>
            </p:cNvPr>
            <p:cNvGrpSpPr/>
            <p:nvPr/>
          </p:nvGrpSpPr>
          <p:grpSpPr>
            <a:xfrm>
              <a:off x="2829352" y="2785989"/>
              <a:ext cx="1048979" cy="729090"/>
              <a:chOff x="3733086" y="2249734"/>
              <a:chExt cx="1048979" cy="729090"/>
            </a:xfrm>
          </p:grpSpPr>
          <p:sp>
            <p:nvSpPr>
              <p:cNvPr id="15" name="矩形 14">
                <a:extLst>
                  <a:ext uri="{FF2B5EF4-FFF2-40B4-BE49-F238E27FC236}">
                    <a16:creationId xmlns:a16="http://schemas.microsoft.com/office/drawing/2014/main" id="{3B57437D-A4D2-F8DF-8763-4737CBC11D5B}"/>
                  </a:ext>
                </a:extLst>
              </p:cNvPr>
              <p:cNvSpPr/>
              <p:nvPr/>
            </p:nvSpPr>
            <p:spPr>
              <a:xfrm>
                <a:off x="3733086" y="2249734"/>
                <a:ext cx="1048979" cy="72909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16" name="文本框 15">
                <a:extLst>
                  <a:ext uri="{FF2B5EF4-FFF2-40B4-BE49-F238E27FC236}">
                    <a16:creationId xmlns:a16="http://schemas.microsoft.com/office/drawing/2014/main" id="{017A275C-1434-F27A-7CEB-6CEB2E7A306A}"/>
                  </a:ext>
                </a:extLst>
              </p:cNvPr>
              <p:cNvSpPr txBox="1"/>
              <p:nvPr/>
            </p:nvSpPr>
            <p:spPr>
              <a:xfrm>
                <a:off x="3798183" y="2323840"/>
                <a:ext cx="918783" cy="646331"/>
              </a:xfrm>
              <a:prstGeom prst="rect">
                <a:avLst/>
              </a:prstGeom>
              <a:noFill/>
            </p:spPr>
            <p:txBody>
              <a:bodyPr wrap="square" rtlCol="0">
                <a:spAutoFit/>
              </a:bodyPr>
              <a:lstStyle/>
              <a:p>
                <a:pPr algn="ctr"/>
                <a:r>
                  <a:rPr lang="zh-CN" altLang="en-US" b="1" dirty="0"/>
                  <a:t>中压</a:t>
                </a:r>
                <a:endParaRPr lang="en-US" altLang="zh-CN" b="1" dirty="0"/>
              </a:p>
              <a:p>
                <a:pPr algn="ctr"/>
                <a:r>
                  <a:rPr lang="zh-CN" altLang="en-US" b="1" dirty="0"/>
                  <a:t>主蒸汽</a:t>
                </a:r>
                <a:endParaRPr lang="en-US" altLang="zh-CN" b="1" dirty="0"/>
              </a:p>
            </p:txBody>
          </p:sp>
        </p:grpSp>
        <p:grpSp>
          <p:nvGrpSpPr>
            <p:cNvPr id="56" name="组合 55">
              <a:extLst>
                <a:ext uri="{FF2B5EF4-FFF2-40B4-BE49-F238E27FC236}">
                  <a16:creationId xmlns:a16="http://schemas.microsoft.com/office/drawing/2014/main" id="{9EFA744E-C910-2AF6-8100-8D7B4AED4DE9}"/>
                </a:ext>
              </a:extLst>
            </p:cNvPr>
            <p:cNvGrpSpPr/>
            <p:nvPr/>
          </p:nvGrpSpPr>
          <p:grpSpPr>
            <a:xfrm>
              <a:off x="4062837" y="2798097"/>
              <a:ext cx="1048979" cy="729090"/>
              <a:chOff x="4567276" y="3034190"/>
              <a:chExt cx="1048979" cy="729090"/>
            </a:xfrm>
          </p:grpSpPr>
          <p:sp>
            <p:nvSpPr>
              <p:cNvPr id="17" name="矩形 16">
                <a:extLst>
                  <a:ext uri="{FF2B5EF4-FFF2-40B4-BE49-F238E27FC236}">
                    <a16:creationId xmlns:a16="http://schemas.microsoft.com/office/drawing/2014/main" id="{649E43BE-2F50-25A4-4E63-9DC185196C47}"/>
                  </a:ext>
                </a:extLst>
              </p:cNvPr>
              <p:cNvSpPr/>
              <p:nvPr/>
            </p:nvSpPr>
            <p:spPr>
              <a:xfrm>
                <a:off x="4567276" y="3034190"/>
                <a:ext cx="1048979" cy="72909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95E2E006-23B5-5DF7-75F6-BFBFAF86FA2E}"/>
                  </a:ext>
                </a:extLst>
              </p:cNvPr>
              <p:cNvSpPr txBox="1"/>
              <p:nvPr/>
            </p:nvSpPr>
            <p:spPr>
              <a:xfrm>
                <a:off x="4645021" y="3116949"/>
                <a:ext cx="918783" cy="646331"/>
              </a:xfrm>
              <a:prstGeom prst="rect">
                <a:avLst/>
              </a:prstGeom>
              <a:noFill/>
            </p:spPr>
            <p:txBody>
              <a:bodyPr wrap="square" rtlCol="0">
                <a:spAutoFit/>
              </a:bodyPr>
              <a:lstStyle/>
              <a:p>
                <a:pPr algn="ctr"/>
                <a:r>
                  <a:rPr lang="zh-CN" altLang="en-US" b="1" dirty="0"/>
                  <a:t>低压</a:t>
                </a:r>
                <a:endParaRPr lang="en-US" altLang="zh-CN" b="1" dirty="0"/>
              </a:p>
              <a:p>
                <a:pPr algn="ctr"/>
                <a:r>
                  <a:rPr lang="zh-CN" altLang="en-US" b="1" dirty="0"/>
                  <a:t>补汽</a:t>
                </a:r>
                <a:endParaRPr lang="en-US" altLang="zh-CN" b="1" dirty="0"/>
              </a:p>
            </p:txBody>
          </p:sp>
        </p:grpSp>
        <p:cxnSp>
          <p:nvCxnSpPr>
            <p:cNvPr id="22" name="直接箭头连接符 21">
              <a:extLst>
                <a:ext uri="{FF2B5EF4-FFF2-40B4-BE49-F238E27FC236}">
                  <a16:creationId xmlns:a16="http://schemas.microsoft.com/office/drawing/2014/main" id="{082F9A36-FE46-9171-3244-89874F8E5D14}"/>
                </a:ext>
              </a:extLst>
            </p:cNvPr>
            <p:cNvCxnSpPr>
              <a:cxnSpLocks/>
            </p:cNvCxnSpPr>
            <p:nvPr/>
          </p:nvCxnSpPr>
          <p:spPr>
            <a:xfrm>
              <a:off x="749643" y="4448432"/>
              <a:ext cx="0" cy="50544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grpSp>
          <p:nvGrpSpPr>
            <p:cNvPr id="45" name="组合 44">
              <a:extLst>
                <a:ext uri="{FF2B5EF4-FFF2-40B4-BE49-F238E27FC236}">
                  <a16:creationId xmlns:a16="http://schemas.microsoft.com/office/drawing/2014/main" id="{9C578C41-B090-94D0-49A9-EAD7B73CD624}"/>
                </a:ext>
              </a:extLst>
            </p:cNvPr>
            <p:cNvGrpSpPr/>
            <p:nvPr/>
          </p:nvGrpSpPr>
          <p:grpSpPr>
            <a:xfrm>
              <a:off x="1684852" y="3651917"/>
              <a:ext cx="1118096" cy="582146"/>
              <a:chOff x="1727463" y="3051922"/>
              <a:chExt cx="1118096" cy="582146"/>
            </a:xfrm>
          </p:grpSpPr>
          <p:sp>
            <p:nvSpPr>
              <p:cNvPr id="26" name="矩形: 圆角 25">
                <a:extLst>
                  <a:ext uri="{FF2B5EF4-FFF2-40B4-BE49-F238E27FC236}">
                    <a16:creationId xmlns:a16="http://schemas.microsoft.com/office/drawing/2014/main" id="{841FF0F9-B0B7-3605-59F4-619A499759CB}"/>
                  </a:ext>
                </a:extLst>
              </p:cNvPr>
              <p:cNvSpPr/>
              <p:nvPr/>
            </p:nvSpPr>
            <p:spPr>
              <a:xfrm>
                <a:off x="1727463" y="3051922"/>
                <a:ext cx="1118096" cy="582146"/>
              </a:xfrm>
              <a:prstGeom prst="roundRect">
                <a:avLst/>
              </a:prstGeom>
              <a:noFill/>
              <a:ln>
                <a:solidFill>
                  <a:srgbClr val="2F60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a:extLst>
                  <a:ext uri="{FF2B5EF4-FFF2-40B4-BE49-F238E27FC236}">
                    <a16:creationId xmlns:a16="http://schemas.microsoft.com/office/drawing/2014/main" id="{D0E359BB-CE84-D5D2-A8C5-19B7B801033B}"/>
                  </a:ext>
                </a:extLst>
              </p:cNvPr>
              <p:cNvSpPr txBox="1"/>
              <p:nvPr/>
            </p:nvSpPr>
            <p:spPr>
              <a:xfrm>
                <a:off x="1827119" y="3165822"/>
                <a:ext cx="918783" cy="369332"/>
              </a:xfrm>
              <a:prstGeom prst="rect">
                <a:avLst/>
              </a:prstGeom>
              <a:noFill/>
            </p:spPr>
            <p:txBody>
              <a:bodyPr wrap="square" rtlCol="0">
                <a:spAutoFit/>
              </a:bodyPr>
              <a:lstStyle/>
              <a:p>
                <a:pPr algn="ctr"/>
                <a:r>
                  <a:rPr lang="zh-CN" altLang="en-US" b="1" dirty="0"/>
                  <a:t>再热器</a:t>
                </a:r>
                <a:endParaRPr lang="en-US" altLang="zh-CN" b="1" dirty="0"/>
              </a:p>
            </p:txBody>
          </p:sp>
        </p:grpSp>
        <p:cxnSp>
          <p:nvCxnSpPr>
            <p:cNvPr id="29" name="直接箭头连接符 28">
              <a:extLst>
                <a:ext uri="{FF2B5EF4-FFF2-40B4-BE49-F238E27FC236}">
                  <a16:creationId xmlns:a16="http://schemas.microsoft.com/office/drawing/2014/main" id="{2B88750C-6019-A4C4-24B9-3EE65FD88415}"/>
                </a:ext>
              </a:extLst>
            </p:cNvPr>
            <p:cNvCxnSpPr>
              <a:cxnSpLocks/>
            </p:cNvCxnSpPr>
            <p:nvPr/>
          </p:nvCxnSpPr>
          <p:spPr>
            <a:xfrm>
              <a:off x="2599038" y="4291914"/>
              <a:ext cx="0" cy="661961"/>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31" name="直接箭头连接符 30">
              <a:extLst>
                <a:ext uri="{FF2B5EF4-FFF2-40B4-BE49-F238E27FC236}">
                  <a16:creationId xmlns:a16="http://schemas.microsoft.com/office/drawing/2014/main" id="{A0E91148-B0DE-2904-E599-444708B8A5C6}"/>
                </a:ext>
              </a:extLst>
            </p:cNvPr>
            <p:cNvCxnSpPr>
              <a:cxnSpLocks/>
            </p:cNvCxnSpPr>
            <p:nvPr/>
          </p:nvCxnSpPr>
          <p:spPr>
            <a:xfrm flipV="1">
              <a:off x="1827119" y="4234063"/>
              <a:ext cx="0" cy="45446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35" name="直接箭头连接符 34">
              <a:extLst>
                <a:ext uri="{FF2B5EF4-FFF2-40B4-BE49-F238E27FC236}">
                  <a16:creationId xmlns:a16="http://schemas.microsoft.com/office/drawing/2014/main" id="{0D412D6B-5C99-C250-305B-20D2B8AA5CF9}"/>
                </a:ext>
              </a:extLst>
            </p:cNvPr>
            <p:cNvCxnSpPr>
              <a:cxnSpLocks/>
            </p:cNvCxnSpPr>
            <p:nvPr/>
          </p:nvCxnSpPr>
          <p:spPr>
            <a:xfrm flipH="1" flipV="1">
              <a:off x="2566251" y="4448432"/>
              <a:ext cx="916332" cy="1286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39" name="直接连接符 38">
              <a:extLst>
                <a:ext uri="{FF2B5EF4-FFF2-40B4-BE49-F238E27FC236}">
                  <a16:creationId xmlns:a16="http://schemas.microsoft.com/office/drawing/2014/main" id="{2DD682F3-41EF-954F-507B-0AC11D7BBB60}"/>
                </a:ext>
              </a:extLst>
            </p:cNvPr>
            <p:cNvCxnSpPr>
              <a:cxnSpLocks/>
              <a:endCxn id="10" idx="0"/>
            </p:cNvCxnSpPr>
            <p:nvPr/>
          </p:nvCxnSpPr>
          <p:spPr>
            <a:xfrm flipV="1">
              <a:off x="3453575" y="3569040"/>
              <a:ext cx="0" cy="87939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直接箭头连接符 49">
              <a:extLst>
                <a:ext uri="{FF2B5EF4-FFF2-40B4-BE49-F238E27FC236}">
                  <a16:creationId xmlns:a16="http://schemas.microsoft.com/office/drawing/2014/main" id="{9BCA823D-6D17-1272-82C1-6B809691A03B}"/>
                </a:ext>
              </a:extLst>
            </p:cNvPr>
            <p:cNvCxnSpPr>
              <a:cxnSpLocks/>
            </p:cNvCxnSpPr>
            <p:nvPr/>
          </p:nvCxnSpPr>
          <p:spPr>
            <a:xfrm>
              <a:off x="4407243" y="3569040"/>
              <a:ext cx="0" cy="1407949"/>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51" name="直接连接符 50">
              <a:extLst>
                <a:ext uri="{FF2B5EF4-FFF2-40B4-BE49-F238E27FC236}">
                  <a16:creationId xmlns:a16="http://schemas.microsoft.com/office/drawing/2014/main" id="{818CE383-0D85-DD92-6386-5B820F0D3956}"/>
                </a:ext>
              </a:extLst>
            </p:cNvPr>
            <p:cNvCxnSpPr>
              <a:cxnSpLocks/>
            </p:cNvCxnSpPr>
            <p:nvPr/>
          </p:nvCxnSpPr>
          <p:spPr>
            <a:xfrm>
              <a:off x="3676514" y="4315028"/>
              <a:ext cx="73072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DA263A57-873B-2272-6B7D-DE3405C7CEEF}"/>
                </a:ext>
              </a:extLst>
            </p:cNvPr>
            <p:cNvCxnSpPr>
              <a:cxnSpLocks/>
            </p:cNvCxnSpPr>
            <p:nvPr/>
          </p:nvCxnSpPr>
          <p:spPr>
            <a:xfrm flipV="1">
              <a:off x="3676514" y="4291914"/>
              <a:ext cx="0" cy="46383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直接箭头连接符 61">
              <a:extLst>
                <a:ext uri="{FF2B5EF4-FFF2-40B4-BE49-F238E27FC236}">
                  <a16:creationId xmlns:a16="http://schemas.microsoft.com/office/drawing/2014/main" id="{A65F9227-B054-16E4-A09E-605D231155DC}"/>
                </a:ext>
              </a:extLst>
            </p:cNvPr>
            <p:cNvCxnSpPr>
              <a:cxnSpLocks/>
            </p:cNvCxnSpPr>
            <p:nvPr/>
          </p:nvCxnSpPr>
          <p:spPr>
            <a:xfrm>
              <a:off x="4407243" y="4315028"/>
              <a:ext cx="856735"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grpSp>
          <p:nvGrpSpPr>
            <p:cNvPr id="66" name="组合 65">
              <a:extLst>
                <a:ext uri="{FF2B5EF4-FFF2-40B4-BE49-F238E27FC236}">
                  <a16:creationId xmlns:a16="http://schemas.microsoft.com/office/drawing/2014/main" id="{82D7B9B8-624D-C53B-C9A8-6F35E0924F5C}"/>
                </a:ext>
              </a:extLst>
            </p:cNvPr>
            <p:cNvGrpSpPr/>
            <p:nvPr/>
          </p:nvGrpSpPr>
          <p:grpSpPr>
            <a:xfrm>
              <a:off x="5319796" y="3869518"/>
              <a:ext cx="1048979" cy="729090"/>
              <a:chOff x="4567276" y="3034190"/>
              <a:chExt cx="1048979" cy="729090"/>
            </a:xfrm>
          </p:grpSpPr>
          <p:sp>
            <p:nvSpPr>
              <p:cNvPr id="67" name="矩形 66">
                <a:extLst>
                  <a:ext uri="{FF2B5EF4-FFF2-40B4-BE49-F238E27FC236}">
                    <a16:creationId xmlns:a16="http://schemas.microsoft.com/office/drawing/2014/main" id="{53C06172-F091-0E2D-61DA-B4862CC0006B}"/>
                  </a:ext>
                </a:extLst>
              </p:cNvPr>
              <p:cNvSpPr/>
              <p:nvPr/>
            </p:nvSpPr>
            <p:spPr>
              <a:xfrm>
                <a:off x="4567276" y="3034190"/>
                <a:ext cx="1048979" cy="72909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68" name="文本框 67">
                <a:extLst>
                  <a:ext uri="{FF2B5EF4-FFF2-40B4-BE49-F238E27FC236}">
                    <a16:creationId xmlns:a16="http://schemas.microsoft.com/office/drawing/2014/main" id="{9912BE98-47E6-11C8-1A1D-B7602394724F}"/>
                  </a:ext>
                </a:extLst>
              </p:cNvPr>
              <p:cNvSpPr txBox="1"/>
              <p:nvPr/>
            </p:nvSpPr>
            <p:spPr>
              <a:xfrm>
                <a:off x="4645021" y="3116949"/>
                <a:ext cx="918783" cy="646331"/>
              </a:xfrm>
              <a:prstGeom prst="rect">
                <a:avLst/>
              </a:prstGeom>
              <a:noFill/>
            </p:spPr>
            <p:txBody>
              <a:bodyPr wrap="square" rtlCol="0">
                <a:spAutoFit/>
              </a:bodyPr>
              <a:lstStyle/>
              <a:p>
                <a:pPr algn="ctr"/>
                <a:r>
                  <a:rPr lang="zh-CN" altLang="en-US" b="1" dirty="0"/>
                  <a:t>热网</a:t>
                </a:r>
                <a:endParaRPr lang="en-US" altLang="zh-CN" b="1" dirty="0"/>
              </a:p>
              <a:p>
                <a:pPr algn="ctr"/>
                <a:r>
                  <a:rPr lang="zh-CN" altLang="en-US" b="1" dirty="0"/>
                  <a:t>抽汽</a:t>
                </a:r>
                <a:endParaRPr lang="en-US" altLang="zh-CN" b="1" dirty="0"/>
              </a:p>
            </p:txBody>
          </p:sp>
        </p:grpSp>
        <p:grpSp>
          <p:nvGrpSpPr>
            <p:cNvPr id="77" name="组合 76">
              <a:extLst>
                <a:ext uri="{FF2B5EF4-FFF2-40B4-BE49-F238E27FC236}">
                  <a16:creationId xmlns:a16="http://schemas.microsoft.com/office/drawing/2014/main" id="{1A771BFC-8984-F77A-F3B3-27C39EFAB364}"/>
                </a:ext>
              </a:extLst>
            </p:cNvPr>
            <p:cNvGrpSpPr/>
            <p:nvPr/>
          </p:nvGrpSpPr>
          <p:grpSpPr>
            <a:xfrm>
              <a:off x="4871768" y="6275854"/>
              <a:ext cx="1118096" cy="582146"/>
              <a:chOff x="1727463" y="3051922"/>
              <a:chExt cx="1118096" cy="582146"/>
            </a:xfrm>
          </p:grpSpPr>
          <p:sp>
            <p:nvSpPr>
              <p:cNvPr id="78" name="矩形: 圆角 77">
                <a:extLst>
                  <a:ext uri="{FF2B5EF4-FFF2-40B4-BE49-F238E27FC236}">
                    <a16:creationId xmlns:a16="http://schemas.microsoft.com/office/drawing/2014/main" id="{84EE7F19-80FD-2073-7682-D6B6C9AEC934}"/>
                  </a:ext>
                </a:extLst>
              </p:cNvPr>
              <p:cNvSpPr/>
              <p:nvPr/>
            </p:nvSpPr>
            <p:spPr>
              <a:xfrm>
                <a:off x="1727463" y="3051922"/>
                <a:ext cx="1118096" cy="582146"/>
              </a:xfrm>
              <a:prstGeom prst="roundRect">
                <a:avLst/>
              </a:prstGeom>
              <a:noFill/>
              <a:ln>
                <a:solidFill>
                  <a:srgbClr val="2F60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文本框 78">
                <a:extLst>
                  <a:ext uri="{FF2B5EF4-FFF2-40B4-BE49-F238E27FC236}">
                    <a16:creationId xmlns:a16="http://schemas.microsoft.com/office/drawing/2014/main" id="{6DC63BC6-647B-E6FF-5930-EDF1203FB91B}"/>
                  </a:ext>
                </a:extLst>
              </p:cNvPr>
              <p:cNvSpPr txBox="1"/>
              <p:nvPr/>
            </p:nvSpPr>
            <p:spPr>
              <a:xfrm>
                <a:off x="1827119" y="3165822"/>
                <a:ext cx="918783" cy="369332"/>
              </a:xfrm>
              <a:prstGeom prst="rect">
                <a:avLst/>
              </a:prstGeom>
              <a:noFill/>
            </p:spPr>
            <p:txBody>
              <a:bodyPr wrap="square" rtlCol="0">
                <a:spAutoFit/>
              </a:bodyPr>
              <a:lstStyle/>
              <a:p>
                <a:pPr algn="ctr"/>
                <a:r>
                  <a:rPr lang="zh-CN" altLang="en-US" b="1" dirty="0"/>
                  <a:t>凝汽器</a:t>
                </a:r>
                <a:endParaRPr lang="en-US" altLang="zh-CN" b="1" dirty="0"/>
              </a:p>
            </p:txBody>
          </p:sp>
        </p:grpSp>
      </p:grpSp>
      <p:cxnSp>
        <p:nvCxnSpPr>
          <p:cNvPr id="80" name="直接箭头连接符 79">
            <a:extLst>
              <a:ext uri="{FF2B5EF4-FFF2-40B4-BE49-F238E27FC236}">
                <a16:creationId xmlns:a16="http://schemas.microsoft.com/office/drawing/2014/main" id="{68FF5626-EE90-BF21-14A8-0EC234A20486}"/>
              </a:ext>
            </a:extLst>
          </p:cNvPr>
          <p:cNvCxnSpPr>
            <a:cxnSpLocks/>
          </p:cNvCxnSpPr>
          <p:nvPr/>
        </p:nvCxnSpPr>
        <p:spPr>
          <a:xfrm>
            <a:off x="5455206" y="5970202"/>
            <a:ext cx="0" cy="305652"/>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4216432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9B0FCE-D803-1EBA-56A0-98B4C9405FB2}"/>
            </a:ext>
          </a:extLst>
        </p:cNvPr>
        <p:cNvGrpSpPr/>
        <p:nvPr/>
      </p:nvGrpSpPr>
      <p:grpSpPr>
        <a:xfrm>
          <a:off x="0" y="0"/>
          <a:ext cx="0" cy="0"/>
          <a:chOff x="0" y="0"/>
          <a:chExt cx="0" cy="0"/>
        </a:xfrm>
      </p:grpSpPr>
      <p:pic>
        <p:nvPicPr>
          <p:cNvPr id="23" name="图片 22">
            <a:extLst>
              <a:ext uri="{FF2B5EF4-FFF2-40B4-BE49-F238E27FC236}">
                <a16:creationId xmlns:a16="http://schemas.microsoft.com/office/drawing/2014/main" id="{E4B6B6BF-2045-A852-6EB4-AB1745411FC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46979" y="2025637"/>
            <a:ext cx="3880163" cy="3469634"/>
          </a:xfrm>
          <a:prstGeom prst="rect">
            <a:avLst/>
          </a:prstGeom>
        </p:spPr>
      </p:pic>
      <p:sp>
        <p:nvSpPr>
          <p:cNvPr id="2" name="文本框 1">
            <a:extLst>
              <a:ext uri="{FF2B5EF4-FFF2-40B4-BE49-F238E27FC236}">
                <a16:creationId xmlns:a16="http://schemas.microsoft.com/office/drawing/2014/main" id="{44D854AA-6418-127C-AF9F-985AB18C0DF5}"/>
              </a:ext>
            </a:extLst>
          </p:cNvPr>
          <p:cNvSpPr txBox="1"/>
          <p:nvPr/>
        </p:nvSpPr>
        <p:spPr>
          <a:xfrm>
            <a:off x="166815" y="105032"/>
            <a:ext cx="5939446" cy="584775"/>
          </a:xfrm>
          <a:prstGeom prst="rect">
            <a:avLst/>
          </a:prstGeom>
          <a:noFill/>
        </p:spPr>
        <p:txBody>
          <a:bodyPr wrap="none" rtlCol="0">
            <a:spAutoFit/>
          </a:bodyPr>
          <a:lstStyle/>
          <a:p>
            <a:r>
              <a:rPr lang="en-US" altLang="zh-CN" sz="3200" b="1" dirty="0"/>
              <a:t>2.</a:t>
            </a:r>
            <a:r>
              <a:rPr lang="zh-CN" altLang="en-US" sz="3200" b="1" dirty="0"/>
              <a:t>研究成果：</a:t>
            </a:r>
            <a:r>
              <a:rPr lang="zh-CN" altLang="en-US" sz="2400" b="1" dirty="0"/>
              <a:t>汽轮机的分析方法与结果</a:t>
            </a:r>
          </a:p>
        </p:txBody>
      </p:sp>
      <p:sp>
        <p:nvSpPr>
          <p:cNvPr id="4" name="灯片编号占位符 3">
            <a:extLst>
              <a:ext uri="{FF2B5EF4-FFF2-40B4-BE49-F238E27FC236}">
                <a16:creationId xmlns:a16="http://schemas.microsoft.com/office/drawing/2014/main" id="{0C726A52-46CC-E06A-0D2C-0F392E61F654}"/>
              </a:ext>
            </a:extLst>
          </p:cNvPr>
          <p:cNvSpPr>
            <a:spLocks noGrp="1"/>
          </p:cNvSpPr>
          <p:nvPr>
            <p:ph type="sldNum" sz="quarter" idx="12"/>
          </p:nvPr>
        </p:nvSpPr>
        <p:spPr>
          <a:xfrm>
            <a:off x="11338560" y="6428700"/>
            <a:ext cx="787680" cy="316800"/>
          </a:xfrm>
        </p:spPr>
        <p:txBody>
          <a:bodyPr/>
          <a:lstStyle/>
          <a:p>
            <a:fld id="{49AE70B2-8BF9-45C0-BB95-33D1B9D3A854}" type="slidenum">
              <a:rPr lang="zh-CN" altLang="en-US" smtClean="0"/>
              <a:pPr/>
              <a:t>10</a:t>
            </a:fld>
            <a:endParaRPr lang="zh-CN" altLang="en-US" dirty="0"/>
          </a:p>
        </p:txBody>
      </p:sp>
      <p:pic>
        <p:nvPicPr>
          <p:cNvPr id="19" name="图片 18">
            <a:extLst>
              <a:ext uri="{FF2B5EF4-FFF2-40B4-BE49-F238E27FC236}">
                <a16:creationId xmlns:a16="http://schemas.microsoft.com/office/drawing/2014/main" id="{93C8ABF4-EDC2-27F5-2B23-A42DFE0438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968584" y="2025637"/>
            <a:ext cx="3880163" cy="3469634"/>
          </a:xfrm>
          <a:prstGeom prst="rect">
            <a:avLst/>
          </a:prstGeom>
        </p:spPr>
      </p:pic>
      <p:pic>
        <p:nvPicPr>
          <p:cNvPr id="21" name="图片 20">
            <a:extLst>
              <a:ext uri="{FF2B5EF4-FFF2-40B4-BE49-F238E27FC236}">
                <a16:creationId xmlns:a16="http://schemas.microsoft.com/office/drawing/2014/main" id="{C2321998-9D6F-942A-9655-3395C1C13A6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66815" y="2025637"/>
            <a:ext cx="3880164" cy="3469633"/>
          </a:xfrm>
          <a:prstGeom prst="rect">
            <a:avLst/>
          </a:prstGeom>
        </p:spPr>
      </p:pic>
      <p:sp>
        <p:nvSpPr>
          <p:cNvPr id="7" name="文本框 6">
            <a:extLst>
              <a:ext uri="{FF2B5EF4-FFF2-40B4-BE49-F238E27FC236}">
                <a16:creationId xmlns:a16="http://schemas.microsoft.com/office/drawing/2014/main" id="{EF6A55E7-2C19-7F2D-7FEC-0CC585C387B3}"/>
              </a:ext>
            </a:extLst>
          </p:cNvPr>
          <p:cNvSpPr txBox="1"/>
          <p:nvPr/>
        </p:nvSpPr>
        <p:spPr>
          <a:xfrm>
            <a:off x="466782" y="1362729"/>
            <a:ext cx="7589822" cy="369332"/>
          </a:xfrm>
          <a:prstGeom prst="rect">
            <a:avLst/>
          </a:prstGeom>
          <a:noFill/>
        </p:spPr>
        <p:txBody>
          <a:bodyPr wrap="square" rtlCol="0">
            <a:spAutoFit/>
          </a:bodyPr>
          <a:lstStyle/>
          <a:p>
            <a:r>
              <a:rPr lang="zh-CN" altLang="en-US" dirty="0"/>
              <a:t>汽轮机高压缸，中压缸，低压缸效率随汽机出力变化规律</a:t>
            </a:r>
          </a:p>
        </p:txBody>
      </p:sp>
      <p:sp>
        <p:nvSpPr>
          <p:cNvPr id="8" name="文本框 7">
            <a:extLst>
              <a:ext uri="{FF2B5EF4-FFF2-40B4-BE49-F238E27FC236}">
                <a16:creationId xmlns:a16="http://schemas.microsoft.com/office/drawing/2014/main" id="{7A578AA5-144A-48AF-63ED-9D9E5B806A3C}"/>
              </a:ext>
            </a:extLst>
          </p:cNvPr>
          <p:cNvSpPr txBox="1"/>
          <p:nvPr/>
        </p:nvSpPr>
        <p:spPr>
          <a:xfrm>
            <a:off x="1053125" y="5670227"/>
            <a:ext cx="2107543" cy="369332"/>
          </a:xfrm>
          <a:prstGeom prst="rect">
            <a:avLst/>
          </a:prstGeom>
          <a:noFill/>
        </p:spPr>
        <p:txBody>
          <a:bodyPr wrap="square" rtlCol="0">
            <a:spAutoFit/>
          </a:bodyPr>
          <a:lstStyle/>
          <a:p>
            <a:pPr algn="ctr"/>
            <a:r>
              <a:rPr lang="zh-CN" altLang="en-US" dirty="0"/>
              <a:t>高压缸</a:t>
            </a:r>
          </a:p>
        </p:txBody>
      </p:sp>
      <p:sp>
        <p:nvSpPr>
          <p:cNvPr id="9" name="文本框 8">
            <a:extLst>
              <a:ext uri="{FF2B5EF4-FFF2-40B4-BE49-F238E27FC236}">
                <a16:creationId xmlns:a16="http://schemas.microsoft.com/office/drawing/2014/main" id="{4D5AAF34-89CF-2B1A-A558-3DC4512A9C85}"/>
              </a:ext>
            </a:extLst>
          </p:cNvPr>
          <p:cNvSpPr txBox="1"/>
          <p:nvPr/>
        </p:nvSpPr>
        <p:spPr>
          <a:xfrm>
            <a:off x="5042228" y="5670227"/>
            <a:ext cx="2107543" cy="369332"/>
          </a:xfrm>
          <a:prstGeom prst="rect">
            <a:avLst/>
          </a:prstGeom>
          <a:noFill/>
        </p:spPr>
        <p:txBody>
          <a:bodyPr wrap="square" rtlCol="0">
            <a:spAutoFit/>
          </a:bodyPr>
          <a:lstStyle/>
          <a:p>
            <a:pPr algn="ctr"/>
            <a:r>
              <a:rPr lang="zh-CN" altLang="en-US" dirty="0"/>
              <a:t>中压缸</a:t>
            </a:r>
          </a:p>
        </p:txBody>
      </p:sp>
      <p:sp>
        <p:nvSpPr>
          <p:cNvPr id="10" name="文本框 9">
            <a:extLst>
              <a:ext uri="{FF2B5EF4-FFF2-40B4-BE49-F238E27FC236}">
                <a16:creationId xmlns:a16="http://schemas.microsoft.com/office/drawing/2014/main" id="{3DA2908C-F352-A411-19E2-39F1C00EB3A6}"/>
              </a:ext>
            </a:extLst>
          </p:cNvPr>
          <p:cNvSpPr txBox="1"/>
          <p:nvPr/>
        </p:nvSpPr>
        <p:spPr>
          <a:xfrm>
            <a:off x="8854893" y="5670227"/>
            <a:ext cx="2107543" cy="369332"/>
          </a:xfrm>
          <a:prstGeom prst="rect">
            <a:avLst/>
          </a:prstGeom>
          <a:noFill/>
        </p:spPr>
        <p:txBody>
          <a:bodyPr wrap="square" rtlCol="0">
            <a:spAutoFit/>
          </a:bodyPr>
          <a:lstStyle/>
          <a:p>
            <a:pPr algn="ctr"/>
            <a:r>
              <a:rPr lang="zh-CN" altLang="en-US" dirty="0"/>
              <a:t>低压缸</a:t>
            </a:r>
          </a:p>
        </p:txBody>
      </p:sp>
    </p:spTree>
    <p:extLst>
      <p:ext uri="{BB962C8B-B14F-4D97-AF65-F5344CB8AC3E}">
        <p14:creationId xmlns:p14="http://schemas.microsoft.com/office/powerpoint/2010/main" val="11980866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044D4-597D-75DC-537B-255D3B21487E}"/>
            </a:ext>
          </a:extLst>
        </p:cNvPr>
        <p:cNvGrpSpPr/>
        <p:nvPr/>
      </p:nvGrpSpPr>
      <p:grpSpPr>
        <a:xfrm>
          <a:off x="0" y="0"/>
          <a:ext cx="0" cy="0"/>
          <a:chOff x="0" y="0"/>
          <a:chExt cx="0" cy="0"/>
        </a:xfrm>
      </p:grpSpPr>
      <p:pic>
        <p:nvPicPr>
          <p:cNvPr id="13" name="图片 12">
            <a:extLst>
              <a:ext uri="{FF2B5EF4-FFF2-40B4-BE49-F238E27FC236}">
                <a16:creationId xmlns:a16="http://schemas.microsoft.com/office/drawing/2014/main" id="{5DB677F8-53D5-BA63-5642-065D45C6F9C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69446" y="2354219"/>
            <a:ext cx="4649159" cy="3449376"/>
          </a:xfrm>
          <a:prstGeom prst="rect">
            <a:avLst/>
          </a:prstGeom>
        </p:spPr>
      </p:pic>
      <p:sp>
        <p:nvSpPr>
          <p:cNvPr id="2" name="文本框 1">
            <a:extLst>
              <a:ext uri="{FF2B5EF4-FFF2-40B4-BE49-F238E27FC236}">
                <a16:creationId xmlns:a16="http://schemas.microsoft.com/office/drawing/2014/main" id="{01783C0B-E89C-23F8-A9FB-E15EDD7D3A8D}"/>
              </a:ext>
            </a:extLst>
          </p:cNvPr>
          <p:cNvSpPr txBox="1"/>
          <p:nvPr/>
        </p:nvSpPr>
        <p:spPr>
          <a:xfrm>
            <a:off x="166815" y="105032"/>
            <a:ext cx="6391493" cy="584775"/>
          </a:xfrm>
          <a:prstGeom prst="rect">
            <a:avLst/>
          </a:prstGeom>
          <a:noFill/>
        </p:spPr>
        <p:txBody>
          <a:bodyPr wrap="none" rtlCol="0">
            <a:spAutoFit/>
          </a:bodyPr>
          <a:lstStyle/>
          <a:p>
            <a:r>
              <a:rPr lang="en-US" altLang="zh-CN" sz="3200" b="1" dirty="0"/>
              <a:t>2.</a:t>
            </a:r>
            <a:r>
              <a:rPr lang="zh-CN" altLang="en-US" sz="3200" b="1" dirty="0"/>
              <a:t>研究成果：</a:t>
            </a:r>
            <a:r>
              <a:rPr lang="zh-CN" altLang="en-US" sz="2400" b="1" dirty="0"/>
              <a:t>联合循环效率影响因素简析</a:t>
            </a:r>
          </a:p>
        </p:txBody>
      </p:sp>
      <p:sp>
        <p:nvSpPr>
          <p:cNvPr id="4" name="灯片编号占位符 3">
            <a:extLst>
              <a:ext uri="{FF2B5EF4-FFF2-40B4-BE49-F238E27FC236}">
                <a16:creationId xmlns:a16="http://schemas.microsoft.com/office/drawing/2014/main" id="{6220A5E5-5310-C11A-86BC-B3D1D33A1D9F}"/>
              </a:ext>
            </a:extLst>
          </p:cNvPr>
          <p:cNvSpPr>
            <a:spLocks noGrp="1"/>
          </p:cNvSpPr>
          <p:nvPr>
            <p:ph type="sldNum" sz="quarter" idx="12"/>
          </p:nvPr>
        </p:nvSpPr>
        <p:spPr>
          <a:xfrm>
            <a:off x="11338560" y="6428700"/>
            <a:ext cx="787680" cy="316800"/>
          </a:xfrm>
        </p:spPr>
        <p:txBody>
          <a:bodyPr/>
          <a:lstStyle/>
          <a:p>
            <a:fld id="{49AE70B2-8BF9-45C0-BB95-33D1B9D3A854}" type="slidenum">
              <a:rPr lang="zh-CN" altLang="en-US" smtClean="0"/>
              <a:pPr/>
              <a:t>11</a:t>
            </a:fld>
            <a:endParaRPr lang="zh-CN" altLang="en-US" dirty="0"/>
          </a:p>
        </p:txBody>
      </p:sp>
      <p:sp>
        <p:nvSpPr>
          <p:cNvPr id="3" name="文本框 2">
            <a:extLst>
              <a:ext uri="{FF2B5EF4-FFF2-40B4-BE49-F238E27FC236}">
                <a16:creationId xmlns:a16="http://schemas.microsoft.com/office/drawing/2014/main" id="{A9210AB2-5AA4-EC7B-C758-2BFCCD85A099}"/>
              </a:ext>
            </a:extLst>
          </p:cNvPr>
          <p:cNvSpPr txBox="1"/>
          <p:nvPr/>
        </p:nvSpPr>
        <p:spPr>
          <a:xfrm>
            <a:off x="783771" y="1149388"/>
            <a:ext cx="11051810" cy="646331"/>
          </a:xfrm>
          <a:prstGeom prst="rect">
            <a:avLst/>
          </a:prstGeom>
          <a:noFill/>
        </p:spPr>
        <p:txBody>
          <a:bodyPr wrap="square" rtlCol="0">
            <a:spAutoFit/>
          </a:bodyPr>
          <a:lstStyle/>
          <a:p>
            <a:r>
              <a:rPr lang="zh-CN" altLang="zh-CN" dirty="0"/>
              <a:t>基于运行数据，采用相关性分析识别非供热和供热两类工况下联合循环效率的主要影响因素，并结合散点图讨论了负荷水平、环境参数等变量与效率之间的关系</a:t>
            </a:r>
            <a:r>
              <a:rPr lang="zh-CN" altLang="en-US" dirty="0"/>
              <a:t>并分析了其物理机理</a:t>
            </a:r>
            <a:endParaRPr lang="en-US" altLang="zh-CN" dirty="0"/>
          </a:p>
        </p:txBody>
      </p:sp>
      <p:pic>
        <p:nvPicPr>
          <p:cNvPr id="8" name="图片 7">
            <a:extLst>
              <a:ext uri="{FF2B5EF4-FFF2-40B4-BE49-F238E27FC236}">
                <a16:creationId xmlns:a16="http://schemas.microsoft.com/office/drawing/2014/main" id="{F7F5896B-00C1-49A4-2D89-A754F6C1A1D7}"/>
              </a:ext>
            </a:extLst>
          </p:cNvPr>
          <p:cNvPicPr>
            <a:picLocks noChangeAspect="1"/>
          </p:cNvPicPr>
          <p:nvPr/>
        </p:nvPicPr>
        <p:blipFill>
          <a:blip r:embed="rId4"/>
          <a:srcRect l="58666"/>
          <a:stretch>
            <a:fillRect/>
          </a:stretch>
        </p:blipFill>
        <p:spPr>
          <a:xfrm>
            <a:off x="746817" y="4202254"/>
            <a:ext cx="2066873" cy="2464647"/>
          </a:xfrm>
          <a:prstGeom prst="rect">
            <a:avLst/>
          </a:prstGeom>
        </p:spPr>
      </p:pic>
      <p:pic>
        <p:nvPicPr>
          <p:cNvPr id="9" name="图片 8">
            <a:extLst>
              <a:ext uri="{FF2B5EF4-FFF2-40B4-BE49-F238E27FC236}">
                <a16:creationId xmlns:a16="http://schemas.microsoft.com/office/drawing/2014/main" id="{E77398A1-0EBC-4916-0F36-2B8C1B14AB9F}"/>
              </a:ext>
            </a:extLst>
          </p:cNvPr>
          <p:cNvPicPr>
            <a:picLocks noChangeAspect="1"/>
          </p:cNvPicPr>
          <p:nvPr/>
        </p:nvPicPr>
        <p:blipFill>
          <a:blip r:embed="rId4"/>
          <a:srcRect r="56485"/>
          <a:stretch>
            <a:fillRect/>
          </a:stretch>
        </p:blipFill>
        <p:spPr>
          <a:xfrm>
            <a:off x="702573" y="1795719"/>
            <a:ext cx="2066873" cy="2341116"/>
          </a:xfrm>
          <a:prstGeom prst="rect">
            <a:avLst/>
          </a:prstGeom>
        </p:spPr>
      </p:pic>
      <p:pic>
        <p:nvPicPr>
          <p:cNvPr id="11" name="图片 10">
            <a:extLst>
              <a:ext uri="{FF2B5EF4-FFF2-40B4-BE49-F238E27FC236}">
                <a16:creationId xmlns:a16="http://schemas.microsoft.com/office/drawing/2014/main" id="{3B6316FF-75EF-CD95-D5CD-61316575A8F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477081" y="2354218"/>
            <a:ext cx="4649159" cy="3449377"/>
          </a:xfrm>
          <a:prstGeom prst="rect">
            <a:avLst/>
          </a:prstGeom>
        </p:spPr>
      </p:pic>
    </p:spTree>
    <p:extLst>
      <p:ext uri="{BB962C8B-B14F-4D97-AF65-F5344CB8AC3E}">
        <p14:creationId xmlns:p14="http://schemas.microsoft.com/office/powerpoint/2010/main" val="1176088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3F1195-ECEE-DFA9-613D-1AD4912B641F}"/>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6C600BB1-E846-D5B8-3EFC-22CDDAAA24C0}"/>
              </a:ext>
            </a:extLst>
          </p:cNvPr>
          <p:cNvSpPr txBox="1"/>
          <p:nvPr/>
        </p:nvSpPr>
        <p:spPr>
          <a:xfrm>
            <a:off x="166815" y="105032"/>
            <a:ext cx="2569934" cy="584775"/>
          </a:xfrm>
          <a:prstGeom prst="rect">
            <a:avLst/>
          </a:prstGeom>
          <a:noFill/>
        </p:spPr>
        <p:txBody>
          <a:bodyPr wrap="none" rtlCol="0">
            <a:spAutoFit/>
          </a:bodyPr>
          <a:lstStyle/>
          <a:p>
            <a:r>
              <a:rPr lang="en-US" altLang="zh-CN" sz="3200" b="1" dirty="0"/>
              <a:t>3.</a:t>
            </a:r>
            <a:r>
              <a:rPr lang="zh-CN" altLang="en-US" sz="3200" b="1" dirty="0"/>
              <a:t>结论和展望</a:t>
            </a:r>
            <a:endParaRPr lang="zh-CN" altLang="en-US" sz="2400" b="1" dirty="0"/>
          </a:p>
        </p:txBody>
      </p:sp>
      <p:sp>
        <p:nvSpPr>
          <p:cNvPr id="3" name="灯片编号占位符 3">
            <a:extLst>
              <a:ext uri="{FF2B5EF4-FFF2-40B4-BE49-F238E27FC236}">
                <a16:creationId xmlns:a16="http://schemas.microsoft.com/office/drawing/2014/main" id="{C8F69DE1-79CB-60C3-1B7E-F963135AA05F}"/>
              </a:ext>
            </a:extLst>
          </p:cNvPr>
          <p:cNvSpPr>
            <a:spLocks noGrp="1"/>
          </p:cNvSpPr>
          <p:nvPr>
            <p:ph type="sldNum" sz="quarter" idx="12"/>
          </p:nvPr>
        </p:nvSpPr>
        <p:spPr>
          <a:xfrm>
            <a:off x="11338560" y="6428700"/>
            <a:ext cx="787680" cy="316800"/>
          </a:xfrm>
        </p:spPr>
        <p:txBody>
          <a:bodyPr/>
          <a:lstStyle/>
          <a:p>
            <a:fld id="{49AE70B2-8BF9-45C0-BB95-33D1B9D3A854}" type="slidenum">
              <a:rPr lang="zh-CN" altLang="en-US" smtClean="0"/>
              <a:pPr/>
              <a:t>12</a:t>
            </a:fld>
            <a:endParaRPr lang="zh-CN" altLang="en-US" dirty="0"/>
          </a:p>
        </p:txBody>
      </p:sp>
      <p:sp>
        <p:nvSpPr>
          <p:cNvPr id="14" name="圆角矩形 20">
            <a:extLst>
              <a:ext uri="{FF2B5EF4-FFF2-40B4-BE49-F238E27FC236}">
                <a16:creationId xmlns:a16="http://schemas.microsoft.com/office/drawing/2014/main" id="{7C364D15-FB62-1289-70ED-C58DB9EEDDAA}"/>
              </a:ext>
            </a:extLst>
          </p:cNvPr>
          <p:cNvSpPr/>
          <p:nvPr>
            <p:custDataLst>
              <p:tags r:id="rId1"/>
            </p:custDataLst>
          </p:nvPr>
        </p:nvSpPr>
        <p:spPr>
          <a:xfrm>
            <a:off x="753877" y="1022757"/>
            <a:ext cx="1200785" cy="501650"/>
          </a:xfrm>
          <a:prstGeom prst="roundRect">
            <a:avLst>
              <a:gd name="adj" fmla="val 24303"/>
            </a:avLst>
          </a:prstGeom>
          <a:solidFill>
            <a:schemeClr val="accent1">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b="1" dirty="0">
                <a:latin typeface="微软雅黑" panose="020B0503020204020204" pitchFamily="34" charset="-122"/>
                <a:ea typeface="微软雅黑" panose="020B0503020204020204" pitchFamily="34" charset="-122"/>
              </a:rPr>
              <a:t>主要成果</a:t>
            </a:r>
          </a:p>
        </p:txBody>
      </p:sp>
      <p:sp>
        <p:nvSpPr>
          <p:cNvPr id="15" name="圆角矩形 21">
            <a:extLst>
              <a:ext uri="{FF2B5EF4-FFF2-40B4-BE49-F238E27FC236}">
                <a16:creationId xmlns:a16="http://schemas.microsoft.com/office/drawing/2014/main" id="{94A715DB-7C09-7334-2127-5E1DA4FF5FAA}"/>
              </a:ext>
            </a:extLst>
          </p:cNvPr>
          <p:cNvSpPr/>
          <p:nvPr>
            <p:custDataLst>
              <p:tags r:id="rId2"/>
            </p:custDataLst>
          </p:nvPr>
        </p:nvSpPr>
        <p:spPr>
          <a:xfrm>
            <a:off x="753877" y="4151875"/>
            <a:ext cx="1201420" cy="501650"/>
          </a:xfrm>
          <a:prstGeom prst="roundRect">
            <a:avLst>
              <a:gd name="adj" fmla="val 28734"/>
            </a:avLst>
          </a:prstGeom>
          <a:solidFill>
            <a:schemeClr val="accent1">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b="1" dirty="0">
                <a:latin typeface="微软雅黑" panose="020B0503020204020204" pitchFamily="34" charset="-122"/>
                <a:ea typeface="微软雅黑" panose="020B0503020204020204" pitchFamily="34" charset="-122"/>
                <a:sym typeface="+mn-ea"/>
              </a:rPr>
              <a:t>未来展望</a:t>
            </a:r>
          </a:p>
        </p:txBody>
      </p:sp>
      <p:sp>
        <p:nvSpPr>
          <p:cNvPr id="24" name="圆角矩形 28">
            <a:extLst>
              <a:ext uri="{FF2B5EF4-FFF2-40B4-BE49-F238E27FC236}">
                <a16:creationId xmlns:a16="http://schemas.microsoft.com/office/drawing/2014/main" id="{5315EFCC-9DC1-9785-1AFB-2D4946722868}"/>
              </a:ext>
            </a:extLst>
          </p:cNvPr>
          <p:cNvSpPr/>
          <p:nvPr>
            <p:custDataLst>
              <p:tags r:id="rId3"/>
            </p:custDataLst>
          </p:nvPr>
        </p:nvSpPr>
        <p:spPr>
          <a:xfrm>
            <a:off x="753877" y="1610890"/>
            <a:ext cx="9791065" cy="2355896"/>
          </a:xfrm>
          <a:prstGeom prst="roundRect">
            <a:avLst>
              <a:gd name="adj" fmla="val 8636"/>
            </a:avLst>
          </a:prstGeom>
          <a:noFill/>
          <a:ln>
            <a:prstDash val="sysDash"/>
          </a:ln>
          <a:extLst>
            <a:ext uri="{909E8E84-426E-40DD-AFC4-6F175D3DCCD1}">
              <a14:hiddenFill xmlns:a14="http://schemas.microsoft.com/office/drawing/2010/main">
                <a:solidFill>
                  <a:schemeClr val="accent1">
                    <a:lumMod val="75000"/>
                  </a:schemeClr>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2000" b="1">
              <a:latin typeface="微软雅黑" panose="020B0503020204020204" pitchFamily="34" charset="-122"/>
              <a:ea typeface="微软雅黑" panose="020B0503020204020204" pitchFamily="34" charset="-122"/>
            </a:endParaRPr>
          </a:p>
        </p:txBody>
      </p:sp>
      <p:sp>
        <p:nvSpPr>
          <p:cNvPr id="25" name="圆角矩形 14">
            <a:extLst>
              <a:ext uri="{FF2B5EF4-FFF2-40B4-BE49-F238E27FC236}">
                <a16:creationId xmlns:a16="http://schemas.microsoft.com/office/drawing/2014/main" id="{75AE8111-F121-C65E-F147-15858110B072}"/>
              </a:ext>
            </a:extLst>
          </p:cNvPr>
          <p:cNvSpPr/>
          <p:nvPr>
            <p:custDataLst>
              <p:tags r:id="rId4"/>
            </p:custDataLst>
          </p:nvPr>
        </p:nvSpPr>
        <p:spPr>
          <a:xfrm>
            <a:off x="755147" y="4739749"/>
            <a:ext cx="9791065" cy="1575532"/>
          </a:xfrm>
          <a:prstGeom prst="roundRect">
            <a:avLst>
              <a:gd name="adj" fmla="val 8636"/>
            </a:avLst>
          </a:prstGeom>
          <a:noFill/>
          <a:ln>
            <a:prstDash val="sysDash"/>
          </a:ln>
          <a:extLst>
            <a:ext uri="{909E8E84-426E-40DD-AFC4-6F175D3DCCD1}">
              <a14:hiddenFill xmlns:a14="http://schemas.microsoft.com/office/drawing/2010/main">
                <a:solidFill>
                  <a:schemeClr val="accent1">
                    <a:lumMod val="75000"/>
                  </a:schemeClr>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2000" b="1">
              <a:latin typeface="微软雅黑" panose="020B0503020204020204" pitchFamily="34" charset="-122"/>
              <a:ea typeface="微软雅黑" panose="020B0503020204020204" pitchFamily="34" charset="-122"/>
            </a:endParaRPr>
          </a:p>
        </p:txBody>
      </p:sp>
      <p:sp>
        <p:nvSpPr>
          <p:cNvPr id="26" name="文本框 25">
            <a:extLst>
              <a:ext uri="{FF2B5EF4-FFF2-40B4-BE49-F238E27FC236}">
                <a16:creationId xmlns:a16="http://schemas.microsoft.com/office/drawing/2014/main" id="{79503AAD-51FE-23AC-A5EA-0F35578EF1D0}"/>
              </a:ext>
            </a:extLst>
          </p:cNvPr>
          <p:cNvSpPr txBox="1"/>
          <p:nvPr/>
        </p:nvSpPr>
        <p:spPr>
          <a:xfrm>
            <a:off x="1005046" y="1709496"/>
            <a:ext cx="9288726" cy="2125582"/>
          </a:xfrm>
          <a:prstGeom prst="rect">
            <a:avLst/>
          </a:prstGeom>
          <a:noFill/>
        </p:spPr>
        <p:txBody>
          <a:bodyPr wrap="square" rtlCol="0">
            <a:spAutoFit/>
          </a:bodyPr>
          <a:lstStyle/>
          <a:p>
            <a:pPr marL="285750" indent="-285750">
              <a:lnSpc>
                <a:spcPct val="150000"/>
              </a:lnSpc>
              <a:buFont typeface="Wingdings" panose="05000000000000000000" pitchFamily="2" charset="2"/>
              <a:buChar char="p"/>
            </a:pPr>
            <a:r>
              <a:rPr lang="zh-CN" altLang="en-US" dirty="0"/>
              <a:t>建立了有较高精度，可快速复用的燃气蒸汽联合循环分析框架，有望近期在多个真实电厂上线在线评估系统</a:t>
            </a:r>
            <a:endParaRPr lang="en-US" altLang="zh-CN" dirty="0"/>
          </a:p>
          <a:p>
            <a:pPr marL="285750" indent="-285750">
              <a:lnSpc>
                <a:spcPct val="150000"/>
              </a:lnSpc>
              <a:buFont typeface="Wingdings" panose="05000000000000000000" pitchFamily="2" charset="2"/>
              <a:buChar char="p"/>
            </a:pPr>
            <a:r>
              <a:rPr lang="zh-CN" altLang="en-US" dirty="0"/>
              <a:t>分析了该型机组的能量分配规律，效率影响因素，为后续建模优化指明方向</a:t>
            </a:r>
            <a:endParaRPr lang="en-US" altLang="zh-CN" dirty="0"/>
          </a:p>
          <a:p>
            <a:pPr marL="285750" indent="-285750">
              <a:lnSpc>
                <a:spcPct val="150000"/>
              </a:lnSpc>
              <a:buFont typeface="Wingdings" panose="05000000000000000000" pitchFamily="2" charset="2"/>
              <a:buChar char="p"/>
            </a:pPr>
            <a:r>
              <a:rPr lang="zh-CN" altLang="en-US" dirty="0"/>
              <a:t>积累了从数据预处理到最终结果的全过程分析经验，掌握了构建燃气蒸汽联合循环数据集的方法</a:t>
            </a:r>
            <a:endParaRPr lang="en-US" altLang="zh-CN" dirty="0"/>
          </a:p>
        </p:txBody>
      </p:sp>
      <p:sp>
        <p:nvSpPr>
          <p:cNvPr id="27" name="文本框 26">
            <a:extLst>
              <a:ext uri="{FF2B5EF4-FFF2-40B4-BE49-F238E27FC236}">
                <a16:creationId xmlns:a16="http://schemas.microsoft.com/office/drawing/2014/main" id="{D5592CA6-C477-9F86-B499-38B3CBE0C0B4}"/>
              </a:ext>
            </a:extLst>
          </p:cNvPr>
          <p:cNvSpPr txBox="1"/>
          <p:nvPr/>
        </p:nvSpPr>
        <p:spPr>
          <a:xfrm>
            <a:off x="1005046" y="4838614"/>
            <a:ext cx="9288726" cy="1294585"/>
          </a:xfrm>
          <a:prstGeom prst="rect">
            <a:avLst/>
          </a:prstGeom>
          <a:noFill/>
        </p:spPr>
        <p:txBody>
          <a:bodyPr wrap="square" rtlCol="0">
            <a:spAutoFit/>
          </a:bodyPr>
          <a:lstStyle/>
          <a:p>
            <a:pPr marL="285750" indent="-285750">
              <a:lnSpc>
                <a:spcPct val="150000"/>
              </a:lnSpc>
              <a:buFont typeface="Wingdings" panose="05000000000000000000" pitchFamily="2" charset="2"/>
              <a:buChar char="p"/>
            </a:pPr>
            <a:r>
              <a:rPr lang="zh-CN" altLang="en-US" dirty="0"/>
              <a:t>针对联合循环更多细分子系统建立分析框架</a:t>
            </a:r>
            <a:endParaRPr lang="en-US" altLang="zh-CN" dirty="0"/>
          </a:p>
          <a:p>
            <a:pPr marL="285750" indent="-285750">
              <a:lnSpc>
                <a:spcPct val="150000"/>
              </a:lnSpc>
              <a:buFont typeface="Wingdings" panose="05000000000000000000" pitchFamily="2" charset="2"/>
              <a:buChar char="p"/>
            </a:pPr>
            <a:r>
              <a:rPr lang="zh-CN" altLang="en-US" dirty="0"/>
              <a:t>尝试运用新方法，提供更多系统运行的洞见</a:t>
            </a:r>
            <a:endParaRPr lang="en-US" altLang="zh-CN" dirty="0"/>
          </a:p>
          <a:p>
            <a:pPr marL="285750" indent="-285750">
              <a:lnSpc>
                <a:spcPct val="150000"/>
              </a:lnSpc>
              <a:buFont typeface="Wingdings" panose="05000000000000000000" pitchFamily="2" charset="2"/>
              <a:buChar char="p"/>
            </a:pPr>
            <a:r>
              <a:rPr lang="zh-CN" altLang="en-US" dirty="0"/>
              <a:t>针对各工况开展历史寻优及多目标优化</a:t>
            </a:r>
            <a:endParaRPr lang="en-US" altLang="zh-CN" dirty="0"/>
          </a:p>
        </p:txBody>
      </p:sp>
    </p:spTree>
    <p:extLst>
      <p:ext uri="{BB962C8B-B14F-4D97-AF65-F5344CB8AC3E}">
        <p14:creationId xmlns:p14="http://schemas.microsoft.com/office/powerpoint/2010/main" val="20517476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3707" y="616300"/>
            <a:ext cx="5698724" cy="5664569"/>
          </a:xfrm>
          <a:prstGeom prst="rect">
            <a:avLst/>
          </a:prstGeom>
        </p:spPr>
      </p:pic>
      <p:sp>
        <p:nvSpPr>
          <p:cNvPr id="13" name="矩形 12"/>
          <p:cNvSpPr/>
          <p:nvPr/>
        </p:nvSpPr>
        <p:spPr>
          <a:xfrm>
            <a:off x="-264" y="236306"/>
            <a:ext cx="5965853" cy="6151385"/>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 name="标题 3"/>
          <p:cNvSpPr>
            <a:spLocks noGrp="1"/>
          </p:cNvSpPr>
          <p:nvPr>
            <p:ph type="ctrTitle"/>
          </p:nvPr>
        </p:nvSpPr>
        <p:spPr>
          <a:xfrm>
            <a:off x="-52388" y="2297770"/>
            <a:ext cx="12296775" cy="2215515"/>
          </a:xfrm>
          <a:solidFill>
            <a:srgbClr val="005297"/>
          </a:solidFill>
        </p:spPr>
        <p:txBody>
          <a:bodyPr>
            <a:normAutofit/>
          </a:bodyPr>
          <a:lstStyle/>
          <a:p>
            <a:r>
              <a:rPr lang="en-US" altLang="zh-CN" sz="6000" dirty="0"/>
              <a:t> </a:t>
            </a:r>
          </a:p>
        </p:txBody>
      </p:sp>
      <p:sp>
        <p:nvSpPr>
          <p:cNvPr id="2" name="文本框 1"/>
          <p:cNvSpPr txBox="1"/>
          <p:nvPr/>
        </p:nvSpPr>
        <p:spPr>
          <a:xfrm>
            <a:off x="2933700" y="2802890"/>
            <a:ext cx="7371080" cy="1291590"/>
          </a:xfrm>
          <a:prstGeom prst="rect">
            <a:avLst/>
          </a:prstGeom>
          <a:noFill/>
        </p:spPr>
        <p:txBody>
          <a:bodyPr wrap="square" rtlCol="0">
            <a:spAutoFit/>
          </a:bodyPr>
          <a:lstStyle/>
          <a:p>
            <a:pPr algn="ctr"/>
            <a:r>
              <a:rPr lang="zh-CN" altLang="en-US" sz="6000" b="1" dirty="0">
                <a:solidFill>
                  <a:schemeClr val="bg1"/>
                </a:solidFill>
                <a:latin typeface="微软雅黑" panose="020B0503020204020204" pitchFamily="34" charset="-122"/>
                <a:ea typeface="微软雅黑" panose="020B0503020204020204" pitchFamily="34" charset="-122"/>
                <a:sym typeface="+mn-ea"/>
              </a:rPr>
              <a:t>请老师们批评指正！</a:t>
            </a:r>
            <a:br>
              <a:rPr lang="en-US" altLang="zh-CN" dirty="0">
                <a:sym typeface="+mn-ea"/>
              </a:rPr>
            </a:br>
            <a:endParaRPr lang="zh-CN" altLang="en-US" dirty="0"/>
          </a:p>
        </p:txBody>
      </p:sp>
      <p:sp>
        <p:nvSpPr>
          <p:cNvPr id="5" name="矩形 4"/>
          <p:cNvSpPr/>
          <p:nvPr/>
        </p:nvSpPr>
        <p:spPr>
          <a:xfrm>
            <a:off x="7462520" y="5525135"/>
            <a:ext cx="3728085" cy="375920"/>
          </a:xfrm>
          <a:prstGeom prst="rect">
            <a:avLst/>
          </a:prstGeom>
        </p:spPr>
        <p:txBody>
          <a:bodyPr wrap="square" lIns="68580" tIns="34291" rIns="68580" bIns="34291">
            <a:spAutoFit/>
          </a:bodyPr>
          <a:lstStyle/>
          <a:p>
            <a:pPr defTabSz="342900">
              <a:defRPr/>
            </a:pPr>
            <a:r>
              <a:rPr kumimoji="1" lang="zh-CN" altLang="en-US" sz="20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汇报人：汪奕辰</a:t>
            </a:r>
          </a:p>
        </p:txBody>
      </p:sp>
      <p:sp>
        <p:nvSpPr>
          <p:cNvPr id="6" name="TextBox 5"/>
          <p:cNvSpPr txBox="1"/>
          <p:nvPr/>
        </p:nvSpPr>
        <p:spPr>
          <a:xfrm>
            <a:off x="7462805" y="5902289"/>
            <a:ext cx="2446508" cy="375920"/>
          </a:xfrm>
          <a:prstGeom prst="rect">
            <a:avLst/>
          </a:prstGeom>
          <a:noFill/>
        </p:spPr>
        <p:txBody>
          <a:bodyPr wrap="square" lIns="68580" tIns="34291" rIns="68580" bIns="34291" rtlCol="0">
            <a:spAutoFit/>
          </a:bodyPr>
          <a:lstStyle/>
          <a:p>
            <a:pPr defTabSz="342900">
              <a:defRPr/>
            </a:pPr>
            <a:r>
              <a:rPr lang="zh-CN" altLang="en-US" sz="20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日期：</a:t>
            </a:r>
            <a:r>
              <a:rPr lang="en-US" altLang="zh-CN" sz="20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2026.6</a:t>
            </a:r>
            <a:endParaRPr lang="zh-CN" altLang="en-US" sz="20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7453"/>
    </mc:Choice>
    <mc:Fallback xmlns="">
      <p:transition spd="slow" advTm="7453"/>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340.88448818897626,&quot;left&quot;:248.35,&quot;top&quot;:136.97464566929133,&quot;width&quot;:458.79992125984256}"/>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340.88448818897626,&quot;left&quot;:248.35,&quot;top&quot;:136.97464566929133,&quot;width&quot;:458.79992125984256}"/>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340.88448818897626,&quot;left&quot;:248.35,&quot;top&quot;:136.97464566929133,&quot;width&quot;:458.79992125984256}"/>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340.88448818897626,&quot;left&quot;:248.35,&quot;top&quot;:136.97464566929133,&quot;width&quot;:458.79992125984256}"/>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340.88448818897626,&quot;left&quot;:248.35,&quot;top&quot;:136.97464566929133,&quot;width&quot;:458.79992125984256}"/>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340.88448818897626,&quot;left&quot;:248.35,&quot;top&quot;:136.97464566929133,&quot;width&quot;:458.79992125984256}"/>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340.88448818897626,&quot;left&quot;:248.35,&quot;top&quot;:136.97464566929133,&quot;width&quot;:458.79992125984256}"/>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340.88448818897626,&quot;left&quot;:248.35,&quot;top&quot;:136.97464566929133,&quot;width&quot;:458.79992125984256}"/>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340.88448818897626,&quot;left&quot;:248.35,&quot;top&quot;:136.97464566929133,&quot;width&quot;:458.79992125984256}"/>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340.88448818897626,&quot;left&quot;:248.35,&quot;top&quot;:136.97464566929133,&quot;width&quot;:458.79992125984256}"/>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340.88448818897626,&quot;left&quot;:248.35,&quot;top&quot;:136.97464566929133,&quot;width&quot;:458.79992125984256}"/>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340.88448818897626,&quot;left&quot;:248.35,&quot;top&quot;:136.97464566929133,&quot;width&quot;:458.79992125984256}"/>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340.88448818897626,&quot;left&quot;:248.35,&quot;top&quot;:136.97464566929133,&quot;width&quot;:458.79992125984256}"/>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340.88448818897626,&quot;left&quot;:248.35,&quot;top&quot;:136.97464566929133,&quot;width&quot;:458.79992125984256}"/>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340.88448818897626,&quot;left&quot;:248.35,&quot;top&quot;:136.97464566929133,&quot;width&quot;:458.79992125984256}"/>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316.45,&quot;left&quot;:23.1,&quot;top&quot;:156.7,&quot;width&quot;:930.75}"/>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316.45,&quot;left&quot;:23.1,&quot;top&quot;:156.7,&quot;width&quot;:930.75}"/>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356.2,&quot;left&quot;:23.1,&quot;top&quot;:116.95,&quot;width&quot;:930.75}"/>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356.2,&quot;left&quot;:23.1,&quot;top&quot;:116.95,&quot;width&quot;:930.75}"/>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2198</TotalTime>
  <Words>853</Words>
  <Application>Microsoft Office PowerPoint</Application>
  <PresentationFormat>宽屏</PresentationFormat>
  <Paragraphs>133</Paragraphs>
  <Slides>13</Slides>
  <Notes>13</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13</vt:i4>
      </vt:variant>
    </vt:vector>
  </HeadingPairs>
  <TitlesOfParts>
    <vt:vector size="19" baseType="lpstr">
      <vt:lpstr>Arial</vt:lpstr>
      <vt:lpstr>Calibri</vt:lpstr>
      <vt:lpstr>Wingdings</vt:lpstr>
      <vt:lpstr>等线</vt:lpstr>
      <vt:lpstr>微软雅黑</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汪奕辰</dc:creator>
  <cp:lastModifiedBy>奕辰 汪</cp:lastModifiedBy>
  <cp:revision>18</cp:revision>
  <dcterms:created xsi:type="dcterms:W3CDTF">2023-08-09T12:44:00Z</dcterms:created>
  <dcterms:modified xsi:type="dcterms:W3CDTF">2026-06-04T01:03:45Z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2052-12.1.0.21915</vt:lpwstr>
  </property>
</Properties>
</file>