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8221" r:id="rId2"/>
    <p:sldId id="526" r:id="rId3"/>
    <p:sldId id="8222" r:id="rId4"/>
    <p:sldId id="8223" r:id="rId5"/>
    <p:sldId id="8224" r:id="rId6"/>
    <p:sldId id="8225" r:id="rId7"/>
    <p:sldId id="8261" r:id="rId8"/>
    <p:sldId id="8227" r:id="rId9"/>
    <p:sldId id="8260" r:id="rId10"/>
    <p:sldId id="8259" r:id="rId11"/>
    <p:sldId id="825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493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3EFB3-C0C5-4985-BD85-90347122625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0DDBF-8EC7-43C4-A613-453C1BF6C9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53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尊敬的各位老师大家好！我是行健</a:t>
            </a:r>
            <a:r>
              <a:rPr lang="en-US" altLang="zh-CN"/>
              <a:t>-</a:t>
            </a:r>
            <a:r>
              <a:rPr lang="zh-CN" altLang="en-US"/>
              <a:t>车辆班的朱旭升，我的中期报告题目是《基于大数据方法的实车燃料电池系统性能估计方法研究》，指导老师是胡尊严副教授。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2299A-D4ED-4AA2-815C-5CE3EBF0566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936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B86C-D4E2-2FBB-F205-34CCA8CD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A72680-B5B8-22DD-2444-8CF060918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5E2A88-D3F7-7F9E-127F-D03F4B888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35E0E1-8508-65C5-2DB3-E07A1CC1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9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092D-85AE-58DC-9D40-32E1A9CB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CC085E-900C-4FBF-A0C7-5DD179945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770CDC-24FD-5BA5-5AAB-3B9EDA55D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167335-6661-8647-4D24-3BEB78AB2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987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9DCA-A10B-DFB8-3D88-D128B90D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577C3B-BDE2-8991-57B7-395BFA006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1A7E09-2615-D695-061B-1C6B25EFD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8BC0EA-A7F9-BD61-8251-8470DE40C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195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6D2AD-A762-2F9D-E185-BC739712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B0CC75-91C9-BD30-E09E-3E0B5D7CC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280CAC-6771-A1D3-A8E9-78C1C5E46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81C94D-4314-58D1-3365-93428541B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956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C551-0399-C478-2521-0F4E0306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DB991A-CB66-84A9-2D52-4B541AFE4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0189CB-903E-3070-06FA-4AF1BAE26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A9C44B-9A22-067B-7FAA-8E44D79ED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809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E9C3-FE65-3C23-A55D-96430695C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437A39-69C9-5A8B-F283-767A20FB9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A1D1D5-9959-CA84-8089-9A76F951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0BFDC4-92C7-C805-64DB-C05086AEA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409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2B6F7-64A0-CAAE-9DF9-06F1FDD3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4EC034-602D-DA31-D29B-7668FFE31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67E698-345F-2D18-E874-BFAC9CFA4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6D6D1-C6DB-E6FD-8440-373E256A3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069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33F6-C706-3D99-A551-B187DEDB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D35F51-6DDD-8FCD-A8EF-DBB0EE47E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6DA172-658C-9318-20F0-0E144C7E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575F7D-4AC6-8342-06A2-4101F57E0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353D4-0C51-4438-ACC1-F3CCB952991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680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3B2299A-D4ED-4AA2-815C-5CE3EBF0566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C53F64-55D0-4D2E-AB7F-04E6B48EAF25}"/>
              </a:ext>
            </a:extLst>
          </p:cNvPr>
          <p:cNvSpPr txBox="1"/>
          <p:nvPr userDrawn="1"/>
        </p:nvSpPr>
        <p:spPr>
          <a:xfrm>
            <a:off x="149703" y="-37319"/>
            <a:ext cx="9787927" cy="76996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Playfair Display Black" charset="0"/>
                <a:ea typeface="Playfair Display Black" charset="0"/>
                <a:cs typeface="Playfair Display Black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110" normalizeH="0" baseline="0" noProof="0" dirty="0">
              <a:ln>
                <a:noFill/>
              </a:ln>
              <a:solidFill>
                <a:srgbClr val="74348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DF6F8D7-A2B2-4949-9BD5-0D8779C15DB1}"/>
              </a:ext>
            </a:extLst>
          </p:cNvPr>
          <p:cNvGrpSpPr/>
          <p:nvPr userDrawn="1"/>
        </p:nvGrpSpPr>
        <p:grpSpPr>
          <a:xfrm>
            <a:off x="1" y="787688"/>
            <a:ext cx="12191996" cy="64795"/>
            <a:chOff x="6618517" y="1156120"/>
            <a:chExt cx="11043839" cy="65556"/>
          </a:xfrm>
          <a:solidFill>
            <a:srgbClr val="643D95"/>
          </a:solidFill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ABBD4F3-61EA-4FFE-A6EC-133B7443BC2F}"/>
                </a:ext>
              </a:extLst>
            </p:cNvPr>
            <p:cNvSpPr/>
            <p:nvPr/>
          </p:nvSpPr>
          <p:spPr>
            <a:xfrm>
              <a:off x="6618517" y="1156120"/>
              <a:ext cx="1983307" cy="6555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8" name="直接连接符 40">
              <a:extLst>
                <a:ext uri="{FF2B5EF4-FFF2-40B4-BE49-F238E27FC236}">
                  <a16:creationId xmlns:a16="http://schemas.microsoft.com/office/drawing/2014/main" id="{CD16F0BC-A10E-4E99-BB59-06F26FA98B1A}"/>
                </a:ext>
              </a:extLst>
            </p:cNvPr>
            <p:cNvCxnSpPr/>
            <p:nvPr/>
          </p:nvCxnSpPr>
          <p:spPr>
            <a:xfrm flipV="1">
              <a:off x="8601824" y="1204050"/>
              <a:ext cx="9060532" cy="1"/>
            </a:xfrm>
            <a:prstGeom prst="line">
              <a:avLst/>
            </a:prstGeom>
            <a:grpFill/>
            <a:ln w="22225">
              <a:solidFill>
                <a:srgbClr val="611C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84FF60C2-560C-4D2F-B2EF-2333DABAED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52721" y="45609"/>
            <a:ext cx="4239279" cy="765766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C30C8-B1D0-46F2-AF7A-9BFB9EA3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2E4D678C-D606-46A2-A543-4BFB40C1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483C2030-4FC6-4B0D-B906-20C85B23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8A8BFE45-B6CC-4A0D-93EC-2DCF2882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03" y="38891"/>
            <a:ext cx="10969200" cy="70560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3345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7" y="616300"/>
            <a:ext cx="5698724" cy="5664569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3706" y="236306"/>
            <a:ext cx="5965853" cy="615138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462520" y="5525586"/>
            <a:ext cx="3728085" cy="375920"/>
          </a:xfrm>
          <a:prstGeom prst="rect">
            <a:avLst/>
          </a:prstGeom>
        </p:spPr>
        <p:txBody>
          <a:bodyPr wrap="square" lIns="68580" tIns="34291" rIns="68580" bIns="34291">
            <a:spAutoFit/>
          </a:bodyPr>
          <a:lstStyle/>
          <a:p>
            <a:pPr defTabSz="342900"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汇报人：汪奕辰</a:t>
            </a:r>
          </a:p>
        </p:txBody>
      </p:sp>
      <p:sp>
        <p:nvSpPr>
          <p:cNvPr id="10" name="TextBox 5"/>
          <p:cNvSpPr txBox="1"/>
          <p:nvPr/>
        </p:nvSpPr>
        <p:spPr>
          <a:xfrm>
            <a:off x="7462520" y="6280869"/>
            <a:ext cx="2446508" cy="375920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defTabSz="3429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日期：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2026.4</a:t>
            </a:r>
            <a:endParaRPr lang="zh-CN" altLang="en-US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2429648"/>
            <a:ext cx="12192000" cy="1852002"/>
          </a:xfrm>
          <a:prstGeom prst="rect">
            <a:avLst/>
          </a:prstGeom>
          <a:gradFill flip="none" rotWithShape="1">
            <a:gsLst>
              <a:gs pos="0">
                <a:srgbClr val="0E64AC">
                  <a:shade val="30000"/>
                  <a:satMod val="115000"/>
                </a:srgbClr>
              </a:gs>
              <a:gs pos="50000">
                <a:srgbClr val="0E64AC">
                  <a:shade val="67500"/>
                  <a:satMod val="115000"/>
                </a:srgbClr>
              </a:gs>
              <a:gs pos="100000">
                <a:srgbClr val="0E64AC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数据驱动的燃气蒸汽联合循环机组性能评估与优化方法研究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1907540"/>
            <a:ext cx="4811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本科毕业设计中期报告：</a:t>
            </a:r>
          </a:p>
        </p:txBody>
      </p:sp>
      <p:sp>
        <p:nvSpPr>
          <p:cNvPr id="3" name="矩形 2"/>
          <p:cNvSpPr/>
          <p:nvPr/>
        </p:nvSpPr>
        <p:spPr>
          <a:xfrm>
            <a:off x="7462520" y="5147945"/>
            <a:ext cx="3413760" cy="375920"/>
          </a:xfrm>
          <a:prstGeom prst="rect">
            <a:avLst/>
          </a:prstGeom>
        </p:spPr>
        <p:txBody>
          <a:bodyPr wrap="square" lIns="68580" tIns="34291" rIns="68580" bIns="34291">
            <a:spAutoFit/>
          </a:bodyPr>
          <a:lstStyle/>
          <a:p>
            <a:pPr defTabSz="342900"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指导老师：刘超</a:t>
            </a:r>
          </a:p>
        </p:txBody>
      </p:sp>
      <p:sp>
        <p:nvSpPr>
          <p:cNvPr id="4" name="TextBox 5"/>
          <p:cNvSpPr txBox="1"/>
          <p:nvPr/>
        </p:nvSpPr>
        <p:spPr>
          <a:xfrm>
            <a:off x="7462520" y="5903227"/>
            <a:ext cx="2446508" cy="377028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defTabSz="3429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班级：行健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9"/>
    </mc:Choice>
    <mc:Fallback xmlns="">
      <p:transition spd="slow" advTm="97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FD79A-ACA0-C5CA-D120-8A59E6A8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6F40B68-5A13-558E-FCCA-77D7DC24624C}"/>
              </a:ext>
            </a:extLst>
          </p:cNvPr>
          <p:cNvSpPr txBox="1"/>
          <p:nvPr/>
        </p:nvSpPr>
        <p:spPr>
          <a:xfrm>
            <a:off x="166815" y="10503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EE02E1-7D21-70AE-AF76-1B8A23E8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F8D7796-1E19-EA1B-C357-EC864E6FEAB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071496" y="1954208"/>
            <a:ext cx="5826758" cy="707886"/>
            <a:chOff x="3203934" y="1734276"/>
            <a:chExt cx="5826758" cy="707886"/>
          </a:xfrm>
        </p:grpSpPr>
        <p:sp>
          <p:nvSpPr>
            <p:cNvPr id="6" name="箭头: 五边形 5">
              <a:extLst>
                <a:ext uri="{FF2B5EF4-FFF2-40B4-BE49-F238E27FC236}">
                  <a16:creationId xmlns:a16="http://schemas.microsoft.com/office/drawing/2014/main" id="{82F19240-7A72-7923-3903-8B2516C01DC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513812" y="1734276"/>
              <a:ext cx="5516880" cy="707886"/>
            </a:xfrm>
            <a:prstGeom prst="homePlate">
              <a:avLst/>
            </a:prstGeom>
            <a:solidFill>
              <a:srgbClr val="E7E6E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4D5CA62-19BA-C1AF-512F-2D6EF414FA2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2700000">
              <a:off x="3203933" y="1786805"/>
              <a:ext cx="619760" cy="619759"/>
            </a:xfrm>
            <a:prstGeom prst="roundRect">
              <a:avLst/>
            </a:prstGeom>
            <a:solidFill>
              <a:srgbClr val="004A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" name="文本框 16">
              <a:extLst>
                <a:ext uri="{FF2B5EF4-FFF2-40B4-BE49-F238E27FC236}">
                  <a16:creationId xmlns:a16="http://schemas.microsoft.com/office/drawing/2014/main" id="{1A7BE165-E180-2F8A-3748-4C5E9AADE9F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3300839" y="1822447"/>
              <a:ext cx="40588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F7B2807-2CC2-D71F-01D1-1498377C667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034664" y="1845682"/>
              <a:ext cx="4444849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004A8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4F10ED2-6620-742B-0746-C9FB0E0586D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71496" y="3360362"/>
            <a:ext cx="5826758" cy="707886"/>
            <a:chOff x="3203934" y="1734276"/>
            <a:chExt cx="5826758" cy="707886"/>
          </a:xfrm>
        </p:grpSpPr>
        <p:sp>
          <p:nvSpPr>
            <p:cNvPr id="11" name="箭头: 五边形 10">
              <a:extLst>
                <a:ext uri="{FF2B5EF4-FFF2-40B4-BE49-F238E27FC236}">
                  <a16:creationId xmlns:a16="http://schemas.microsoft.com/office/drawing/2014/main" id="{7445063E-836B-7B81-A6E1-E8EA5F99195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13812" y="1734276"/>
              <a:ext cx="5516880" cy="707886"/>
            </a:xfrm>
            <a:prstGeom prst="homePlate">
              <a:avLst/>
            </a:prstGeom>
            <a:solidFill>
              <a:srgbClr val="E7E6E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BAB5B4CB-A67C-54AE-2D53-1D04B7F3E1D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2700000">
              <a:off x="3203933" y="1786805"/>
              <a:ext cx="619760" cy="619759"/>
            </a:xfrm>
            <a:prstGeom prst="roundRect">
              <a:avLst/>
            </a:prstGeom>
            <a:solidFill>
              <a:srgbClr val="004A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文本框 16">
              <a:extLst>
                <a:ext uri="{FF2B5EF4-FFF2-40B4-BE49-F238E27FC236}">
                  <a16:creationId xmlns:a16="http://schemas.microsoft.com/office/drawing/2014/main" id="{A45A7D9E-8716-D3EE-C566-4DD927D71A5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300839" y="1822447"/>
              <a:ext cx="40588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1047DE7-CE07-BB0A-F764-0D85760AFAB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034664" y="1845682"/>
              <a:ext cx="4444849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004A8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研究进展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608D294-4E34-5FE6-5897-3D487DB4BA7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071496" y="4864355"/>
            <a:ext cx="5826758" cy="707886"/>
            <a:chOff x="3203934" y="1734276"/>
            <a:chExt cx="5826758" cy="707886"/>
          </a:xfrm>
        </p:grpSpPr>
        <p:sp>
          <p:nvSpPr>
            <p:cNvPr id="16" name="箭头: 五边形 15">
              <a:extLst>
                <a:ext uri="{FF2B5EF4-FFF2-40B4-BE49-F238E27FC236}">
                  <a16:creationId xmlns:a16="http://schemas.microsoft.com/office/drawing/2014/main" id="{B2178CA1-ADB6-911E-1F12-7D8BE9094C6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513812" y="1734276"/>
              <a:ext cx="5516880" cy="707886"/>
            </a:xfrm>
            <a:prstGeom prst="homePlate">
              <a:avLst/>
            </a:prstGeom>
            <a:solidFill>
              <a:srgbClr val="E7E6E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2E4D711-8884-9D98-E6B0-3655ADA7077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2700000">
              <a:off x="3203933" y="1786805"/>
              <a:ext cx="619760" cy="619759"/>
            </a:xfrm>
            <a:prstGeom prst="roundRect">
              <a:avLst/>
            </a:prstGeom>
            <a:solidFill>
              <a:srgbClr val="004A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8" name="文本框 16">
              <a:extLst>
                <a:ext uri="{FF2B5EF4-FFF2-40B4-BE49-F238E27FC236}">
                  <a16:creationId xmlns:a16="http://schemas.microsoft.com/office/drawing/2014/main" id="{750873D1-93F3-20F4-A559-2168A330655E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300839" y="1822447"/>
              <a:ext cx="40588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49792B9-48A6-8E5D-1D00-9CDE1708615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034664" y="1845682"/>
              <a:ext cx="4444849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004A8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6751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1EA5-CA33-CF94-EEAF-CB62747B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6BACB0-4214-5008-29B1-55E2EAC96BF6}"/>
              </a:ext>
            </a:extLst>
          </p:cNvPr>
          <p:cNvSpPr txBox="1"/>
          <p:nvPr/>
        </p:nvSpPr>
        <p:spPr>
          <a:xfrm>
            <a:off x="166815" y="105032"/>
            <a:ext cx="5631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1.</a:t>
            </a:r>
            <a:r>
              <a:rPr lang="zh-CN" altLang="en-US" sz="3200" b="1" dirty="0"/>
              <a:t>研究背景：</a:t>
            </a:r>
            <a:r>
              <a:rPr lang="zh-CN" altLang="en-US" sz="2400" b="1" dirty="0"/>
              <a:t>燃气蒸汽联合循环概述</a:t>
            </a:r>
            <a:endParaRPr lang="zh-CN" altLang="en-US" sz="3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B4A47-1B25-F504-14DB-8CCEE8EA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5B3035-8F7C-D936-44C3-B42BDB4CC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43" y="3185854"/>
            <a:ext cx="5462335" cy="324284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CF3D1DD0-D860-F6E3-053F-6C940A086044}"/>
              </a:ext>
            </a:extLst>
          </p:cNvPr>
          <p:cNvSpPr/>
          <p:nvPr/>
        </p:nvSpPr>
        <p:spPr>
          <a:xfrm>
            <a:off x="1073570" y="1465080"/>
            <a:ext cx="772985" cy="77298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28D836-D1DF-38A0-AAEE-73F6B29B864E}"/>
              </a:ext>
            </a:extLst>
          </p:cNvPr>
          <p:cNvSpPr txBox="1"/>
          <p:nvPr/>
        </p:nvSpPr>
        <p:spPr>
          <a:xfrm>
            <a:off x="2017994" y="1398226"/>
            <a:ext cx="3944728" cy="133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显著优势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热效率高，污染物排放低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相应速度快，适用于调峰调频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B740167-C48A-0D26-BF4D-D3AE51B61AB2}"/>
              </a:ext>
            </a:extLst>
          </p:cNvPr>
          <p:cNvSpPr/>
          <p:nvPr/>
        </p:nvSpPr>
        <p:spPr>
          <a:xfrm>
            <a:off x="6229278" y="1465080"/>
            <a:ext cx="772985" cy="772985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02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4A900A-72C9-DFF6-6064-968B4A1A84D4}"/>
              </a:ext>
            </a:extLst>
          </p:cNvPr>
          <p:cNvSpPr txBox="1"/>
          <p:nvPr/>
        </p:nvSpPr>
        <p:spPr>
          <a:xfrm>
            <a:off x="7173702" y="1398226"/>
            <a:ext cx="3944728" cy="133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面临挑战：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运行工况偏离设计工况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部件在长时间运行发生退化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3644C5-FEBB-DCB6-1EA3-724A00F00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530" y="3350665"/>
            <a:ext cx="4149630" cy="291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6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7D5C9-579F-AA19-1CC0-B40E94A9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CE4EA7-1F7F-81C5-ECB0-1A61E5B24D12}"/>
              </a:ext>
            </a:extLst>
          </p:cNvPr>
          <p:cNvSpPr txBox="1"/>
          <p:nvPr/>
        </p:nvSpPr>
        <p:spPr>
          <a:xfrm>
            <a:off x="166815" y="105032"/>
            <a:ext cx="5323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1.</a:t>
            </a:r>
            <a:r>
              <a:rPr lang="zh-CN" altLang="en-US" sz="3200" b="1" dirty="0"/>
              <a:t>研究背景：</a:t>
            </a:r>
            <a:r>
              <a:rPr lang="zh-CN" altLang="en-US" sz="2400" b="1" dirty="0"/>
              <a:t>数据驱动的研究方法</a:t>
            </a:r>
            <a:endParaRPr lang="zh-CN" altLang="en-US" sz="3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AE15E8-8F3F-E500-5832-39152CE4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086D66-1F95-BF36-2FB3-1D2901B60820}"/>
              </a:ext>
            </a:extLst>
          </p:cNvPr>
          <p:cNvSpPr/>
          <p:nvPr/>
        </p:nvSpPr>
        <p:spPr>
          <a:xfrm>
            <a:off x="6497495" y="3004842"/>
            <a:ext cx="4237771" cy="3272921"/>
          </a:xfrm>
          <a:prstGeom prst="rect">
            <a:avLst/>
          </a:prstGeom>
          <a:solidFill>
            <a:srgbClr val="F7F7F7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88007B-B335-72F7-4857-FE434AE5E4F8}"/>
              </a:ext>
            </a:extLst>
          </p:cNvPr>
          <p:cNvSpPr/>
          <p:nvPr/>
        </p:nvSpPr>
        <p:spPr>
          <a:xfrm>
            <a:off x="1456734" y="3004842"/>
            <a:ext cx="4237771" cy="3272921"/>
          </a:xfrm>
          <a:prstGeom prst="rect">
            <a:avLst/>
          </a:prstGeom>
          <a:solidFill>
            <a:srgbClr val="F7F7F7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12790D-CED5-FFF5-492B-AC48C3A1B630}"/>
              </a:ext>
            </a:extLst>
          </p:cNvPr>
          <p:cNvSpPr txBox="1"/>
          <p:nvPr/>
        </p:nvSpPr>
        <p:spPr>
          <a:xfrm>
            <a:off x="1456734" y="1343222"/>
            <a:ext cx="959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性能评估</a:t>
            </a:r>
            <a:r>
              <a:rPr lang="zh-CN" altLang="en-US" dirty="0"/>
              <a:t>：</a:t>
            </a:r>
            <a:r>
              <a:rPr lang="zh-CN" altLang="zh-CN" dirty="0"/>
              <a:t>对机组长期运行数据进行统计分析与特征提取，获取各关键部件运行状态的长期变化趋势，从而识别性能退化规律及潜在异常行为，为设备健康评估与运行优化提供依据。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D6BCAD-DE77-5E34-1185-6CE49244B1E1}"/>
              </a:ext>
            </a:extLst>
          </p:cNvPr>
          <p:cNvSpPr txBox="1"/>
          <p:nvPr/>
        </p:nvSpPr>
        <p:spPr>
          <a:xfrm>
            <a:off x="2081673" y="2446809"/>
            <a:ext cx="284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稳态工况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28531B-5587-8823-A7C0-7E51C8DA8A54}"/>
              </a:ext>
            </a:extLst>
          </p:cNvPr>
          <p:cNvSpPr txBox="1"/>
          <p:nvPr/>
        </p:nvSpPr>
        <p:spPr>
          <a:xfrm>
            <a:off x="7266226" y="2446809"/>
            <a:ext cx="284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变工况调节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0A3831B-3EF2-6E01-3ACB-193797A56A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330" y="4023119"/>
            <a:ext cx="2821750" cy="200870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5C1F248-5034-2F94-7CC0-E75A96E831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49" b="10819"/>
          <a:stretch>
            <a:fillRect/>
          </a:stretch>
        </p:blipFill>
        <p:spPr>
          <a:xfrm>
            <a:off x="2238235" y="4102123"/>
            <a:ext cx="2759433" cy="192969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A4A2867-4DD9-06A6-FEDA-EF0BD2DF116B}"/>
              </a:ext>
            </a:extLst>
          </p:cNvPr>
          <p:cNvSpPr txBox="1"/>
          <p:nvPr/>
        </p:nvSpPr>
        <p:spPr>
          <a:xfrm>
            <a:off x="1707932" y="3287073"/>
            <a:ext cx="3720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余热锅炉多参数耦合，使用</a:t>
            </a:r>
            <a:r>
              <a:rPr lang="zh-CN" altLang="zh-CN" dirty="0"/>
              <a:t>多层感知机（</a:t>
            </a:r>
            <a:r>
              <a:rPr lang="en-US" altLang="zh-CN" dirty="0"/>
              <a:t>MLP</a:t>
            </a:r>
            <a:r>
              <a:rPr lang="zh-CN" altLang="zh-CN" dirty="0"/>
              <a:t>）</a:t>
            </a:r>
            <a:r>
              <a:rPr lang="zh-CN" altLang="en-US" dirty="0"/>
              <a:t>等</a:t>
            </a:r>
            <a:r>
              <a:rPr lang="zh-CN" altLang="zh-CN" dirty="0"/>
              <a:t>刻画静态非线性关系</a:t>
            </a:r>
            <a:r>
              <a:rPr lang="zh-CN" altLang="en-US" dirty="0"/>
              <a:t>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71EF85-D185-8B27-988A-10C1953ABD54}"/>
              </a:ext>
            </a:extLst>
          </p:cNvPr>
          <p:cNvSpPr txBox="1"/>
          <p:nvPr/>
        </p:nvSpPr>
        <p:spPr>
          <a:xfrm>
            <a:off x="6753531" y="3287073"/>
            <a:ext cx="3720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长短期记忆网络（</a:t>
            </a:r>
            <a:r>
              <a:rPr lang="en-US" altLang="zh-CN" dirty="0"/>
              <a:t>LSTM</a:t>
            </a:r>
            <a:r>
              <a:rPr lang="zh-CN" altLang="zh-CN" dirty="0"/>
              <a:t>）</a:t>
            </a:r>
            <a:r>
              <a:rPr lang="zh-CN" altLang="en-US" dirty="0"/>
              <a:t>等</a:t>
            </a:r>
            <a:r>
              <a:rPr lang="zh-CN" altLang="zh-CN" dirty="0"/>
              <a:t>描述具有时序相关性的动态过程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2569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FF63-17D7-5C4F-D5F1-462D3EB7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A8ED79-3A97-61CA-E1A7-486AB1E0ED44}"/>
              </a:ext>
            </a:extLst>
          </p:cNvPr>
          <p:cNvSpPr txBox="1"/>
          <p:nvPr/>
        </p:nvSpPr>
        <p:spPr>
          <a:xfrm>
            <a:off x="166815" y="105032"/>
            <a:ext cx="4092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研究进展：</a:t>
            </a:r>
            <a:r>
              <a:rPr lang="zh-CN" altLang="en-US" sz="2400" b="1" dirty="0"/>
              <a:t>数据预处理</a:t>
            </a:r>
            <a:endParaRPr lang="zh-CN" altLang="en-US" sz="3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34966A-ACE6-1D0F-6E83-907D5007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3FB601-9F44-83C1-6EE0-89EB5FF8957F}"/>
              </a:ext>
            </a:extLst>
          </p:cNvPr>
          <p:cNvSpPr txBox="1"/>
          <p:nvPr/>
        </p:nvSpPr>
        <p:spPr>
          <a:xfrm>
            <a:off x="1456734" y="1343222"/>
            <a:ext cx="959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数据预处理</a:t>
            </a:r>
            <a:r>
              <a:rPr lang="zh-CN" altLang="en-US" dirty="0"/>
              <a:t>：</a:t>
            </a:r>
            <a:r>
              <a:rPr lang="zh-CN" altLang="zh-CN" dirty="0"/>
              <a:t>基于燃气</a:t>
            </a:r>
            <a:r>
              <a:rPr lang="en-US" altLang="zh-CN" dirty="0"/>
              <a:t>—</a:t>
            </a:r>
            <a:r>
              <a:rPr lang="zh-CN" altLang="zh-CN" dirty="0"/>
              <a:t>蒸汽联合循环系统的热力学过程及能量传递路径，对原始运行数据进行系统梳理与筛选，重点提取余热锅炉与汽轮机相关的关键测点信息，共</a:t>
            </a:r>
            <a:r>
              <a:rPr lang="en-US" altLang="zh-CN" dirty="0"/>
              <a:t>99</a:t>
            </a:r>
            <a:r>
              <a:rPr lang="zh-CN" altLang="zh-CN" dirty="0"/>
              <a:t>个测点变量。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708963-C3BF-AA96-EE91-012E92651D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72"/>
          <a:stretch>
            <a:fillRect/>
          </a:stretch>
        </p:blipFill>
        <p:spPr>
          <a:xfrm>
            <a:off x="3209447" y="2957440"/>
            <a:ext cx="5773106" cy="2863189"/>
          </a:xfrm>
          <a:prstGeom prst="rect">
            <a:avLst/>
          </a:prstGeom>
        </p:spPr>
      </p:pic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17540946-3063-AD42-81EA-34C5077D75B0}"/>
              </a:ext>
            </a:extLst>
          </p:cNvPr>
          <p:cNvSpPr/>
          <p:nvPr/>
        </p:nvSpPr>
        <p:spPr>
          <a:xfrm>
            <a:off x="1198180" y="2427889"/>
            <a:ext cx="2850405" cy="1236017"/>
          </a:xfrm>
          <a:prstGeom prst="wedgeRectCallout">
            <a:avLst>
              <a:gd name="adj1" fmla="val 96423"/>
              <a:gd name="adj2" fmla="val 7882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910D4E64-110F-E3B1-C6C8-2C68D42B0C30}"/>
              </a:ext>
            </a:extLst>
          </p:cNvPr>
          <p:cNvSpPr/>
          <p:nvPr/>
        </p:nvSpPr>
        <p:spPr>
          <a:xfrm>
            <a:off x="1198180" y="5114163"/>
            <a:ext cx="2850405" cy="1236017"/>
          </a:xfrm>
          <a:prstGeom prst="wedgeRectCallout">
            <a:avLst>
              <a:gd name="adj1" fmla="val 139343"/>
              <a:gd name="adj2" fmla="val -8137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A9302595-C0E1-F93C-0023-892FDAD8551D}"/>
              </a:ext>
            </a:extLst>
          </p:cNvPr>
          <p:cNvSpPr/>
          <p:nvPr/>
        </p:nvSpPr>
        <p:spPr>
          <a:xfrm>
            <a:off x="8079302" y="2339431"/>
            <a:ext cx="2850405" cy="1236017"/>
          </a:xfrm>
          <a:prstGeom prst="wedgeRectCallout">
            <a:avLst>
              <a:gd name="adj1" fmla="val -89860"/>
              <a:gd name="adj2" fmla="val 17729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47FD6E-180C-9C76-BB55-D03EBAEEE086}"/>
              </a:ext>
            </a:extLst>
          </p:cNvPr>
          <p:cNvSpPr txBox="1"/>
          <p:nvPr/>
        </p:nvSpPr>
        <p:spPr>
          <a:xfrm>
            <a:off x="1551327" y="2722731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余热锅炉侧包含高中低压共</a:t>
            </a:r>
            <a:r>
              <a:rPr lang="en-US" altLang="zh-CN" dirty="0"/>
              <a:t>76</a:t>
            </a:r>
            <a:r>
              <a:rPr lang="zh-CN" altLang="en-US" dirty="0"/>
              <a:t>测点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BC4AE3B-996F-126E-2C2A-68CA6C74BAB2}"/>
              </a:ext>
            </a:extLst>
          </p:cNvPr>
          <p:cNvSpPr txBox="1"/>
          <p:nvPr/>
        </p:nvSpPr>
        <p:spPr>
          <a:xfrm>
            <a:off x="1551327" y="5409007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汽轮机高中低压缸共</a:t>
            </a:r>
            <a:r>
              <a:rPr lang="en-US" altLang="zh-CN" dirty="0"/>
              <a:t>7</a:t>
            </a:r>
            <a:r>
              <a:rPr lang="zh-CN" altLang="en-US" dirty="0"/>
              <a:t>测点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C67EAA-FBC4-9211-7268-CC7E9ABB46DB}"/>
              </a:ext>
            </a:extLst>
          </p:cNvPr>
          <p:cNvSpPr txBox="1"/>
          <p:nvPr/>
        </p:nvSpPr>
        <p:spPr>
          <a:xfrm>
            <a:off x="8432449" y="2634273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给水泵、节流阀、凝汽器等共</a:t>
            </a:r>
            <a:r>
              <a:rPr lang="en-US" altLang="zh-CN" dirty="0"/>
              <a:t>13</a:t>
            </a:r>
            <a:r>
              <a:rPr lang="zh-CN" altLang="en-US" dirty="0"/>
              <a:t>测点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5F1721-B28D-3C8E-AD7E-1A781A21082F}"/>
              </a:ext>
            </a:extLst>
          </p:cNvPr>
          <p:cNvSpPr txBox="1"/>
          <p:nvPr/>
        </p:nvSpPr>
        <p:spPr>
          <a:xfrm>
            <a:off x="9253720" y="4910873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单位转换与标准化</a:t>
            </a:r>
            <a:endParaRPr lang="en-US" altLang="zh-CN" dirty="0"/>
          </a:p>
          <a:p>
            <a:pPr algn="ctr"/>
            <a:r>
              <a:rPr lang="zh-CN" altLang="en-US" dirty="0"/>
              <a:t>合理线性插值</a:t>
            </a:r>
          </a:p>
        </p:txBody>
      </p:sp>
    </p:spTree>
    <p:extLst>
      <p:ext uri="{BB962C8B-B14F-4D97-AF65-F5344CB8AC3E}">
        <p14:creationId xmlns:p14="http://schemas.microsoft.com/office/powerpoint/2010/main" val="57938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A43B3-FA1F-F9CD-3F71-D44FDA0B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FE4C811B-CA77-E5AA-ADD5-7C352605F65B}"/>
              </a:ext>
            </a:extLst>
          </p:cNvPr>
          <p:cNvSpPr/>
          <p:nvPr/>
        </p:nvSpPr>
        <p:spPr>
          <a:xfrm>
            <a:off x="428822" y="1154036"/>
            <a:ext cx="11477297" cy="5019741"/>
          </a:xfrm>
          <a:prstGeom prst="rect">
            <a:avLst/>
          </a:prstGeom>
          <a:solidFill>
            <a:srgbClr val="F7F7F7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993A62-BF14-1A6B-A09F-E0C7B5EB61A7}"/>
              </a:ext>
            </a:extLst>
          </p:cNvPr>
          <p:cNvSpPr txBox="1"/>
          <p:nvPr/>
        </p:nvSpPr>
        <p:spPr>
          <a:xfrm>
            <a:off x="166815" y="105032"/>
            <a:ext cx="4708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研究进展：</a:t>
            </a:r>
            <a:r>
              <a:rPr lang="zh-CN" altLang="en-US" sz="2400" b="1" dirty="0"/>
              <a:t>工质和部件建模</a:t>
            </a:r>
            <a:endParaRPr lang="zh-CN" altLang="en-US" sz="3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3EB11F-DE5C-3995-B0A2-3C3D9817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2AEEC1-BBAB-5670-D539-21CDAFCDAF07}"/>
              </a:ext>
            </a:extLst>
          </p:cNvPr>
          <p:cNvSpPr/>
          <p:nvPr/>
        </p:nvSpPr>
        <p:spPr>
          <a:xfrm>
            <a:off x="3543594" y="2012407"/>
            <a:ext cx="1252770" cy="141659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A82A55-0C01-09A7-0127-9EA18B8BCA97}"/>
              </a:ext>
            </a:extLst>
          </p:cNvPr>
          <p:cNvSpPr txBox="1"/>
          <p:nvPr/>
        </p:nvSpPr>
        <p:spPr>
          <a:xfrm>
            <a:off x="3621339" y="2397537"/>
            <a:ext cx="109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水侧状态</a:t>
            </a:r>
            <a:endParaRPr lang="en-US" altLang="zh-CN" b="1" dirty="0"/>
          </a:p>
          <a:p>
            <a:pPr algn="ctr"/>
            <a:r>
              <a:rPr lang="en-US" altLang="zh-CN" dirty="0"/>
              <a:t>IAPWS97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5CF27D-126A-88AF-3193-AB711F2F1318}"/>
              </a:ext>
            </a:extLst>
          </p:cNvPr>
          <p:cNvSpPr/>
          <p:nvPr/>
        </p:nvSpPr>
        <p:spPr>
          <a:xfrm>
            <a:off x="3543594" y="4113950"/>
            <a:ext cx="1252770" cy="141659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1BEB43-400D-4D6C-554E-C941F7A5F384}"/>
              </a:ext>
            </a:extLst>
          </p:cNvPr>
          <p:cNvSpPr txBox="1"/>
          <p:nvPr/>
        </p:nvSpPr>
        <p:spPr>
          <a:xfrm>
            <a:off x="3621339" y="4360581"/>
            <a:ext cx="1097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气侧状态</a:t>
            </a:r>
            <a:endParaRPr lang="en-US" altLang="zh-CN" b="1" dirty="0"/>
          </a:p>
          <a:p>
            <a:pPr algn="ctr"/>
            <a:r>
              <a:rPr lang="zh-CN" altLang="en-US" dirty="0"/>
              <a:t>理想气体模型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49D0EA-8041-6FA2-F2F2-61ADACB367CC}"/>
              </a:ext>
            </a:extLst>
          </p:cNvPr>
          <p:cNvSpPr/>
          <p:nvPr/>
        </p:nvSpPr>
        <p:spPr>
          <a:xfrm>
            <a:off x="778849" y="1873671"/>
            <a:ext cx="1252770" cy="18091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73A061-D0C7-1423-286A-14D56D326BE7}"/>
              </a:ext>
            </a:extLst>
          </p:cNvPr>
          <p:cNvSpPr txBox="1"/>
          <p:nvPr/>
        </p:nvSpPr>
        <p:spPr>
          <a:xfrm>
            <a:off x="1036321" y="2027969"/>
            <a:ext cx="7378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工质</a:t>
            </a:r>
            <a:endParaRPr lang="en-US" altLang="zh-CN" b="1" dirty="0"/>
          </a:p>
          <a:p>
            <a:pPr algn="ctr"/>
            <a:r>
              <a:rPr lang="zh-CN" altLang="en-US" dirty="0"/>
              <a:t>温度</a:t>
            </a:r>
            <a:endParaRPr lang="en-US" altLang="zh-CN" dirty="0"/>
          </a:p>
          <a:p>
            <a:pPr algn="ctr"/>
            <a:r>
              <a:rPr lang="zh-CN" altLang="en-US" dirty="0"/>
              <a:t>压力</a:t>
            </a:r>
            <a:endParaRPr lang="en-US" altLang="zh-CN" dirty="0"/>
          </a:p>
          <a:p>
            <a:pPr algn="ctr"/>
            <a:r>
              <a:rPr lang="zh-CN" altLang="en-US" dirty="0"/>
              <a:t>干度</a:t>
            </a:r>
            <a:endParaRPr lang="en-US" altLang="zh-CN" dirty="0"/>
          </a:p>
          <a:p>
            <a:pPr algn="ctr"/>
            <a:r>
              <a:rPr lang="zh-CN" altLang="en-US" dirty="0"/>
              <a:t>流量</a:t>
            </a:r>
            <a:endParaRPr lang="en-US" altLang="zh-CN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BC5231-EA94-993E-22F2-C8F7052968C0}"/>
              </a:ext>
            </a:extLst>
          </p:cNvPr>
          <p:cNvSpPr/>
          <p:nvPr/>
        </p:nvSpPr>
        <p:spPr>
          <a:xfrm>
            <a:off x="778849" y="4056670"/>
            <a:ext cx="1252770" cy="18091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B53740-2827-3B7A-51D6-03F2CE70016B}"/>
              </a:ext>
            </a:extLst>
          </p:cNvPr>
          <p:cNvSpPr txBox="1"/>
          <p:nvPr/>
        </p:nvSpPr>
        <p:spPr>
          <a:xfrm>
            <a:off x="1036321" y="4607213"/>
            <a:ext cx="737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环境</a:t>
            </a:r>
            <a:endParaRPr lang="en-US" altLang="zh-CN" b="1" dirty="0"/>
          </a:p>
          <a:p>
            <a:pPr algn="ctr"/>
            <a:r>
              <a:rPr lang="zh-CN" altLang="en-US" dirty="0"/>
              <a:t>温度</a:t>
            </a:r>
            <a:endParaRPr lang="en-US" altLang="zh-CN" dirty="0"/>
          </a:p>
          <a:p>
            <a:pPr algn="ctr"/>
            <a:r>
              <a:rPr lang="zh-CN" altLang="en-US" dirty="0"/>
              <a:t>压力</a:t>
            </a:r>
            <a:endParaRPr lang="en-US" altLang="zh-CN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8F784FC-4A80-EFEF-E298-4B9070CD98F1}"/>
              </a:ext>
            </a:extLst>
          </p:cNvPr>
          <p:cNvCxnSpPr>
            <a:cxnSpLocks/>
          </p:cNvCxnSpPr>
          <p:nvPr/>
        </p:nvCxnSpPr>
        <p:spPr>
          <a:xfrm>
            <a:off x="2163029" y="4961247"/>
            <a:ext cx="12360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C3D8AF8-9E05-F30B-8B39-134BE2165928}"/>
              </a:ext>
            </a:extLst>
          </p:cNvPr>
          <p:cNvCxnSpPr>
            <a:cxnSpLocks/>
          </p:cNvCxnSpPr>
          <p:nvPr/>
        </p:nvCxnSpPr>
        <p:spPr>
          <a:xfrm>
            <a:off x="2163028" y="2647920"/>
            <a:ext cx="12360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CAC0229-003A-47CC-5DBE-9E9375094A20}"/>
              </a:ext>
            </a:extLst>
          </p:cNvPr>
          <p:cNvCxnSpPr>
            <a:cxnSpLocks/>
          </p:cNvCxnSpPr>
          <p:nvPr/>
        </p:nvCxnSpPr>
        <p:spPr>
          <a:xfrm flipV="1">
            <a:off x="2163027" y="2825181"/>
            <a:ext cx="1236018" cy="18722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06D1763-B8D1-7E5E-F7EE-7E439854B273}"/>
              </a:ext>
            </a:extLst>
          </p:cNvPr>
          <p:cNvCxnSpPr>
            <a:cxnSpLocks/>
          </p:cNvCxnSpPr>
          <p:nvPr/>
        </p:nvCxnSpPr>
        <p:spPr>
          <a:xfrm>
            <a:off x="2163027" y="2825181"/>
            <a:ext cx="1313763" cy="20246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56F8DA9-FE3A-9D7C-340E-4CA1883651F1}"/>
              </a:ext>
            </a:extLst>
          </p:cNvPr>
          <p:cNvSpPr/>
          <p:nvPr/>
        </p:nvSpPr>
        <p:spPr>
          <a:xfrm>
            <a:off x="6142868" y="1838441"/>
            <a:ext cx="1252770" cy="39981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C0AA2A7-0088-8433-756F-6DE2CBD8FF44}"/>
              </a:ext>
            </a:extLst>
          </p:cNvPr>
          <p:cNvCxnSpPr>
            <a:cxnSpLocks/>
          </p:cNvCxnSpPr>
          <p:nvPr/>
        </p:nvCxnSpPr>
        <p:spPr>
          <a:xfrm>
            <a:off x="4845205" y="2679815"/>
            <a:ext cx="12360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97BD011-7D8A-325A-7E98-4CACAE0D0CBD}"/>
              </a:ext>
            </a:extLst>
          </p:cNvPr>
          <p:cNvCxnSpPr>
            <a:cxnSpLocks/>
          </p:cNvCxnSpPr>
          <p:nvPr/>
        </p:nvCxnSpPr>
        <p:spPr>
          <a:xfrm>
            <a:off x="4845204" y="4900287"/>
            <a:ext cx="12360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746D8B2-7C4E-0693-9F7B-FAFC9F5BC5AC}"/>
              </a:ext>
            </a:extLst>
          </p:cNvPr>
          <p:cNvSpPr txBox="1"/>
          <p:nvPr/>
        </p:nvSpPr>
        <p:spPr>
          <a:xfrm>
            <a:off x="768339" y="1287049"/>
            <a:ext cx="130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输入参数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C2977D-6492-FB07-DFAE-C6103ED7DBE9}"/>
              </a:ext>
            </a:extLst>
          </p:cNvPr>
          <p:cNvSpPr txBox="1"/>
          <p:nvPr/>
        </p:nvSpPr>
        <p:spPr>
          <a:xfrm>
            <a:off x="3515726" y="1287049"/>
            <a:ext cx="130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流股状态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197D13-F75C-0C70-F547-87C6C8002527}"/>
              </a:ext>
            </a:extLst>
          </p:cNvPr>
          <p:cNvSpPr txBox="1"/>
          <p:nvPr/>
        </p:nvSpPr>
        <p:spPr>
          <a:xfrm>
            <a:off x="6054997" y="1287049"/>
            <a:ext cx="130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部件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60E59E-A6C0-EA4D-28A7-7B82F66177A6}"/>
              </a:ext>
            </a:extLst>
          </p:cNvPr>
          <p:cNvSpPr txBox="1"/>
          <p:nvPr/>
        </p:nvSpPr>
        <p:spPr>
          <a:xfrm>
            <a:off x="9478259" y="1259512"/>
            <a:ext cx="130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输出参数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66E5E6-6D78-652F-5473-40C2D8BC4348}"/>
              </a:ext>
            </a:extLst>
          </p:cNvPr>
          <p:cNvSpPr txBox="1"/>
          <p:nvPr/>
        </p:nvSpPr>
        <p:spPr>
          <a:xfrm>
            <a:off x="6220613" y="2212871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余热锅炉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2E581E-A2B0-6D82-F28F-D6CA8DE80436}"/>
              </a:ext>
            </a:extLst>
          </p:cNvPr>
          <p:cNvSpPr txBox="1"/>
          <p:nvPr/>
        </p:nvSpPr>
        <p:spPr>
          <a:xfrm>
            <a:off x="6220613" y="2640515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汽机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EB29EE-0F45-45BE-022F-A960B72A8AFC}"/>
              </a:ext>
            </a:extLst>
          </p:cNvPr>
          <p:cNvSpPr txBox="1"/>
          <p:nvPr/>
        </p:nvSpPr>
        <p:spPr>
          <a:xfrm>
            <a:off x="6220613" y="3068159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给水泵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0146637-E606-89B3-345C-5F806CAD8968}"/>
              </a:ext>
            </a:extLst>
          </p:cNvPr>
          <p:cNvSpPr txBox="1"/>
          <p:nvPr/>
        </p:nvSpPr>
        <p:spPr>
          <a:xfrm>
            <a:off x="6242225" y="3495803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减温水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B1DF98D-3591-DF0A-29E5-7D603F02991A}"/>
              </a:ext>
            </a:extLst>
          </p:cNvPr>
          <p:cNvSpPr txBox="1"/>
          <p:nvPr/>
        </p:nvSpPr>
        <p:spPr>
          <a:xfrm>
            <a:off x="6242225" y="392928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混合装置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2CE301D-7892-5524-12ED-BFB8FB7C3114}"/>
              </a:ext>
            </a:extLst>
          </p:cNvPr>
          <p:cNvSpPr txBox="1"/>
          <p:nvPr/>
        </p:nvSpPr>
        <p:spPr>
          <a:xfrm>
            <a:off x="6220613" y="435344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凝汽器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A9C5246-A369-542E-D394-A9EFAE72CF45}"/>
              </a:ext>
            </a:extLst>
          </p:cNvPr>
          <p:cNvSpPr txBox="1"/>
          <p:nvPr/>
        </p:nvSpPr>
        <p:spPr>
          <a:xfrm>
            <a:off x="6242225" y="4776581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节流阀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DB48F3A-A67E-9D1C-8986-606F819468B0}"/>
              </a:ext>
            </a:extLst>
          </p:cNvPr>
          <p:cNvSpPr txBox="1"/>
          <p:nvPr/>
        </p:nvSpPr>
        <p:spPr>
          <a:xfrm>
            <a:off x="6220613" y="5199715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……</a:t>
            </a:r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0433681-8B14-F406-BB1B-CEE2908036E1}"/>
              </a:ext>
            </a:extLst>
          </p:cNvPr>
          <p:cNvSpPr/>
          <p:nvPr/>
        </p:nvSpPr>
        <p:spPr>
          <a:xfrm>
            <a:off x="8851875" y="1838441"/>
            <a:ext cx="2561275" cy="39981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7A5B8E4-708E-B0B2-D9A4-A01CBAC92F27}"/>
              </a:ext>
            </a:extLst>
          </p:cNvPr>
          <p:cNvSpPr txBox="1"/>
          <p:nvPr/>
        </p:nvSpPr>
        <p:spPr>
          <a:xfrm>
            <a:off x="8929620" y="2212871"/>
            <a:ext cx="240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换热量、换热效率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D483E5F-082A-34DE-5715-D09BC90B8095}"/>
              </a:ext>
            </a:extLst>
          </p:cNvPr>
          <p:cNvSpPr txBox="1"/>
          <p:nvPr/>
        </p:nvSpPr>
        <p:spPr>
          <a:xfrm>
            <a:off x="8929621" y="2640515"/>
            <a:ext cx="240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输出功、等熵效率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21696B5-D23B-BFFD-26F3-141CCEBC1A77}"/>
              </a:ext>
            </a:extLst>
          </p:cNvPr>
          <p:cNvSpPr txBox="1"/>
          <p:nvPr/>
        </p:nvSpPr>
        <p:spPr>
          <a:xfrm>
            <a:off x="8929620" y="3068159"/>
            <a:ext cx="240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耗功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2BCFC0B-10FA-F446-9684-0281716377E2}"/>
              </a:ext>
            </a:extLst>
          </p:cNvPr>
          <p:cNvSpPr txBox="1"/>
          <p:nvPr/>
        </p:nvSpPr>
        <p:spPr>
          <a:xfrm>
            <a:off x="8951233" y="3495803"/>
            <a:ext cx="238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㶲损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7FA5224-7F3F-A839-A6A8-69A3B1FFAA3A}"/>
              </a:ext>
            </a:extLst>
          </p:cNvPr>
          <p:cNvSpPr txBox="1"/>
          <p:nvPr/>
        </p:nvSpPr>
        <p:spPr>
          <a:xfrm>
            <a:off x="8951233" y="3929284"/>
            <a:ext cx="240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㶲损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92B04FE-62C6-D5D8-F41F-E1E7ED393460}"/>
              </a:ext>
            </a:extLst>
          </p:cNvPr>
          <p:cNvSpPr txBox="1"/>
          <p:nvPr/>
        </p:nvSpPr>
        <p:spPr>
          <a:xfrm>
            <a:off x="8929621" y="4353447"/>
            <a:ext cx="238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放热量、㶲损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7A6665D-E151-58BD-E3E8-38E0B54F79FF}"/>
              </a:ext>
            </a:extLst>
          </p:cNvPr>
          <p:cNvSpPr txBox="1"/>
          <p:nvPr/>
        </p:nvSpPr>
        <p:spPr>
          <a:xfrm>
            <a:off x="8951233" y="4776581"/>
            <a:ext cx="2365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㶲损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C8D37EE-560F-07BD-6585-A460873B38E6}"/>
              </a:ext>
            </a:extLst>
          </p:cNvPr>
          <p:cNvSpPr txBox="1"/>
          <p:nvPr/>
        </p:nvSpPr>
        <p:spPr>
          <a:xfrm>
            <a:off x="8929621" y="5199715"/>
            <a:ext cx="243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……</a:t>
            </a:r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D53E926-4E56-253A-2BF8-E229B9327622}"/>
              </a:ext>
            </a:extLst>
          </p:cNvPr>
          <p:cNvCxnSpPr>
            <a:cxnSpLocks/>
          </p:cNvCxnSpPr>
          <p:nvPr/>
        </p:nvCxnSpPr>
        <p:spPr>
          <a:xfrm>
            <a:off x="7494862" y="3682825"/>
            <a:ext cx="12360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80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90B2-9AEB-96D8-8080-883CAC80A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37BDD0-28F9-543D-3F03-029480DB969B}"/>
              </a:ext>
            </a:extLst>
          </p:cNvPr>
          <p:cNvSpPr txBox="1"/>
          <p:nvPr/>
        </p:nvSpPr>
        <p:spPr>
          <a:xfrm>
            <a:off x="166815" y="105032"/>
            <a:ext cx="4708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研究进展：</a:t>
            </a:r>
            <a:r>
              <a:rPr lang="zh-CN" altLang="en-US" sz="2400" b="1" dirty="0"/>
              <a:t>工质和部件建模</a:t>
            </a:r>
            <a:endParaRPr lang="zh-CN" altLang="en-US" sz="3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FB015D-5490-9348-2B98-47C2C89E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681BAFBF-22E8-1E93-3526-5D49DE16F83B}"/>
              </a:ext>
            </a:extLst>
          </p:cNvPr>
          <p:cNvGrpSpPr/>
          <p:nvPr/>
        </p:nvGrpSpPr>
        <p:grpSpPr>
          <a:xfrm>
            <a:off x="10439548" y="2008424"/>
            <a:ext cx="1521820" cy="1416593"/>
            <a:chOff x="3543594" y="1559868"/>
            <a:chExt cx="1252770" cy="141659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6C5D993-E4A7-1497-28DF-0899186A07A4}"/>
                </a:ext>
              </a:extLst>
            </p:cNvPr>
            <p:cNvSpPr/>
            <p:nvPr/>
          </p:nvSpPr>
          <p:spPr>
            <a:xfrm>
              <a:off x="3543594" y="1559868"/>
              <a:ext cx="1252770" cy="141659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EA31FF-D969-5EB9-6E25-AC54607E49DD}"/>
                </a:ext>
              </a:extLst>
            </p:cNvPr>
            <p:cNvSpPr txBox="1"/>
            <p:nvPr/>
          </p:nvSpPr>
          <p:spPr>
            <a:xfrm>
              <a:off x="3621339" y="1976432"/>
              <a:ext cx="109728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水侧状态</a:t>
              </a:r>
              <a:endParaRPr lang="en-US" altLang="zh-CN" b="1" dirty="0"/>
            </a:p>
            <a:p>
              <a:pPr algn="ctr"/>
              <a:r>
                <a:rPr lang="en-US" altLang="zh-CN" dirty="0"/>
                <a:t>IAPWS-IF97</a:t>
              </a:r>
              <a:endParaRPr lang="zh-CN" altLang="en-US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E0C7CC36-3DCC-2AE7-03E0-A47FDE083ABD}"/>
              </a:ext>
            </a:extLst>
          </p:cNvPr>
          <p:cNvGrpSpPr/>
          <p:nvPr/>
        </p:nvGrpSpPr>
        <p:grpSpPr>
          <a:xfrm>
            <a:off x="297415" y="3039889"/>
            <a:ext cx="1252770" cy="1416593"/>
            <a:chOff x="1598774" y="1559869"/>
            <a:chExt cx="1252770" cy="141659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F18543E-B0EE-1CD6-60A6-F480472653B2}"/>
                </a:ext>
              </a:extLst>
            </p:cNvPr>
            <p:cNvSpPr/>
            <p:nvPr/>
          </p:nvSpPr>
          <p:spPr>
            <a:xfrm>
              <a:off x="1598774" y="1559869"/>
              <a:ext cx="1252770" cy="141659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A4FA48-E78D-3FAB-1A88-E6CBB7D33794}"/>
                </a:ext>
              </a:extLst>
            </p:cNvPr>
            <p:cNvSpPr txBox="1"/>
            <p:nvPr/>
          </p:nvSpPr>
          <p:spPr>
            <a:xfrm>
              <a:off x="1676519" y="1944997"/>
              <a:ext cx="10972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气侧状态</a:t>
              </a:r>
              <a:endParaRPr lang="en-US" altLang="zh-CN" b="1" dirty="0"/>
            </a:p>
            <a:p>
              <a:pPr algn="ctr"/>
              <a:r>
                <a:rPr lang="en-US" altLang="zh-CN" b="1" dirty="0" err="1"/>
                <a:t>CoolProp</a:t>
              </a:r>
              <a:endParaRPr lang="en-US" altLang="zh-CN" b="1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672BA4C-E728-2196-80F3-398E1A3E0131}"/>
              </a:ext>
            </a:extLst>
          </p:cNvPr>
          <p:cNvGrpSpPr/>
          <p:nvPr/>
        </p:nvGrpSpPr>
        <p:grpSpPr>
          <a:xfrm>
            <a:off x="1784991" y="3829200"/>
            <a:ext cx="1441388" cy="2599500"/>
            <a:chOff x="329440" y="3914219"/>
            <a:chExt cx="1441388" cy="259950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7A5F7C3-AA37-BDF5-C854-4DF214E3497E}"/>
                </a:ext>
              </a:extLst>
            </p:cNvPr>
            <p:cNvGrpSpPr/>
            <p:nvPr/>
          </p:nvGrpSpPr>
          <p:grpSpPr>
            <a:xfrm>
              <a:off x="423749" y="5263118"/>
              <a:ext cx="1252770" cy="534850"/>
              <a:chOff x="1978229" y="2012407"/>
              <a:chExt cx="1252770" cy="53485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76F0AF-FBD5-2076-6136-B608D85A6257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9C18885-A203-2A58-612F-B153021DF312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相对湿度</a:t>
                </a:r>
                <a:endParaRPr lang="en-US" altLang="zh-CN" b="1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D8A84F9-ADBE-D641-5C40-215CA75E12EE}"/>
                </a:ext>
              </a:extLst>
            </p:cNvPr>
            <p:cNvGrpSpPr/>
            <p:nvPr/>
          </p:nvGrpSpPr>
          <p:grpSpPr>
            <a:xfrm>
              <a:off x="423749" y="4642146"/>
              <a:ext cx="1252770" cy="534850"/>
              <a:chOff x="1978229" y="2012407"/>
              <a:chExt cx="1252770" cy="534850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E02BD85-8FD8-C53B-0C13-E1FFCCC78092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C361237-72ED-B1B8-1C40-05D33BC2B098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温度</a:t>
                </a:r>
                <a:endParaRPr lang="en-US" altLang="zh-CN" b="1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DC1560C-8F81-B925-66DB-EF1FDAE05873}"/>
                </a:ext>
              </a:extLst>
            </p:cNvPr>
            <p:cNvGrpSpPr/>
            <p:nvPr/>
          </p:nvGrpSpPr>
          <p:grpSpPr>
            <a:xfrm>
              <a:off x="423749" y="4021174"/>
              <a:ext cx="1252770" cy="534850"/>
              <a:chOff x="1978229" y="2012407"/>
              <a:chExt cx="1252770" cy="53485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4AB268C-B54E-56F2-52FE-0A34645DF77F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74D275B-BECA-DC67-666B-FC6C8D5FA084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压力</a:t>
                </a:r>
                <a:endParaRPr lang="en-US" altLang="zh-CN" b="1" dirty="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3739CAE-9A23-1C95-4D8D-FF5B9543D5B2}"/>
                </a:ext>
              </a:extLst>
            </p:cNvPr>
            <p:cNvGrpSpPr/>
            <p:nvPr/>
          </p:nvGrpSpPr>
          <p:grpSpPr>
            <a:xfrm>
              <a:off x="423749" y="5880727"/>
              <a:ext cx="1252770" cy="534850"/>
              <a:chOff x="1978229" y="2012407"/>
              <a:chExt cx="1252770" cy="53485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5E13A933-1B0B-0D93-D8AD-F757061246DF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3C7FE83-0AA3-A2B3-745E-5B282FAFFC67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质量流量</a:t>
                </a:r>
                <a:endParaRPr lang="en-US" altLang="zh-CN" b="1" dirty="0"/>
              </a:p>
            </p:txBody>
          </p:sp>
        </p:grp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FBD00987-C8C9-F6E1-F30B-1700C103F58F}"/>
                </a:ext>
              </a:extLst>
            </p:cNvPr>
            <p:cNvSpPr/>
            <p:nvPr/>
          </p:nvSpPr>
          <p:spPr>
            <a:xfrm>
              <a:off x="329440" y="3914219"/>
              <a:ext cx="1441388" cy="2599500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9C9E64D-C683-C790-F2BF-1B387D95EC22}"/>
              </a:ext>
            </a:extLst>
          </p:cNvPr>
          <p:cNvGrpSpPr/>
          <p:nvPr/>
        </p:nvGrpSpPr>
        <p:grpSpPr>
          <a:xfrm>
            <a:off x="1784991" y="1063757"/>
            <a:ext cx="1441388" cy="2599500"/>
            <a:chOff x="329440" y="3914219"/>
            <a:chExt cx="1441388" cy="2599500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5F91C7A8-F96C-4257-991A-8E52048DA521}"/>
                </a:ext>
              </a:extLst>
            </p:cNvPr>
            <p:cNvGrpSpPr/>
            <p:nvPr/>
          </p:nvGrpSpPr>
          <p:grpSpPr>
            <a:xfrm>
              <a:off x="423749" y="5263118"/>
              <a:ext cx="1252770" cy="534850"/>
              <a:chOff x="1978229" y="2012407"/>
              <a:chExt cx="1252770" cy="534850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844FCD0C-81C3-4898-62DA-8597A518D718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8481264E-F747-E607-3686-8AE83C9AF82E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组分</a:t>
                </a:r>
                <a:endParaRPr lang="en-US" altLang="zh-CN" b="1" dirty="0"/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1A1282ED-14E8-1FBF-3D43-A71E4AE0A01E}"/>
                </a:ext>
              </a:extLst>
            </p:cNvPr>
            <p:cNvGrpSpPr/>
            <p:nvPr/>
          </p:nvGrpSpPr>
          <p:grpSpPr>
            <a:xfrm>
              <a:off x="423749" y="4642146"/>
              <a:ext cx="1252770" cy="534850"/>
              <a:chOff x="1978229" y="2012407"/>
              <a:chExt cx="1252770" cy="534850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9520B6C0-8797-749F-A883-CA45CE47001E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113D1C1-1886-F957-65EE-83FE614B177F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温度</a:t>
                </a:r>
                <a:endParaRPr lang="en-US" altLang="zh-CN" b="1" dirty="0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AD95677-2538-75DE-6956-AF4E688F23BE}"/>
                </a:ext>
              </a:extLst>
            </p:cNvPr>
            <p:cNvGrpSpPr/>
            <p:nvPr/>
          </p:nvGrpSpPr>
          <p:grpSpPr>
            <a:xfrm>
              <a:off x="423749" y="4021174"/>
              <a:ext cx="1252770" cy="534850"/>
              <a:chOff x="1978229" y="2012407"/>
              <a:chExt cx="1252770" cy="534850"/>
            </a:xfrm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FCC102A2-2796-3E12-B0D3-AA494731CBDB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E0C22C27-D7FF-6021-FB8E-4E7CFA8C399C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压力</a:t>
                </a:r>
                <a:endParaRPr lang="en-US" altLang="zh-CN" b="1" dirty="0"/>
              </a:p>
            </p:txBody>
          </p: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39BA2956-5CCB-94CE-1683-69B91D664ECF}"/>
                </a:ext>
              </a:extLst>
            </p:cNvPr>
            <p:cNvGrpSpPr/>
            <p:nvPr/>
          </p:nvGrpSpPr>
          <p:grpSpPr>
            <a:xfrm>
              <a:off x="423749" y="5880727"/>
              <a:ext cx="1252770" cy="534850"/>
              <a:chOff x="1978229" y="2012407"/>
              <a:chExt cx="1252770" cy="534850"/>
            </a:xfrm>
          </p:grpSpPr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40EB4FAD-3585-F0A6-D773-2790A4FD5BD5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6FCCF1C-1D5E-8029-667A-A43CBFDB9562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质量流量</a:t>
                </a:r>
                <a:endParaRPr lang="en-US" altLang="zh-CN" b="1" dirty="0"/>
              </a:p>
            </p:txBody>
          </p:sp>
        </p:grp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4AE4F35-179E-91BB-0E32-FB081A3F61DB}"/>
                </a:ext>
              </a:extLst>
            </p:cNvPr>
            <p:cNvSpPr/>
            <p:nvPr/>
          </p:nvSpPr>
          <p:spPr>
            <a:xfrm>
              <a:off x="329440" y="3914219"/>
              <a:ext cx="1441388" cy="2599500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74E1B19A-4D21-B20F-D9AE-882BE7AAC128}"/>
              </a:ext>
            </a:extLst>
          </p:cNvPr>
          <p:cNvGrpSpPr/>
          <p:nvPr/>
        </p:nvGrpSpPr>
        <p:grpSpPr>
          <a:xfrm>
            <a:off x="3839691" y="4861525"/>
            <a:ext cx="1252770" cy="534850"/>
            <a:chOff x="3957257" y="4445331"/>
            <a:chExt cx="1252770" cy="534850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A4843B83-AB9E-A4E7-C6FB-383461C77318}"/>
                </a:ext>
              </a:extLst>
            </p:cNvPr>
            <p:cNvSpPr/>
            <p:nvPr/>
          </p:nvSpPr>
          <p:spPr>
            <a:xfrm>
              <a:off x="3957257" y="4445331"/>
              <a:ext cx="1252770" cy="53485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6040735-2DCD-AB20-E367-40F1F5D6285E}"/>
                </a:ext>
              </a:extLst>
            </p:cNvPr>
            <p:cNvSpPr txBox="1"/>
            <p:nvPr/>
          </p:nvSpPr>
          <p:spPr>
            <a:xfrm>
              <a:off x="4035002" y="4528090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空气状态</a:t>
              </a:r>
              <a:endParaRPr lang="en-US" altLang="zh-CN" b="1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06830D2-9B53-07C1-D1EB-FB4E65F4B7D9}"/>
              </a:ext>
            </a:extLst>
          </p:cNvPr>
          <p:cNvGrpSpPr/>
          <p:nvPr/>
        </p:nvGrpSpPr>
        <p:grpSpPr>
          <a:xfrm>
            <a:off x="3839691" y="2095404"/>
            <a:ext cx="1252770" cy="534850"/>
            <a:chOff x="3957257" y="4445331"/>
            <a:chExt cx="1252770" cy="534850"/>
          </a:xfrm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CF668AF8-909C-8226-180A-A5A71ED6ADEA}"/>
                </a:ext>
              </a:extLst>
            </p:cNvPr>
            <p:cNvSpPr/>
            <p:nvPr/>
          </p:nvSpPr>
          <p:spPr>
            <a:xfrm>
              <a:off x="3957257" y="4445331"/>
              <a:ext cx="1252770" cy="53485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C2F37F3-1748-9D14-4497-52862F5E39A8}"/>
                </a:ext>
              </a:extLst>
            </p:cNvPr>
            <p:cNvSpPr txBox="1"/>
            <p:nvPr/>
          </p:nvSpPr>
          <p:spPr>
            <a:xfrm>
              <a:off x="4035002" y="4528090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燃料状态</a:t>
              </a:r>
              <a:endParaRPr lang="en-US" altLang="zh-CN" b="1" dirty="0"/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04FA1237-DD7A-F09C-1952-5BFB0FF0FBD6}"/>
              </a:ext>
            </a:extLst>
          </p:cNvPr>
          <p:cNvGrpSpPr/>
          <p:nvPr/>
        </p:nvGrpSpPr>
        <p:grpSpPr>
          <a:xfrm>
            <a:off x="4398589" y="3480761"/>
            <a:ext cx="1252770" cy="534850"/>
            <a:chOff x="3957257" y="4445331"/>
            <a:chExt cx="1252770" cy="534850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2EF3217B-126A-31B8-7E04-DB37A93DDC8C}"/>
                </a:ext>
              </a:extLst>
            </p:cNvPr>
            <p:cNvSpPr/>
            <p:nvPr/>
          </p:nvSpPr>
          <p:spPr>
            <a:xfrm>
              <a:off x="3957257" y="4445331"/>
              <a:ext cx="1252770" cy="53485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2F1FFC25-3499-4B59-320E-AD4E72BABFA4}"/>
                </a:ext>
              </a:extLst>
            </p:cNvPr>
            <p:cNvSpPr txBox="1"/>
            <p:nvPr/>
          </p:nvSpPr>
          <p:spPr>
            <a:xfrm>
              <a:off x="4035002" y="4528090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烟气状态</a:t>
              </a:r>
              <a:endParaRPr lang="en-US" altLang="zh-CN" b="1" dirty="0"/>
            </a:p>
          </p:txBody>
        </p:sp>
      </p:grp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7D0CD6F1-D810-3744-B76F-3A0B38C273B5}"/>
              </a:ext>
            </a:extLst>
          </p:cNvPr>
          <p:cNvCxnSpPr/>
          <p:nvPr/>
        </p:nvCxnSpPr>
        <p:spPr>
          <a:xfrm>
            <a:off x="3324497" y="2362829"/>
            <a:ext cx="43760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77D63F45-017F-1C1B-8A60-9F394514A160}"/>
              </a:ext>
            </a:extLst>
          </p:cNvPr>
          <p:cNvCxnSpPr/>
          <p:nvPr/>
        </p:nvCxnSpPr>
        <p:spPr>
          <a:xfrm>
            <a:off x="3324497" y="5111194"/>
            <a:ext cx="43760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D3C8AC93-2E4A-7631-0865-4086CE7950D5}"/>
              </a:ext>
            </a:extLst>
          </p:cNvPr>
          <p:cNvCxnSpPr>
            <a:cxnSpLocks/>
          </p:cNvCxnSpPr>
          <p:nvPr/>
        </p:nvCxnSpPr>
        <p:spPr>
          <a:xfrm>
            <a:off x="4704805" y="2719245"/>
            <a:ext cx="0" cy="705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96A4E3C2-C30B-A94F-172E-9242C548BC24}"/>
              </a:ext>
            </a:extLst>
          </p:cNvPr>
          <p:cNvCxnSpPr>
            <a:cxnSpLocks/>
          </p:cNvCxnSpPr>
          <p:nvPr/>
        </p:nvCxnSpPr>
        <p:spPr>
          <a:xfrm flipV="1">
            <a:off x="4704805" y="4096608"/>
            <a:ext cx="0" cy="7197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639BB089-CAF4-5664-BF81-2487F4918F05}"/>
              </a:ext>
            </a:extLst>
          </p:cNvPr>
          <p:cNvGrpSpPr/>
          <p:nvPr/>
        </p:nvGrpSpPr>
        <p:grpSpPr>
          <a:xfrm>
            <a:off x="8773373" y="1716444"/>
            <a:ext cx="1441388" cy="2019794"/>
            <a:chOff x="6901277" y="1769211"/>
            <a:chExt cx="1441388" cy="2019794"/>
          </a:xfrm>
        </p:grpSpPr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C2AAC365-4807-FBBE-1F6C-4BBD124FF8C8}"/>
                </a:ext>
              </a:extLst>
            </p:cNvPr>
            <p:cNvGrpSpPr/>
            <p:nvPr/>
          </p:nvGrpSpPr>
          <p:grpSpPr>
            <a:xfrm>
              <a:off x="6995586" y="2497138"/>
              <a:ext cx="1252770" cy="534850"/>
              <a:chOff x="1978229" y="2012407"/>
              <a:chExt cx="1252770" cy="534850"/>
            </a:xfrm>
          </p:grpSpPr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D2E886A9-9321-6C35-3D43-252D10A38086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5A23FBF-A3A2-4B4A-DA9B-695F6E993333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温度</a:t>
                </a:r>
                <a:endParaRPr lang="en-US" altLang="zh-CN" b="1" dirty="0"/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2299FB11-8047-4560-D059-D8441619C903}"/>
                </a:ext>
              </a:extLst>
            </p:cNvPr>
            <p:cNvGrpSpPr/>
            <p:nvPr/>
          </p:nvGrpSpPr>
          <p:grpSpPr>
            <a:xfrm>
              <a:off x="6995586" y="1876166"/>
              <a:ext cx="1252770" cy="534850"/>
              <a:chOff x="1978229" y="2012407"/>
              <a:chExt cx="1252770" cy="534850"/>
            </a:xfrm>
          </p:grpSpPr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1C20C48D-174E-90F2-6707-112A11ACCE10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2DBA643E-2D85-5FFF-D805-68902D38D95F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压力</a:t>
                </a:r>
                <a:endParaRPr lang="en-US" altLang="zh-CN" b="1" dirty="0"/>
              </a:p>
            </p:txBody>
          </p:sp>
        </p:grp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4E5FD8CF-7B76-8ABE-F139-0942D30B7EFC}"/>
                </a:ext>
              </a:extLst>
            </p:cNvPr>
            <p:cNvGrpSpPr/>
            <p:nvPr/>
          </p:nvGrpSpPr>
          <p:grpSpPr>
            <a:xfrm>
              <a:off x="6995586" y="3114747"/>
              <a:ext cx="1252770" cy="534850"/>
              <a:chOff x="1978229" y="2012407"/>
              <a:chExt cx="1252770" cy="534850"/>
            </a:xfrm>
          </p:grpSpPr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CCE1CC57-0D48-809D-8099-4C65F3703EC2}"/>
                  </a:ext>
                </a:extLst>
              </p:cNvPr>
              <p:cNvSpPr/>
              <p:nvPr/>
            </p:nvSpPr>
            <p:spPr>
              <a:xfrm>
                <a:off x="1978229" y="2012407"/>
                <a:ext cx="1252770" cy="53485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24AFD766-8C9E-EA0E-2C5E-98AFED615A53}"/>
                  </a:ext>
                </a:extLst>
              </p:cNvPr>
              <p:cNvSpPr txBox="1"/>
              <p:nvPr/>
            </p:nvSpPr>
            <p:spPr>
              <a:xfrm>
                <a:off x="2055974" y="2095166"/>
                <a:ext cx="109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质量流量</a:t>
                </a:r>
                <a:endParaRPr lang="en-US" altLang="zh-CN" b="1" dirty="0"/>
              </a:p>
            </p:txBody>
          </p:sp>
        </p:grp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A7B258A6-4583-EFF4-0DCF-E2DC9D48C46A}"/>
                </a:ext>
              </a:extLst>
            </p:cNvPr>
            <p:cNvSpPr/>
            <p:nvPr/>
          </p:nvSpPr>
          <p:spPr>
            <a:xfrm>
              <a:off x="6901277" y="1769211"/>
              <a:ext cx="1441388" cy="2019794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2B1E876B-2557-E132-FE32-28C0089C963F}"/>
              </a:ext>
            </a:extLst>
          </p:cNvPr>
          <p:cNvGrpSpPr/>
          <p:nvPr/>
        </p:nvGrpSpPr>
        <p:grpSpPr>
          <a:xfrm>
            <a:off x="6264671" y="2444371"/>
            <a:ext cx="1761256" cy="534850"/>
            <a:chOff x="3957257" y="4445331"/>
            <a:chExt cx="1252770" cy="534850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7C88DFA0-4207-0145-F396-AB6D4575A53F}"/>
                </a:ext>
              </a:extLst>
            </p:cNvPr>
            <p:cNvSpPr/>
            <p:nvPr/>
          </p:nvSpPr>
          <p:spPr>
            <a:xfrm>
              <a:off x="3957257" y="4445331"/>
              <a:ext cx="1252770" cy="53485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5C924687-D44B-D484-A998-D4497DB0037A}"/>
                </a:ext>
              </a:extLst>
            </p:cNvPr>
            <p:cNvSpPr txBox="1"/>
            <p:nvPr/>
          </p:nvSpPr>
          <p:spPr>
            <a:xfrm>
              <a:off x="4035002" y="4528090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水 </a:t>
              </a:r>
              <a:r>
                <a:rPr lang="en-US" altLang="zh-CN" b="1" dirty="0"/>
                <a:t>/ </a:t>
              </a:r>
              <a:r>
                <a:rPr lang="zh-CN" altLang="en-US" b="1" dirty="0"/>
                <a:t>蒸汽状态</a:t>
              </a:r>
              <a:endParaRPr lang="en-US" altLang="zh-CN" b="1" dirty="0"/>
            </a:p>
          </p:txBody>
        </p:sp>
      </p:grp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AB9353D-9AF1-0382-FC82-1065B16AEF1F}"/>
              </a:ext>
            </a:extLst>
          </p:cNvPr>
          <p:cNvCxnSpPr>
            <a:cxnSpLocks/>
          </p:cNvCxnSpPr>
          <p:nvPr/>
        </p:nvCxnSpPr>
        <p:spPr>
          <a:xfrm flipH="1">
            <a:off x="8130027" y="2731185"/>
            <a:ext cx="50074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98DF894E-1C7D-B80D-5586-32626CF4FFB6}"/>
              </a:ext>
            </a:extLst>
          </p:cNvPr>
          <p:cNvGrpSpPr/>
          <p:nvPr/>
        </p:nvGrpSpPr>
        <p:grpSpPr>
          <a:xfrm>
            <a:off x="6475239" y="4861525"/>
            <a:ext cx="1441387" cy="534850"/>
            <a:chOff x="3957257" y="4445331"/>
            <a:chExt cx="1252770" cy="534850"/>
          </a:xfrm>
        </p:grpSpPr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735464ED-E6FE-D667-61DE-D96030D71C3D}"/>
                </a:ext>
              </a:extLst>
            </p:cNvPr>
            <p:cNvSpPr/>
            <p:nvPr/>
          </p:nvSpPr>
          <p:spPr>
            <a:xfrm>
              <a:off x="3957257" y="4445331"/>
              <a:ext cx="1252770" cy="53485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99FB88F5-3DB7-BA45-F778-F076DFB9E95B}"/>
                </a:ext>
              </a:extLst>
            </p:cNvPr>
            <p:cNvSpPr txBox="1"/>
            <p:nvPr/>
          </p:nvSpPr>
          <p:spPr>
            <a:xfrm>
              <a:off x="4035002" y="4528090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部件</a:t>
              </a:r>
              <a:endParaRPr lang="en-US" altLang="zh-CN" b="1" dirty="0"/>
            </a:p>
          </p:txBody>
        </p: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A3D56217-3F35-A7BD-5F40-03A69924920B}"/>
              </a:ext>
            </a:extLst>
          </p:cNvPr>
          <p:cNvGrpSpPr/>
          <p:nvPr/>
        </p:nvGrpSpPr>
        <p:grpSpPr>
          <a:xfrm>
            <a:off x="8998162" y="4861525"/>
            <a:ext cx="1441387" cy="534850"/>
            <a:chOff x="3957257" y="4445331"/>
            <a:chExt cx="1252770" cy="534850"/>
          </a:xfrm>
        </p:grpSpPr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FAA9F636-993C-84B7-20AB-9904F225BE8F}"/>
                </a:ext>
              </a:extLst>
            </p:cNvPr>
            <p:cNvSpPr/>
            <p:nvPr/>
          </p:nvSpPr>
          <p:spPr>
            <a:xfrm>
              <a:off x="3957257" y="4445331"/>
              <a:ext cx="1252770" cy="53485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3A6E4F15-F19B-72B7-6506-C72C1966615A}"/>
                </a:ext>
              </a:extLst>
            </p:cNvPr>
            <p:cNvSpPr txBox="1"/>
            <p:nvPr/>
          </p:nvSpPr>
          <p:spPr>
            <a:xfrm>
              <a:off x="4035002" y="4528090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性能参数</a:t>
              </a:r>
              <a:endParaRPr lang="en-US" altLang="zh-CN" b="1" dirty="0"/>
            </a:p>
          </p:txBody>
        </p:sp>
      </p:grp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F7D4BDC1-5154-863D-866D-44BE5D3A4F0D}"/>
              </a:ext>
            </a:extLst>
          </p:cNvPr>
          <p:cNvCxnSpPr>
            <a:cxnSpLocks/>
          </p:cNvCxnSpPr>
          <p:nvPr/>
        </p:nvCxnSpPr>
        <p:spPr>
          <a:xfrm flipV="1">
            <a:off x="8130027" y="5091977"/>
            <a:ext cx="737655" cy="133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68ADFEE7-4657-D97E-F7D4-E7D745DB89BA}"/>
              </a:ext>
            </a:extLst>
          </p:cNvPr>
          <p:cNvCxnSpPr>
            <a:cxnSpLocks/>
          </p:cNvCxnSpPr>
          <p:nvPr/>
        </p:nvCxnSpPr>
        <p:spPr>
          <a:xfrm>
            <a:off x="7593873" y="3127875"/>
            <a:ext cx="0" cy="16008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6F7778F7-C028-CC2B-190E-14E48D0A317A}"/>
              </a:ext>
            </a:extLst>
          </p:cNvPr>
          <p:cNvGrpSpPr/>
          <p:nvPr/>
        </p:nvGrpSpPr>
        <p:grpSpPr>
          <a:xfrm>
            <a:off x="5805098" y="3748182"/>
            <a:ext cx="1048547" cy="980054"/>
            <a:chOff x="5805098" y="3748182"/>
            <a:chExt cx="1048547" cy="980054"/>
          </a:xfrm>
        </p:grpSpPr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2AF5810A-3926-868A-E628-FA34A9E696F0}"/>
                </a:ext>
              </a:extLst>
            </p:cNvPr>
            <p:cNvCxnSpPr>
              <a:cxnSpLocks/>
            </p:cNvCxnSpPr>
            <p:nvPr/>
          </p:nvCxnSpPr>
          <p:spPr>
            <a:xfrm>
              <a:off x="6834052" y="3748182"/>
              <a:ext cx="0" cy="98005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66FA8F62-9244-2138-99F0-E0852C1067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5098" y="3766918"/>
              <a:ext cx="104854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EBD1484E-8903-5A03-60C3-BFCBE445FCF5}"/>
              </a:ext>
            </a:extLst>
          </p:cNvPr>
          <p:cNvCxnSpPr>
            <a:cxnSpLocks/>
          </p:cNvCxnSpPr>
          <p:nvPr/>
        </p:nvCxnSpPr>
        <p:spPr>
          <a:xfrm>
            <a:off x="5259977" y="5178099"/>
            <a:ext cx="106939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27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D348-C42F-58BA-0E24-B3475F4B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2F2140-020B-7F6A-4FD0-2F583A56F151}"/>
              </a:ext>
            </a:extLst>
          </p:cNvPr>
          <p:cNvSpPr txBox="1"/>
          <p:nvPr/>
        </p:nvSpPr>
        <p:spPr>
          <a:xfrm>
            <a:off x="166815" y="105032"/>
            <a:ext cx="66495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研究进展：</a:t>
            </a:r>
            <a:r>
              <a:rPr lang="zh-CN" altLang="en-US" sz="2400" b="1" dirty="0"/>
              <a:t>燃气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蒸汽联合循环的性能评估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8E491-0BBC-8E5B-2030-5664EFB9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C1B6D8-36A1-4729-AAE6-A9C058F23A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16" y="1024233"/>
            <a:ext cx="4503250" cy="29360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6DCDB5-40A6-33E9-212B-46EE49CCB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16" y="3875725"/>
            <a:ext cx="4503250" cy="293606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C8FF2C5-0B47-107B-2EE0-B42AEED89D0A}"/>
              </a:ext>
            </a:extLst>
          </p:cNvPr>
          <p:cNvCxnSpPr>
            <a:cxnSpLocks/>
          </p:cNvCxnSpPr>
          <p:nvPr/>
        </p:nvCxnSpPr>
        <p:spPr>
          <a:xfrm>
            <a:off x="4505486" y="1821661"/>
            <a:ext cx="0" cy="329625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63599B4-9B76-B7CF-ECAC-28D01B63289E}"/>
              </a:ext>
            </a:extLst>
          </p:cNvPr>
          <p:cNvCxnSpPr>
            <a:cxnSpLocks/>
          </p:cNvCxnSpPr>
          <p:nvPr/>
        </p:nvCxnSpPr>
        <p:spPr>
          <a:xfrm flipH="1">
            <a:off x="4505486" y="2151286"/>
            <a:ext cx="1051" cy="59738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DEA4F45-D6F0-C822-396B-2F2E728423E3}"/>
              </a:ext>
            </a:extLst>
          </p:cNvPr>
          <p:cNvCxnSpPr>
            <a:cxnSpLocks/>
          </p:cNvCxnSpPr>
          <p:nvPr/>
        </p:nvCxnSpPr>
        <p:spPr>
          <a:xfrm>
            <a:off x="4505486" y="2748673"/>
            <a:ext cx="0" cy="971156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0FDD921-F8CC-768D-34DF-0CCD0B033684}"/>
              </a:ext>
            </a:extLst>
          </p:cNvPr>
          <p:cNvCxnSpPr>
            <a:cxnSpLocks/>
          </p:cNvCxnSpPr>
          <p:nvPr/>
        </p:nvCxnSpPr>
        <p:spPr>
          <a:xfrm>
            <a:off x="4505486" y="4767711"/>
            <a:ext cx="0" cy="219666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5E25A2B-835F-F338-FE9D-1684F367E3CC}"/>
              </a:ext>
            </a:extLst>
          </p:cNvPr>
          <p:cNvCxnSpPr>
            <a:cxnSpLocks/>
          </p:cNvCxnSpPr>
          <p:nvPr/>
        </p:nvCxnSpPr>
        <p:spPr>
          <a:xfrm>
            <a:off x="4505486" y="4987377"/>
            <a:ext cx="0" cy="611702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AF49B25-C0B6-EBBB-8F34-C32D86D7DD42}"/>
              </a:ext>
            </a:extLst>
          </p:cNvPr>
          <p:cNvCxnSpPr>
            <a:cxnSpLocks/>
          </p:cNvCxnSpPr>
          <p:nvPr/>
        </p:nvCxnSpPr>
        <p:spPr>
          <a:xfrm>
            <a:off x="4505486" y="5599079"/>
            <a:ext cx="0" cy="95223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A576536-5FE6-0D35-4364-08C7B1C4973A}"/>
              </a:ext>
            </a:extLst>
          </p:cNvPr>
          <p:cNvSpPr txBox="1"/>
          <p:nvPr/>
        </p:nvSpPr>
        <p:spPr>
          <a:xfrm>
            <a:off x="4444192" y="1222055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能量分配示意图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53457A-80DF-016A-E966-768CEB3E8382}"/>
              </a:ext>
            </a:extLst>
          </p:cNvPr>
          <p:cNvSpPr txBox="1"/>
          <p:nvPr/>
        </p:nvSpPr>
        <p:spPr>
          <a:xfrm>
            <a:off x="4732508" y="1881304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</a:rPr>
              <a:t>低压换热器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6A55C7-2419-F07A-D853-8AB4E65C94D9}"/>
              </a:ext>
            </a:extLst>
          </p:cNvPr>
          <p:cNvSpPr txBox="1"/>
          <p:nvPr/>
        </p:nvSpPr>
        <p:spPr>
          <a:xfrm>
            <a:off x="4738197" y="2327001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</a:rPr>
              <a:t>中压换热器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D6E052-816C-D3C5-A541-0155EC9D7605}"/>
              </a:ext>
            </a:extLst>
          </p:cNvPr>
          <p:cNvSpPr txBox="1"/>
          <p:nvPr/>
        </p:nvSpPr>
        <p:spPr>
          <a:xfrm>
            <a:off x="4732508" y="3111273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高压换热器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D8B0D8-F0BB-DBE9-4440-E2342C94AD45}"/>
              </a:ext>
            </a:extLst>
          </p:cNvPr>
          <p:cNvSpPr txBox="1"/>
          <p:nvPr/>
        </p:nvSpPr>
        <p:spPr>
          <a:xfrm>
            <a:off x="4732508" y="4829399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</a:rPr>
              <a:t>低压换热器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1F8F3C-D758-F3F6-3F43-2A2448596457}"/>
              </a:ext>
            </a:extLst>
          </p:cNvPr>
          <p:cNvSpPr txBox="1"/>
          <p:nvPr/>
        </p:nvSpPr>
        <p:spPr>
          <a:xfrm>
            <a:off x="4738197" y="5275096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</a:rPr>
              <a:t>中压换热器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E0709A8-3D44-63F7-B336-74A061CEEA46}"/>
              </a:ext>
            </a:extLst>
          </p:cNvPr>
          <p:cNvSpPr txBox="1"/>
          <p:nvPr/>
        </p:nvSpPr>
        <p:spPr>
          <a:xfrm>
            <a:off x="4732508" y="6059368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高压换热器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C7AEAD8-9EE2-A960-DBBC-6C0FA62C480D}"/>
              </a:ext>
            </a:extLst>
          </p:cNvPr>
          <p:cNvSpPr txBox="1"/>
          <p:nvPr/>
        </p:nvSpPr>
        <p:spPr>
          <a:xfrm>
            <a:off x="4444191" y="3981089"/>
            <a:ext cx="247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㶲分配示意图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60DF70B-A203-5A19-BFBB-8E5B89C133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159" y="1492308"/>
            <a:ext cx="3967133" cy="265009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E543008-950D-0482-2C61-24554D568B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475" y="4426786"/>
            <a:ext cx="4511127" cy="2255564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D4FF947-00D0-EA39-5B49-B7ADE8E1EE21}"/>
              </a:ext>
            </a:extLst>
          </p:cNvPr>
          <p:cNvSpPr txBox="1"/>
          <p:nvPr/>
        </p:nvSpPr>
        <p:spPr>
          <a:xfrm>
            <a:off x="1182424" y="916223"/>
            <a:ext cx="24720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余热锅炉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1FA24A6-DADF-D7B3-EEEE-5D26CE79DEBF}"/>
              </a:ext>
            </a:extLst>
          </p:cNvPr>
          <p:cNvSpPr txBox="1"/>
          <p:nvPr/>
        </p:nvSpPr>
        <p:spPr>
          <a:xfrm>
            <a:off x="6816392" y="916223"/>
            <a:ext cx="289516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汽机、凝汽器、减温器等</a:t>
            </a:r>
          </a:p>
        </p:txBody>
      </p:sp>
      <p:sp>
        <p:nvSpPr>
          <p:cNvPr id="31" name="对话气泡: 矩形 30">
            <a:extLst>
              <a:ext uri="{FF2B5EF4-FFF2-40B4-BE49-F238E27FC236}">
                <a16:creationId xmlns:a16="http://schemas.microsoft.com/office/drawing/2014/main" id="{FD4D02C8-65B3-3C8B-4797-A6C1A4626C85}"/>
              </a:ext>
            </a:extLst>
          </p:cNvPr>
          <p:cNvSpPr/>
          <p:nvPr/>
        </p:nvSpPr>
        <p:spPr>
          <a:xfrm>
            <a:off x="4792717" y="1881304"/>
            <a:ext cx="1254935" cy="369332"/>
          </a:xfrm>
          <a:prstGeom prst="wedgeRectCallout">
            <a:avLst>
              <a:gd name="adj1" fmla="val -64049"/>
              <a:gd name="adj2" fmla="val -262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对话气泡: 矩形 31">
            <a:extLst>
              <a:ext uri="{FF2B5EF4-FFF2-40B4-BE49-F238E27FC236}">
                <a16:creationId xmlns:a16="http://schemas.microsoft.com/office/drawing/2014/main" id="{60CDB3F2-5A49-6D07-4B0E-489A3DBF8C0E}"/>
              </a:ext>
            </a:extLst>
          </p:cNvPr>
          <p:cNvSpPr/>
          <p:nvPr/>
        </p:nvSpPr>
        <p:spPr>
          <a:xfrm>
            <a:off x="4792716" y="2323616"/>
            <a:ext cx="1254935" cy="369332"/>
          </a:xfrm>
          <a:prstGeom prst="wedgeRectCallout">
            <a:avLst>
              <a:gd name="adj1" fmla="val -63546"/>
              <a:gd name="adj2" fmla="val -262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对话气泡: 矩形 32">
            <a:extLst>
              <a:ext uri="{FF2B5EF4-FFF2-40B4-BE49-F238E27FC236}">
                <a16:creationId xmlns:a16="http://schemas.microsoft.com/office/drawing/2014/main" id="{B8203E35-5E3E-38F1-5E30-4D5F510949A8}"/>
              </a:ext>
            </a:extLst>
          </p:cNvPr>
          <p:cNvSpPr/>
          <p:nvPr/>
        </p:nvSpPr>
        <p:spPr>
          <a:xfrm>
            <a:off x="4792715" y="3086625"/>
            <a:ext cx="1254935" cy="369332"/>
          </a:xfrm>
          <a:prstGeom prst="wedgeRectCallout">
            <a:avLst>
              <a:gd name="adj1" fmla="val -63043"/>
              <a:gd name="adj2" fmla="val -2970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对话气泡: 矩形 33">
            <a:extLst>
              <a:ext uri="{FF2B5EF4-FFF2-40B4-BE49-F238E27FC236}">
                <a16:creationId xmlns:a16="http://schemas.microsoft.com/office/drawing/2014/main" id="{B1985E5E-EBC7-6284-9CBB-112679866402}"/>
              </a:ext>
            </a:extLst>
          </p:cNvPr>
          <p:cNvSpPr/>
          <p:nvPr/>
        </p:nvSpPr>
        <p:spPr>
          <a:xfrm>
            <a:off x="4732510" y="4854047"/>
            <a:ext cx="1254935" cy="369332"/>
          </a:xfrm>
          <a:prstGeom prst="wedgeRectCallout">
            <a:avLst>
              <a:gd name="adj1" fmla="val -64049"/>
              <a:gd name="adj2" fmla="val -262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对话气泡: 矩形 34">
            <a:extLst>
              <a:ext uri="{FF2B5EF4-FFF2-40B4-BE49-F238E27FC236}">
                <a16:creationId xmlns:a16="http://schemas.microsoft.com/office/drawing/2014/main" id="{A02A9875-F98B-FE1A-8D6F-5B484CC9F625}"/>
              </a:ext>
            </a:extLst>
          </p:cNvPr>
          <p:cNvSpPr/>
          <p:nvPr/>
        </p:nvSpPr>
        <p:spPr>
          <a:xfrm>
            <a:off x="4732509" y="5296359"/>
            <a:ext cx="1254935" cy="369332"/>
          </a:xfrm>
          <a:prstGeom prst="wedgeRectCallout">
            <a:avLst>
              <a:gd name="adj1" fmla="val -63546"/>
              <a:gd name="adj2" fmla="val -262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对话气泡: 矩形 35">
            <a:extLst>
              <a:ext uri="{FF2B5EF4-FFF2-40B4-BE49-F238E27FC236}">
                <a16:creationId xmlns:a16="http://schemas.microsoft.com/office/drawing/2014/main" id="{D16598D3-8E97-1792-89D8-FEF07E3119ED}"/>
              </a:ext>
            </a:extLst>
          </p:cNvPr>
          <p:cNvSpPr/>
          <p:nvPr/>
        </p:nvSpPr>
        <p:spPr>
          <a:xfrm>
            <a:off x="4732508" y="6059368"/>
            <a:ext cx="1254935" cy="369332"/>
          </a:xfrm>
          <a:prstGeom prst="wedgeRectCallout">
            <a:avLst>
              <a:gd name="adj1" fmla="val -63043"/>
              <a:gd name="adj2" fmla="val -2970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ECDFBB0-D1BE-0E54-15FE-DF108B62FBAB}"/>
              </a:ext>
            </a:extLst>
          </p:cNvPr>
          <p:cNvSpPr txBox="1"/>
          <p:nvPr/>
        </p:nvSpPr>
        <p:spPr>
          <a:xfrm>
            <a:off x="10523245" y="2438447"/>
            <a:ext cx="125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凝汽器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B0158CA-5CA7-FF20-432C-89254D0C2B76}"/>
              </a:ext>
            </a:extLst>
          </p:cNvPr>
          <p:cNvSpPr txBox="1"/>
          <p:nvPr/>
        </p:nvSpPr>
        <p:spPr>
          <a:xfrm>
            <a:off x="10527393" y="3030878"/>
            <a:ext cx="125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</a:rPr>
              <a:t>低压缸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56DF686-A5AD-0B81-9CDD-AC80D8DEA8BB}"/>
              </a:ext>
            </a:extLst>
          </p:cNvPr>
          <p:cNvSpPr txBox="1"/>
          <p:nvPr/>
        </p:nvSpPr>
        <p:spPr>
          <a:xfrm>
            <a:off x="10540005" y="3557011"/>
            <a:ext cx="125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</a:rPr>
              <a:t>中压缸</a:t>
            </a:r>
          </a:p>
        </p:txBody>
      </p:sp>
      <p:sp>
        <p:nvSpPr>
          <p:cNvPr id="41" name="对话气泡: 矩形 40">
            <a:extLst>
              <a:ext uri="{FF2B5EF4-FFF2-40B4-BE49-F238E27FC236}">
                <a16:creationId xmlns:a16="http://schemas.microsoft.com/office/drawing/2014/main" id="{4166A1E7-EE39-312D-9AEF-9377B592584C}"/>
              </a:ext>
            </a:extLst>
          </p:cNvPr>
          <p:cNvSpPr/>
          <p:nvPr/>
        </p:nvSpPr>
        <p:spPr>
          <a:xfrm>
            <a:off x="10523245" y="2446423"/>
            <a:ext cx="1254935" cy="369332"/>
          </a:xfrm>
          <a:prstGeom prst="wedgeRectCallout">
            <a:avLst>
              <a:gd name="adj1" fmla="val -84149"/>
              <a:gd name="adj2" fmla="val 8469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矩形 41">
            <a:extLst>
              <a:ext uri="{FF2B5EF4-FFF2-40B4-BE49-F238E27FC236}">
                <a16:creationId xmlns:a16="http://schemas.microsoft.com/office/drawing/2014/main" id="{D5300906-06FF-8CA7-667C-343FB3589DAD}"/>
              </a:ext>
            </a:extLst>
          </p:cNvPr>
          <p:cNvSpPr/>
          <p:nvPr/>
        </p:nvSpPr>
        <p:spPr>
          <a:xfrm>
            <a:off x="10540005" y="3015743"/>
            <a:ext cx="1254935" cy="369332"/>
          </a:xfrm>
          <a:prstGeom prst="wedgeRectCallout">
            <a:avLst>
              <a:gd name="adj1" fmla="val -83646"/>
              <a:gd name="adj2" fmla="val 778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对话气泡: 矩形 42">
            <a:extLst>
              <a:ext uri="{FF2B5EF4-FFF2-40B4-BE49-F238E27FC236}">
                <a16:creationId xmlns:a16="http://schemas.microsoft.com/office/drawing/2014/main" id="{1B627650-E55E-3013-34BB-0A1478B2D9FD}"/>
              </a:ext>
            </a:extLst>
          </p:cNvPr>
          <p:cNvSpPr/>
          <p:nvPr/>
        </p:nvSpPr>
        <p:spPr>
          <a:xfrm>
            <a:off x="10540005" y="3552889"/>
            <a:ext cx="1254935" cy="369332"/>
          </a:xfrm>
          <a:prstGeom prst="wedgeRectCallout">
            <a:avLst>
              <a:gd name="adj1" fmla="val -79123"/>
              <a:gd name="adj2" fmla="val -262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B3D712A-1EF4-1F1C-4FD8-F641C7E23211}"/>
              </a:ext>
            </a:extLst>
          </p:cNvPr>
          <p:cNvSpPr txBox="1"/>
          <p:nvPr/>
        </p:nvSpPr>
        <p:spPr>
          <a:xfrm>
            <a:off x="10586098" y="4102170"/>
            <a:ext cx="125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高压缸</a:t>
            </a:r>
          </a:p>
        </p:txBody>
      </p:sp>
      <p:sp>
        <p:nvSpPr>
          <p:cNvPr id="45" name="对话气泡: 矩形 44">
            <a:extLst>
              <a:ext uri="{FF2B5EF4-FFF2-40B4-BE49-F238E27FC236}">
                <a16:creationId xmlns:a16="http://schemas.microsoft.com/office/drawing/2014/main" id="{E3889005-5B21-F3C2-9BB2-3BD500BCC5D3}"/>
              </a:ext>
            </a:extLst>
          </p:cNvPr>
          <p:cNvSpPr/>
          <p:nvPr/>
        </p:nvSpPr>
        <p:spPr>
          <a:xfrm>
            <a:off x="10566131" y="4106292"/>
            <a:ext cx="1254935" cy="369332"/>
          </a:xfrm>
          <a:prstGeom prst="wedgeRectCallout">
            <a:avLst>
              <a:gd name="adj1" fmla="val -82641"/>
              <a:gd name="adj2" fmla="val -12873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CF3B91D-26C1-BACE-01F5-50820B9292AF}"/>
              </a:ext>
            </a:extLst>
          </p:cNvPr>
          <p:cNvSpPr txBox="1"/>
          <p:nvPr/>
        </p:nvSpPr>
        <p:spPr>
          <a:xfrm>
            <a:off x="10523244" y="1821661"/>
            <a:ext cx="125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</a:rPr>
              <a:t>减温器等</a:t>
            </a:r>
          </a:p>
        </p:txBody>
      </p:sp>
      <p:sp>
        <p:nvSpPr>
          <p:cNvPr id="47" name="对话气泡: 矩形 46">
            <a:extLst>
              <a:ext uri="{FF2B5EF4-FFF2-40B4-BE49-F238E27FC236}">
                <a16:creationId xmlns:a16="http://schemas.microsoft.com/office/drawing/2014/main" id="{0AD584CB-180D-8065-FAAB-5053B0A15DB3}"/>
              </a:ext>
            </a:extLst>
          </p:cNvPr>
          <p:cNvSpPr/>
          <p:nvPr/>
        </p:nvSpPr>
        <p:spPr>
          <a:xfrm>
            <a:off x="10523244" y="1829637"/>
            <a:ext cx="1254935" cy="369332"/>
          </a:xfrm>
          <a:prstGeom prst="wedgeRectCallout">
            <a:avLst>
              <a:gd name="adj1" fmla="val -147968"/>
              <a:gd name="adj2" fmla="val 898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0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AA258-DCB7-4FC2-4C5F-987B4DA3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2D8AB7-82B2-8EA6-4313-440C3F72D8E5}"/>
              </a:ext>
            </a:extLst>
          </p:cNvPr>
          <p:cNvSpPr txBox="1"/>
          <p:nvPr/>
        </p:nvSpPr>
        <p:spPr>
          <a:xfrm>
            <a:off x="166815" y="105032"/>
            <a:ext cx="66495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研究进展：</a:t>
            </a:r>
            <a:r>
              <a:rPr lang="zh-CN" altLang="en-US" sz="2400" b="1" dirty="0"/>
              <a:t>燃气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蒸汽联合循环的性能评估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78E74-5A39-F121-8185-2972186D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437AA5-7E69-7CBB-10F3-0C56072809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59" y="1670475"/>
            <a:ext cx="5050425" cy="5051272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675AAE6-4AEA-8052-B790-D92CCAACE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20903"/>
              </p:ext>
            </p:extLst>
          </p:nvPr>
        </p:nvGraphicFramePr>
        <p:xfrm>
          <a:off x="5969228" y="2096335"/>
          <a:ext cx="536933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666">
                  <a:extLst>
                    <a:ext uri="{9D8B030D-6E8A-4147-A177-3AD203B41FA5}">
                      <a16:colId xmlns:a16="http://schemas.microsoft.com/office/drawing/2014/main" val="3013011506"/>
                    </a:ext>
                  </a:extLst>
                </a:gridCol>
                <a:gridCol w="2684666">
                  <a:extLst>
                    <a:ext uri="{9D8B030D-6E8A-4147-A177-3AD203B41FA5}">
                      <a16:colId xmlns:a16="http://schemas.microsoft.com/office/drawing/2014/main" val="312843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测点名称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相关系数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13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各股蒸汽温度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&gt;0.97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91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各股蒸汽压力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&gt;0.97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00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各股蒸汽流量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&gt;0.90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45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39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再热减温器后蒸汽温度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0.787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9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高压减温器后蒸汽温度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0.749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71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中压减温水流量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-0.563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5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高压减温水流量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-0.408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28117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894C057-63B7-7D53-2173-7594E9082347}"/>
              </a:ext>
            </a:extLst>
          </p:cNvPr>
          <p:cNvSpPr txBox="1"/>
          <p:nvPr/>
        </p:nvSpPr>
        <p:spPr>
          <a:xfrm>
            <a:off x="1178886" y="1192762"/>
            <a:ext cx="3726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皮尔逊相关系数矩阵</a:t>
            </a:r>
          </a:p>
        </p:txBody>
      </p:sp>
    </p:spTree>
    <p:extLst>
      <p:ext uri="{BB962C8B-B14F-4D97-AF65-F5344CB8AC3E}">
        <p14:creationId xmlns:p14="http://schemas.microsoft.com/office/powerpoint/2010/main" val="368795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5303-C447-FA91-F0BD-26FDCAAC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F36D41-82C1-4A64-2281-AF94CB025C9C}"/>
              </a:ext>
            </a:extLst>
          </p:cNvPr>
          <p:cNvSpPr txBox="1"/>
          <p:nvPr/>
        </p:nvSpPr>
        <p:spPr>
          <a:xfrm>
            <a:off x="166815" y="105032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3.</a:t>
            </a:r>
            <a:r>
              <a:rPr lang="zh-CN" altLang="en-US" sz="3200" b="1" dirty="0"/>
              <a:t>研究展望</a:t>
            </a:r>
            <a:endParaRPr lang="zh-CN" altLang="en-US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94C151-1511-D66F-B08E-9EBDC8D4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560" y="6428700"/>
            <a:ext cx="78768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E1DB10E-2750-16F4-CDC4-D0BE9063D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472225"/>
              </p:ext>
            </p:extLst>
          </p:nvPr>
        </p:nvGraphicFramePr>
        <p:xfrm>
          <a:off x="411109" y="1377322"/>
          <a:ext cx="8827489" cy="51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7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24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文献调研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</a:p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方法学习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原始数据处理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工质部件建模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性能评估方法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优化模型搭建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数据实验验证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成果整理绘图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毕设论文撰写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毕设答辩准备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+mn-ea"/>
                        </a:rPr>
                        <a:t>√</a:t>
                      </a:r>
                      <a:endParaRPr lang="en-US" altLang="zh-CN" dirty="0">
                        <a:latin typeface="微软雅黑" panose="020B0503020204020204" pitchFamily="34" charset="-122"/>
                        <a:ea typeface="+mn-ea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dirty="0">
                        <a:latin typeface="微软雅黑" panose="020B0503020204020204" pitchFamily="34" charset="-122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+mn-ea"/>
                        </a:rPr>
                        <a:t>√</a:t>
                      </a:r>
                      <a:endParaRPr lang="en-US" altLang="zh-CN" dirty="0">
                        <a:latin typeface="微软雅黑" panose="020B0503020204020204" pitchFamily="34" charset="-122"/>
                        <a:ea typeface="+mn-ea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+mn-ea"/>
                        </a:rPr>
                        <a:t>√</a:t>
                      </a:r>
                      <a:endParaRPr lang="en-US" altLang="zh-CN" dirty="0">
                        <a:latin typeface="微软雅黑" panose="020B0503020204020204" pitchFamily="34" charset="-122"/>
                        <a:ea typeface="+mn-ea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+mn-ea"/>
                        </a:rPr>
                        <a:t>√</a:t>
                      </a:r>
                      <a:endParaRPr lang="en-US" altLang="zh-CN" dirty="0">
                        <a:latin typeface="微软雅黑" panose="020B0503020204020204" pitchFamily="34" charset="-122"/>
                        <a:ea typeface="+mn-ea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+mn-ea"/>
                        </a:rPr>
                        <a:t>√</a:t>
                      </a:r>
                      <a:endParaRPr lang="en-US" altLang="zh-CN" dirty="0">
                        <a:latin typeface="微软雅黑" panose="020B0503020204020204" pitchFamily="34" charset="-122"/>
                        <a:ea typeface="+mn-ea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68CC74D-1E18-BC15-869C-0F89C36B9E2E}"/>
              </a:ext>
            </a:extLst>
          </p:cNvPr>
          <p:cNvCxnSpPr/>
          <p:nvPr/>
        </p:nvCxnSpPr>
        <p:spPr>
          <a:xfrm>
            <a:off x="411110" y="1114425"/>
            <a:ext cx="8892000" cy="0"/>
          </a:xfrm>
          <a:prstGeom prst="straightConnector1">
            <a:avLst/>
          </a:prstGeom>
          <a:ln w="76200">
            <a:solidFill>
              <a:srgbClr val="004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A517561-27C2-F7EF-8D13-44235ACA0BAE}"/>
              </a:ext>
            </a:extLst>
          </p:cNvPr>
          <p:cNvCxnSpPr/>
          <p:nvPr/>
        </p:nvCxnSpPr>
        <p:spPr>
          <a:xfrm rot="5400000">
            <a:off x="-2440240" y="3969322"/>
            <a:ext cx="5184000" cy="0"/>
          </a:xfrm>
          <a:prstGeom prst="straightConnector1">
            <a:avLst/>
          </a:prstGeom>
          <a:ln w="76200">
            <a:solidFill>
              <a:srgbClr val="004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BC7C198-22D9-969D-C119-F979F0F78AC0}"/>
              </a:ext>
            </a:extLst>
          </p:cNvPr>
          <p:cNvCxnSpPr>
            <a:cxnSpLocks/>
          </p:cNvCxnSpPr>
          <p:nvPr/>
        </p:nvCxnSpPr>
        <p:spPr>
          <a:xfrm flipV="1">
            <a:off x="882869" y="2099967"/>
            <a:ext cx="9030487" cy="4645533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77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7" y="616300"/>
            <a:ext cx="5698724" cy="5664569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-264" y="236306"/>
            <a:ext cx="5965853" cy="615138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标题 3"/>
          <p:cNvSpPr>
            <a:spLocks noGrp="1"/>
          </p:cNvSpPr>
          <p:nvPr>
            <p:ph type="ctrTitle"/>
          </p:nvPr>
        </p:nvSpPr>
        <p:spPr>
          <a:xfrm>
            <a:off x="-52388" y="2297770"/>
            <a:ext cx="12296775" cy="2215515"/>
          </a:xfrm>
          <a:solidFill>
            <a:srgbClr val="005297"/>
          </a:solidFill>
        </p:spPr>
        <p:txBody>
          <a:bodyPr>
            <a:normAutofit/>
          </a:bodyPr>
          <a:lstStyle/>
          <a:p>
            <a:r>
              <a:rPr lang="en-US" altLang="zh-CN" sz="6000" dirty="0"/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33700" y="2802890"/>
            <a:ext cx="737108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请老师们批评指正！</a:t>
            </a:r>
            <a:br>
              <a:rPr lang="en-US" altLang="zh-CN" dirty="0">
                <a:sym typeface="+mn-ea"/>
              </a:rPr>
            </a:b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462520" y="5525135"/>
            <a:ext cx="3728085" cy="375920"/>
          </a:xfrm>
          <a:prstGeom prst="rect">
            <a:avLst/>
          </a:prstGeom>
        </p:spPr>
        <p:txBody>
          <a:bodyPr wrap="square" lIns="68580" tIns="34291" rIns="68580" bIns="34291">
            <a:spAutoFit/>
          </a:bodyPr>
          <a:lstStyle/>
          <a:p>
            <a:pPr defTabSz="342900"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汇报人：汪奕辰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2805" y="5902289"/>
            <a:ext cx="2446508" cy="375920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defTabSz="3429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日期：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2026.4</a:t>
            </a:r>
            <a:endParaRPr lang="zh-CN" altLang="en-US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53"/>
    </mc:Choice>
    <mc:Fallback xmlns="">
      <p:transition spd="slow" advTm="745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88448818897626,&quot;left&quot;:248.35,&quot;top&quot;:136.97464566929133,&quot;width&quot;:458.7999212598425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602</Words>
  <Application>Microsoft Office PowerPoint</Application>
  <PresentationFormat>宽屏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微软雅黑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汪奕辰</dc:creator>
  <cp:lastModifiedBy>奕辰 汪</cp:lastModifiedBy>
  <cp:revision>13</cp:revision>
  <dcterms:created xsi:type="dcterms:W3CDTF">2023-08-09T12:44:00Z</dcterms:created>
  <dcterms:modified xsi:type="dcterms:W3CDTF">2026-05-28T11:08:20Z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